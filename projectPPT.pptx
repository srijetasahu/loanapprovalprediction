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libri (MS) Bold" charset="1" panose="020F0702030404030204"/>
      <p:regular r:id="rId23"/>
    </p:embeddedFont>
    <p:embeddedFont>
      <p:font typeface="Cambria Bold" charset="1" panose="02040803050406030204"/>
      <p:regular r:id="rId24"/>
    </p:embeddedFont>
    <p:embeddedFont>
      <p:font typeface="Calibri (MS) Italics" charset="1" panose="020F05020202040A0204"/>
      <p:regular r:id="rId25"/>
    </p:embeddedFont>
    <p:embeddedFont>
      <p:font typeface="Calibri (MS)" charset="1" panose="020F0502020204030204"/>
      <p:regular r:id="rId26"/>
    </p:embeddedFont>
    <p:embeddedFont>
      <p:font typeface="Courier New" charset="1" panose="020703090202050204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fonts/font35.fntdata" Type="http://schemas.openxmlformats.org/officeDocument/2006/relationships/font"/><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theme/theme1.xml" Type="http://schemas.openxmlformats.org/officeDocument/2006/relationships/theme"/><Relationship Id="rId40" Target="notesSlides/notesSlide1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Good morning/afternoon everyone. My name is Srijeta Sahu, and today I'll be presenting my capstone project from the AIML Summer Internship 2026 at IIHMF, MNNIT Allahabad - the Loan Approval Prediction System, developed under the guidance of Mr. Subhash Chaganti. This project applies machine learning to one of the most common financial decisions banks make every day - whether to approve or reject a loan application.</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Let's start with why this problem matters. Banks process loan applications every single day, and traditionally this is a manual process — loan officers review documents, verify income sources, and check credit history by hand. This has real limitations: it's slow, it's expensive to staff, different officers can evaluate the same application differently, and unconscious human bias can creep in. As application volumes grow, this simply doesn't scale. That's where machine learning comes in — it can look at many variables simultaneously and make fast, consistent, data-driven decisions.</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So what exactly are the problems we're solving? On the left, you can see the key pain points in traditional loan processing — delays, inconsistency, bias, scalability issues, and a lack of transparency for applicants. On the right are our project objectives: we wanted to conduct thorough exploratory data analysis, properly preprocess the data, train and compare three different classification algorithms, evaluate them rigorously, and finally deploy the best-performing model as a usable web application.</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We used the Kaggle Loan Prediction Dataset — 614 applicant records with 13 features, mixing demographic, financial, and property-related attributes, with the target being loan approval status. Roughly 69% of applications in the dataset were approved, so there was a mild class imbalance. Seven of the thirteen columns had missing values that we needed to handle carefully before modeling.</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For preprocessing, we handled missing values using mode imputation for categorical columns and median imputation for loan amount, since median is more robust to outliers. All categorical variables were label-encoded into numeric form, and we split the data 80-20 into training and test sets. We then trained and compared three classification algorithms: Logistic Regression, Random Forest, and XGBoost — all using the same features and split for a fair comparison.</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Our exploratory analysis revealed some clear patterns. About 69% of applications in the dataset were approved. The single strongest predictor of approval was credit history — it had a correlation of 0.54 with loan status, and applicants with good credit history had a 79% or higher approval rate. Education level also mattered — graduates had noticeably higher approval rates. Property area played a smaller role, with semiurban applicants doing slightly better. Both income and loan amount were right-skewed, meaning most applicants had modest incomes.</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Here are the head-to-head results on our held-out test set of 123 samples. Logistic Regression came out on top with 78.86% accuracy, followed by Random Forest at 75.6%, and XGBoost at just under 74%. It also led on precision, recall, and F1-score. This might be a bit surprising, since XGBoost and Random Forest are generally considered more powerful models — I'll explain why the simpler model won on the next slide.</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Why did Logistic Regression win? Two main reasons. First, with only 614 training samples, the dataset is quite small — ensemble methods like Random Forest and XGBoost need more data to realize their full potential, and can actually overfit on smaller datasets by learning noise rather than real patterns. Second, the loan approval task turns out to be approximately linearly separable, meaning a straight decision boundary does a good job separating approved from rejected applications — which favors linear models like Logistic Regression. Looking at the detailed classification report, one honest limitation is recall on rejected loans — only 0.42 — meaning the model tends to lean toward approving loans and misses some applications that should be rejected. That's an important caveat for real-world deployment.</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The final model was deployed as an interactive Streamlit web application. Users fill in an applicant's details through dropdowns and number inputs, and the app returns a real-time prediction — approved or rejected — along with a probability score and a confidence bar. The pipeline is straightforward: train the model, save it with Python's pickle library, load it in the Streamlit app, and serve live predictions. This turns a notebook experiment into something an actual bank employee or loan officer could use.</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Here's the actual application running locally on my machine at localhost:8501. On the left you can see the top portion of the input form — gender, marital status, dependents, income fields. On the right is the rest of the form — education, self-employment, credit history, property area — along with the Check Loan Eligibility button. The form uses simple dropdowns and number steppers, so it's easy for a non-technical user, like an actual loan officer, to fill in an applicant's details.</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After clicking Check Loan Eligibility, the app returns a real-time prediction. On the left is the fully completed form — you can see all 11 fields filled in, including good credit history and urban property area. On the right is the result: Loan Approved, with an 89.7% approval probability shown alongside a confidence bar. This lines up with our analysis — strong credit history and graduate education are the two strongest positive signals for approval, so a high-confidence approval here is exactly what we'd expect from the trained model.</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To summarize the key findings: credit history is by far the dominant predictor — good-credit applicants are roughly four times more likely to be approved. Education level matters too, with graduates seeing higher approval rates. Interestingly, it's the combined income of applicant and co-applicant that matters most, not just one person's income. Semiurban properties saw the highest approval rates, likely due to collateral value. And the broader takeaway: for small, structured datasets like this one, simpler and more interpretable models can match or even outperform complex ensemble methods.</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 conclusion, this capstone project successfully covered the full machine learning lifecycle — from raw data all the way to a deployed, interactive web application. Logistic Regression was the best performer at 78.86% accuracy, reinforcing an important principle: match model complexity to your dataset size. Credit history stood out as the single most important predictive factor. Looking ahead, there's a clear roadmap: short-term improvements like hyperparameter tuning and handling class imbalance with SMOTE; medium-term work like integrating real CIBIL scores and deploying to the cloud; and a longer-term vision involving live banking API integration, deep learning, and mobile and regional-language support to make this accessible to a much wider audience.</a:t>
            </a:r>
          </a:p>
          <a:p>
            <a:r>
              <a:rPr lang="en-US"/>
              <a:t>13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Thank you for listening. That concludes my presentation on the Loan Approval Prediction System. I'm happy to take any questions — whether about the modeling choices, the results, or the deployment.</a:t>
            </a:r>
          </a:p>
          <a:p>
            <a:r>
              <a:rPr lang="en-US"/>
              <a:t>14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8.png" Type="http://schemas.openxmlformats.org/officeDocument/2006/relationships/image"/><Relationship Id="rId8" Target="../media/image5.png" Type="http://schemas.openxmlformats.org/officeDocument/2006/relationships/image"/><Relationship Id="rId9"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jpeg" Type="http://schemas.openxmlformats.org/officeDocument/2006/relationships/image"/><Relationship Id="rId8" Target="../media/image1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0.jpeg" Type="http://schemas.openxmlformats.org/officeDocument/2006/relationships/image"/><Relationship Id="rId8" Target="../media/image2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15.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3167360" y="-2468880"/>
            <a:ext cx="7543800" cy="7543800"/>
            <a:chOff x="0" y="0"/>
            <a:chExt cx="10058400" cy="10058400"/>
          </a:xfrm>
        </p:grpSpPr>
        <p:sp>
          <p:nvSpPr>
            <p:cNvPr name="Freeform 3" id="3"/>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283A7A"/>
            </a:solidFill>
          </p:spPr>
        </p:sp>
      </p:grpSp>
      <p:grpSp>
        <p:nvGrpSpPr>
          <p:cNvPr name="Group 4" id="4"/>
          <p:cNvGrpSpPr/>
          <p:nvPr/>
        </p:nvGrpSpPr>
        <p:grpSpPr>
          <a:xfrm rot="0">
            <a:off x="15910560" y="6309360"/>
            <a:ext cx="4389120" cy="4389120"/>
            <a:chOff x="0" y="0"/>
            <a:chExt cx="5852160" cy="5852160"/>
          </a:xfrm>
        </p:grpSpPr>
        <p:sp>
          <p:nvSpPr>
            <p:cNvPr name="Freeform 5" id="5"/>
            <p:cNvSpPr/>
            <p:nvPr/>
          </p:nvSpPr>
          <p:spPr>
            <a:xfrm flipH="false" flipV="false" rot="0">
              <a:off x="0" y="0"/>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283A7A"/>
            </a:solidFill>
          </p:spPr>
        </p:sp>
      </p:grpSp>
      <p:grpSp>
        <p:nvGrpSpPr>
          <p:cNvPr name="Group 6" id="6"/>
          <p:cNvGrpSpPr/>
          <p:nvPr/>
        </p:nvGrpSpPr>
        <p:grpSpPr>
          <a:xfrm rot="0">
            <a:off x="1097280" y="3017520"/>
            <a:ext cx="13716000" cy="548640"/>
            <a:chOff x="0" y="0"/>
            <a:chExt cx="18288000" cy="731520"/>
          </a:xfrm>
        </p:grpSpPr>
        <p:sp>
          <p:nvSpPr>
            <p:cNvPr name="Freeform 7" id="7"/>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3">
                <a:alphaModFix amt="0"/>
              </a:blip>
              <a:stretch>
                <a:fillRect l="0" t="-436786" r="0" b="-436788"/>
              </a:stretch>
            </a:blipFill>
          </p:spPr>
        </p:sp>
      </p:grpSp>
      <p:grpSp>
        <p:nvGrpSpPr>
          <p:cNvPr name="Group 8" id="8"/>
          <p:cNvGrpSpPr/>
          <p:nvPr/>
        </p:nvGrpSpPr>
        <p:grpSpPr>
          <a:xfrm rot="0">
            <a:off x="1097280" y="2981801"/>
            <a:ext cx="13716000" cy="584359"/>
            <a:chOff x="0" y="0"/>
            <a:chExt cx="18288000" cy="779145"/>
          </a:xfrm>
        </p:grpSpPr>
        <p:sp>
          <p:nvSpPr>
            <p:cNvPr name="Freeform 9" id="9"/>
            <p:cNvSpPr/>
            <p:nvPr/>
          </p:nvSpPr>
          <p:spPr>
            <a:xfrm flipH="false" flipV="false" rot="0">
              <a:off x="0" y="0"/>
              <a:ext cx="18288000" cy="779145"/>
            </a:xfrm>
            <a:custGeom>
              <a:avLst/>
              <a:gdLst/>
              <a:ahLst/>
              <a:cxnLst/>
              <a:rect r="r" b="b" t="t" l="l"/>
              <a:pathLst>
                <a:path h="779145" w="18288000">
                  <a:moveTo>
                    <a:pt x="0" y="0"/>
                  </a:moveTo>
                  <a:lnTo>
                    <a:pt x="18288000" y="0"/>
                  </a:lnTo>
                  <a:lnTo>
                    <a:pt x="18288000" y="779145"/>
                  </a:lnTo>
                  <a:lnTo>
                    <a:pt x="0" y="779145"/>
                  </a:lnTo>
                  <a:close/>
                </a:path>
              </a:pathLst>
            </a:custGeom>
            <a:blipFill>
              <a:blip r:embed="rId4">
                <a:alphaModFix amt="0"/>
              </a:blip>
              <a:stretch>
                <a:fillRect l="0" t="-407350" r="0" b="-407350"/>
              </a:stretch>
            </a:blipFill>
          </p:spPr>
        </p:sp>
        <p:sp>
          <p:nvSpPr>
            <p:cNvPr name="TextBox 10" id="10"/>
            <p:cNvSpPr txBox="true"/>
            <p:nvPr/>
          </p:nvSpPr>
          <p:spPr>
            <a:xfrm>
              <a:off x="0" y="-47625"/>
              <a:ext cx="18288000" cy="826770"/>
            </a:xfrm>
            <a:prstGeom prst="rect">
              <a:avLst/>
            </a:prstGeom>
          </p:spPr>
          <p:txBody>
            <a:bodyPr anchor="ctr" rtlCol="false" tIns="0" lIns="0" bIns="0" rIns="0"/>
            <a:lstStyle/>
            <a:p>
              <a:pPr algn="l">
                <a:lnSpc>
                  <a:spcPts val="2340"/>
                </a:lnSpc>
              </a:pPr>
              <a:r>
                <a:rPr lang="en-US" b="true" sz="1950" spc="300">
                  <a:solidFill>
                    <a:srgbClr val="CADCFC"/>
                  </a:solidFill>
                  <a:latin typeface="Calibri (MS) Bold"/>
                  <a:ea typeface="Calibri (MS) Bold"/>
                  <a:cs typeface="Calibri (MS) Bold"/>
                  <a:sym typeface="Calibri (MS) Bold"/>
                </a:rPr>
                <a:t>IBM PBEL (Project-Based Experiential Learning) Virtual Training </a:t>
              </a:r>
            </a:p>
          </p:txBody>
        </p:sp>
      </p:grpSp>
      <p:grpSp>
        <p:nvGrpSpPr>
          <p:cNvPr name="Group 11" id="11"/>
          <p:cNvGrpSpPr/>
          <p:nvPr/>
        </p:nvGrpSpPr>
        <p:grpSpPr>
          <a:xfrm rot="0">
            <a:off x="1028700" y="3703320"/>
            <a:ext cx="14401800" cy="2743200"/>
            <a:chOff x="0" y="0"/>
            <a:chExt cx="19202400" cy="3657600"/>
          </a:xfrm>
        </p:grpSpPr>
        <p:sp>
          <p:nvSpPr>
            <p:cNvPr name="Freeform 12" id="12"/>
            <p:cNvSpPr/>
            <p:nvPr/>
          </p:nvSpPr>
          <p:spPr>
            <a:xfrm flipH="false" flipV="false" rot="0">
              <a:off x="0" y="0"/>
              <a:ext cx="19202400" cy="3657600"/>
            </a:xfrm>
            <a:custGeom>
              <a:avLst/>
              <a:gdLst/>
              <a:ahLst/>
              <a:cxnLst/>
              <a:rect r="r" b="b" t="t" l="l"/>
              <a:pathLst>
                <a:path h="3657600" w="19202400">
                  <a:moveTo>
                    <a:pt x="0" y="0"/>
                  </a:moveTo>
                  <a:lnTo>
                    <a:pt x="19202400" y="0"/>
                  </a:lnTo>
                  <a:lnTo>
                    <a:pt x="19202400" y="3657600"/>
                  </a:lnTo>
                  <a:lnTo>
                    <a:pt x="0" y="3657600"/>
                  </a:lnTo>
                  <a:close/>
                </a:path>
              </a:pathLst>
            </a:custGeom>
            <a:blipFill>
              <a:blip r:embed="rId3">
                <a:alphaModFix amt="0"/>
              </a:blip>
              <a:stretch>
                <a:fillRect l="0" t="-52225" r="0" b="-52225"/>
              </a:stretch>
            </a:blipFill>
          </p:spPr>
        </p:sp>
      </p:grpSp>
      <p:grpSp>
        <p:nvGrpSpPr>
          <p:cNvPr name="Group 13" id="13"/>
          <p:cNvGrpSpPr/>
          <p:nvPr/>
        </p:nvGrpSpPr>
        <p:grpSpPr>
          <a:xfrm rot="0">
            <a:off x="1028700" y="3660458"/>
            <a:ext cx="14401800" cy="2786062"/>
            <a:chOff x="0" y="0"/>
            <a:chExt cx="19202400" cy="3714750"/>
          </a:xfrm>
        </p:grpSpPr>
        <p:sp>
          <p:nvSpPr>
            <p:cNvPr name="Freeform 14" id="14"/>
            <p:cNvSpPr/>
            <p:nvPr/>
          </p:nvSpPr>
          <p:spPr>
            <a:xfrm flipH="false" flipV="false" rot="0">
              <a:off x="0" y="0"/>
              <a:ext cx="19202400" cy="3714750"/>
            </a:xfrm>
            <a:custGeom>
              <a:avLst/>
              <a:gdLst/>
              <a:ahLst/>
              <a:cxnLst/>
              <a:rect r="r" b="b" t="t" l="l"/>
              <a:pathLst>
                <a:path h="3714750" w="19202400">
                  <a:moveTo>
                    <a:pt x="0" y="0"/>
                  </a:moveTo>
                  <a:lnTo>
                    <a:pt x="19202400" y="0"/>
                  </a:lnTo>
                  <a:lnTo>
                    <a:pt x="19202400" y="3714750"/>
                  </a:lnTo>
                  <a:lnTo>
                    <a:pt x="0" y="3714750"/>
                  </a:lnTo>
                  <a:close/>
                </a:path>
              </a:pathLst>
            </a:custGeom>
            <a:blipFill>
              <a:blip r:embed="rId4">
                <a:alphaModFix amt="0"/>
              </a:blip>
              <a:stretch>
                <a:fillRect l="0" t="-50722" r="0" b="-50722"/>
              </a:stretch>
            </a:blipFill>
          </p:spPr>
        </p:sp>
        <p:sp>
          <p:nvSpPr>
            <p:cNvPr name="TextBox 15" id="15"/>
            <p:cNvSpPr txBox="true"/>
            <p:nvPr/>
          </p:nvSpPr>
          <p:spPr>
            <a:xfrm>
              <a:off x="0" y="-57150"/>
              <a:ext cx="19202400" cy="3771900"/>
            </a:xfrm>
            <a:prstGeom prst="rect">
              <a:avLst/>
            </a:prstGeom>
          </p:spPr>
          <p:txBody>
            <a:bodyPr anchor="ctr" rtlCol="false" tIns="0" lIns="0" bIns="0" rIns="0"/>
            <a:lstStyle/>
            <a:p>
              <a:pPr algn="l">
                <a:lnSpc>
                  <a:spcPts val="9072"/>
                </a:lnSpc>
              </a:pPr>
              <a:r>
                <a:rPr lang="en-US" sz="7200" b="true">
                  <a:solidFill>
                    <a:srgbClr val="FFFFFF"/>
                  </a:solidFill>
                  <a:latin typeface="Cambria Bold"/>
                  <a:ea typeface="Cambria Bold"/>
                  <a:cs typeface="Cambria Bold"/>
                  <a:sym typeface="Cambria Bold"/>
                </a:rPr>
                <a:t>Loan Approval</a:t>
              </a:r>
            </a:p>
            <a:p>
              <a:pPr algn="l">
                <a:lnSpc>
                  <a:spcPts val="9072"/>
                </a:lnSpc>
              </a:pPr>
              <a:r>
                <a:rPr lang="en-US" sz="7200" b="true">
                  <a:solidFill>
                    <a:srgbClr val="FFFFFF"/>
                  </a:solidFill>
                  <a:latin typeface="Cambria Bold"/>
                  <a:ea typeface="Cambria Bold"/>
                  <a:cs typeface="Cambria Bold"/>
                  <a:sym typeface="Cambria Bold"/>
                </a:rPr>
                <a:t>Prediction System</a:t>
              </a:r>
            </a:p>
          </p:txBody>
        </p:sp>
      </p:grpSp>
      <p:grpSp>
        <p:nvGrpSpPr>
          <p:cNvPr name="Group 16" id="16"/>
          <p:cNvGrpSpPr/>
          <p:nvPr/>
        </p:nvGrpSpPr>
        <p:grpSpPr>
          <a:xfrm rot="0">
            <a:off x="1097280" y="6515100"/>
            <a:ext cx="12344400" cy="822960"/>
            <a:chOff x="0" y="0"/>
            <a:chExt cx="16459200" cy="1097280"/>
          </a:xfrm>
        </p:grpSpPr>
        <p:sp>
          <p:nvSpPr>
            <p:cNvPr name="Freeform 17" id="17"/>
            <p:cNvSpPr/>
            <p:nvPr/>
          </p:nvSpPr>
          <p:spPr>
            <a:xfrm flipH="false" flipV="false" rot="0">
              <a:off x="0" y="0"/>
              <a:ext cx="16459200" cy="1097280"/>
            </a:xfrm>
            <a:custGeom>
              <a:avLst/>
              <a:gdLst/>
              <a:ahLst/>
              <a:cxnLst/>
              <a:rect r="r" b="b" t="t" l="l"/>
              <a:pathLst>
                <a:path h="1097280" w="16459200">
                  <a:moveTo>
                    <a:pt x="0" y="0"/>
                  </a:moveTo>
                  <a:lnTo>
                    <a:pt x="16459200" y="0"/>
                  </a:lnTo>
                  <a:lnTo>
                    <a:pt x="16459200" y="1097280"/>
                  </a:lnTo>
                  <a:lnTo>
                    <a:pt x="0" y="1097280"/>
                  </a:lnTo>
                  <a:close/>
                </a:path>
              </a:pathLst>
            </a:custGeom>
            <a:blipFill>
              <a:blip r:embed="rId3">
                <a:alphaModFix amt="0"/>
              </a:blip>
              <a:stretch>
                <a:fillRect l="0" t="-242071" r="0" b="-242072"/>
              </a:stretch>
            </a:blipFill>
          </p:spPr>
        </p:sp>
      </p:grpSp>
      <p:grpSp>
        <p:nvGrpSpPr>
          <p:cNvPr name="Group 18" id="18"/>
          <p:cNvGrpSpPr/>
          <p:nvPr/>
        </p:nvGrpSpPr>
        <p:grpSpPr>
          <a:xfrm rot="0">
            <a:off x="1097280" y="6472238"/>
            <a:ext cx="12344400" cy="865823"/>
            <a:chOff x="0" y="0"/>
            <a:chExt cx="16459200" cy="1154430"/>
          </a:xfrm>
        </p:grpSpPr>
        <p:sp>
          <p:nvSpPr>
            <p:cNvPr name="Freeform 19" id="19"/>
            <p:cNvSpPr/>
            <p:nvPr/>
          </p:nvSpPr>
          <p:spPr>
            <a:xfrm flipH="false" flipV="false" rot="0">
              <a:off x="0" y="0"/>
              <a:ext cx="16459200" cy="1154430"/>
            </a:xfrm>
            <a:custGeom>
              <a:avLst/>
              <a:gdLst/>
              <a:ahLst/>
              <a:cxnLst/>
              <a:rect r="r" b="b" t="t" l="l"/>
              <a:pathLst>
                <a:path h="1154430" w="16459200">
                  <a:moveTo>
                    <a:pt x="0" y="0"/>
                  </a:moveTo>
                  <a:lnTo>
                    <a:pt x="16459200" y="0"/>
                  </a:lnTo>
                  <a:lnTo>
                    <a:pt x="16459200" y="1154430"/>
                  </a:lnTo>
                  <a:lnTo>
                    <a:pt x="0" y="1154430"/>
                  </a:lnTo>
                  <a:close/>
                </a:path>
              </a:pathLst>
            </a:custGeom>
            <a:blipFill>
              <a:blip r:embed="rId4">
                <a:alphaModFix amt="0"/>
              </a:blip>
              <a:stretch>
                <a:fillRect l="0" t="-227806" r="0" b="-227806"/>
              </a:stretch>
            </a:blipFill>
          </p:spPr>
        </p:sp>
        <p:sp>
          <p:nvSpPr>
            <p:cNvPr name="TextBox 20" id="20"/>
            <p:cNvSpPr txBox="true"/>
            <p:nvPr/>
          </p:nvSpPr>
          <p:spPr>
            <a:xfrm>
              <a:off x="0" y="-57150"/>
              <a:ext cx="16459200" cy="1211580"/>
            </a:xfrm>
            <a:prstGeom prst="rect">
              <a:avLst/>
            </a:prstGeom>
          </p:spPr>
          <p:txBody>
            <a:bodyPr anchor="ctr" rtlCol="false" tIns="0" lIns="0" bIns="0" rIns="0"/>
            <a:lstStyle/>
            <a:p>
              <a:pPr algn="l">
                <a:lnSpc>
                  <a:spcPts val="2700"/>
                </a:lnSpc>
              </a:pPr>
              <a:r>
                <a:rPr lang="en-US" sz="2250" i="true">
                  <a:solidFill>
                    <a:srgbClr val="FFFFFF"/>
                  </a:solidFill>
                  <a:latin typeface="Calibri (MS) Italics"/>
                  <a:ea typeface="Calibri (MS) Italics"/>
                  <a:cs typeface="Calibri (MS) Italics"/>
                  <a:sym typeface="Calibri (MS) Italics"/>
                </a:rPr>
                <a:t>A Machine Learning Approach to Automated, Consistent, and Transparent Lending Decisions</a:t>
              </a:r>
            </a:p>
          </p:txBody>
        </p:sp>
      </p:grpSp>
      <p:grpSp>
        <p:nvGrpSpPr>
          <p:cNvPr name="Group 21" id="21"/>
          <p:cNvGrpSpPr/>
          <p:nvPr/>
        </p:nvGrpSpPr>
        <p:grpSpPr>
          <a:xfrm rot="0">
            <a:off x="1072277" y="7587377"/>
            <a:ext cx="4439126" cy="50006"/>
            <a:chOff x="0" y="0"/>
            <a:chExt cx="5918835" cy="66675"/>
          </a:xfrm>
        </p:grpSpPr>
        <p:sp>
          <p:nvSpPr>
            <p:cNvPr name="Freeform 22" id="22"/>
            <p:cNvSpPr/>
            <p:nvPr/>
          </p:nvSpPr>
          <p:spPr>
            <a:xfrm flipH="false" flipV="false" rot="0">
              <a:off x="0" y="0"/>
              <a:ext cx="5918835" cy="66675"/>
            </a:xfrm>
            <a:custGeom>
              <a:avLst/>
              <a:gdLst/>
              <a:ahLst/>
              <a:cxnLst/>
              <a:rect r="r" b="b" t="t" l="l"/>
              <a:pathLst>
                <a:path h="66675" w="5918835">
                  <a:moveTo>
                    <a:pt x="0" y="0"/>
                  </a:moveTo>
                  <a:lnTo>
                    <a:pt x="5918835" y="66675"/>
                  </a:lnTo>
                </a:path>
              </a:pathLst>
            </a:custGeom>
            <a:blipFill>
              <a:blip r:embed="rId3">
                <a:alphaModFix amt="0"/>
              </a:blip>
              <a:stretch>
                <a:fillRect l="0" t="-1678514" r="0" b="-1678514"/>
              </a:stretch>
            </a:blipFill>
            <a:ln w="28575" cap="sq">
              <a:solidFill>
                <a:srgbClr val="CADCFC"/>
              </a:solidFill>
              <a:prstDash val="solid"/>
              <a:miter/>
            </a:ln>
          </p:spPr>
        </p:sp>
      </p:grpSp>
      <p:grpSp>
        <p:nvGrpSpPr>
          <p:cNvPr name="Group 23" id="23"/>
          <p:cNvGrpSpPr/>
          <p:nvPr/>
        </p:nvGrpSpPr>
        <p:grpSpPr>
          <a:xfrm rot="0">
            <a:off x="1097280" y="7886700"/>
            <a:ext cx="10972800" cy="1234440"/>
            <a:chOff x="0" y="0"/>
            <a:chExt cx="14630400" cy="1645920"/>
          </a:xfrm>
        </p:grpSpPr>
        <p:sp>
          <p:nvSpPr>
            <p:cNvPr name="Freeform 24" id="24"/>
            <p:cNvSpPr/>
            <p:nvPr/>
          </p:nvSpPr>
          <p:spPr>
            <a:xfrm flipH="false" flipV="false" rot="0">
              <a:off x="0" y="0"/>
              <a:ext cx="14630400" cy="1645920"/>
            </a:xfrm>
            <a:custGeom>
              <a:avLst/>
              <a:gdLst/>
              <a:ahLst/>
              <a:cxnLst/>
              <a:rect r="r" b="b" t="t" l="l"/>
              <a:pathLst>
                <a:path h="1645920" w="14630400">
                  <a:moveTo>
                    <a:pt x="0" y="0"/>
                  </a:moveTo>
                  <a:lnTo>
                    <a:pt x="14630400" y="0"/>
                  </a:lnTo>
                  <a:lnTo>
                    <a:pt x="14630400" y="1645920"/>
                  </a:lnTo>
                  <a:lnTo>
                    <a:pt x="0" y="1645920"/>
                  </a:lnTo>
                  <a:close/>
                </a:path>
              </a:pathLst>
            </a:custGeom>
            <a:blipFill>
              <a:blip r:embed="rId3">
                <a:alphaModFix amt="0"/>
              </a:blip>
              <a:stretch>
                <a:fillRect l="0" t="-123080" r="0" b="-123079"/>
              </a:stretch>
            </a:blipFill>
          </p:spPr>
        </p:sp>
      </p:grpSp>
      <p:grpSp>
        <p:nvGrpSpPr>
          <p:cNvPr name="Group 25" id="25"/>
          <p:cNvGrpSpPr/>
          <p:nvPr/>
        </p:nvGrpSpPr>
        <p:grpSpPr>
          <a:xfrm rot="0">
            <a:off x="1097280" y="7800975"/>
            <a:ext cx="10972800" cy="1320165"/>
            <a:chOff x="0" y="0"/>
            <a:chExt cx="14630400" cy="1760220"/>
          </a:xfrm>
        </p:grpSpPr>
        <p:sp>
          <p:nvSpPr>
            <p:cNvPr name="Freeform 26" id="26"/>
            <p:cNvSpPr/>
            <p:nvPr/>
          </p:nvSpPr>
          <p:spPr>
            <a:xfrm flipH="false" flipV="false" rot="0">
              <a:off x="0" y="0"/>
              <a:ext cx="14630400" cy="1760220"/>
            </a:xfrm>
            <a:custGeom>
              <a:avLst/>
              <a:gdLst/>
              <a:ahLst/>
              <a:cxnLst/>
              <a:rect r="r" b="b" t="t" l="l"/>
              <a:pathLst>
                <a:path h="1760220" w="14630400">
                  <a:moveTo>
                    <a:pt x="0" y="0"/>
                  </a:moveTo>
                  <a:lnTo>
                    <a:pt x="14630400" y="0"/>
                  </a:lnTo>
                  <a:lnTo>
                    <a:pt x="14630400" y="1760220"/>
                  </a:lnTo>
                  <a:lnTo>
                    <a:pt x="0" y="1760220"/>
                  </a:lnTo>
                  <a:close/>
                </a:path>
              </a:pathLst>
            </a:custGeom>
            <a:blipFill>
              <a:blip r:embed="rId4">
                <a:alphaModFix amt="0"/>
              </a:blip>
              <a:stretch>
                <a:fillRect l="0" t="-111953" r="0" b="-111953"/>
              </a:stretch>
            </a:blipFill>
          </p:spPr>
        </p:sp>
        <p:sp>
          <p:nvSpPr>
            <p:cNvPr name="TextBox 27" id="27"/>
            <p:cNvSpPr txBox="true"/>
            <p:nvPr/>
          </p:nvSpPr>
          <p:spPr>
            <a:xfrm>
              <a:off x="0" y="-114300"/>
              <a:ext cx="14630400" cy="1874520"/>
            </a:xfrm>
            <a:prstGeom prst="rect">
              <a:avLst/>
            </a:prstGeom>
          </p:spPr>
          <p:txBody>
            <a:bodyPr anchor="ctr" rtlCol="false" tIns="0" lIns="0" bIns="0" rIns="0"/>
            <a:lstStyle/>
            <a:p>
              <a:pPr algn="l">
                <a:lnSpc>
                  <a:spcPts val="3276"/>
                </a:lnSpc>
              </a:pPr>
              <a:r>
                <a:rPr lang="en-US" sz="2100">
                  <a:solidFill>
                    <a:srgbClr val="CADCFC"/>
                  </a:solidFill>
                  <a:latin typeface="Calibri (MS)"/>
                  <a:ea typeface="Calibri (MS)"/>
                  <a:cs typeface="Calibri (MS)"/>
                  <a:sym typeface="Calibri (MS)"/>
                </a:rPr>
                <a:t>Submitted by:  </a:t>
              </a:r>
              <a:r>
                <a:rPr lang="en-US" sz="2100" b="true">
                  <a:solidFill>
                    <a:srgbClr val="FFFFFF"/>
                  </a:solidFill>
                  <a:latin typeface="Calibri (MS) Bold"/>
                  <a:ea typeface="Calibri (MS) Bold"/>
                  <a:cs typeface="Calibri (MS) Bold"/>
                  <a:sym typeface="Calibri (MS) Bold"/>
                </a:rPr>
                <a:t>Srijeta Sahu</a:t>
              </a:r>
            </a:p>
            <a:p>
              <a:pPr algn="l">
                <a:lnSpc>
                  <a:spcPts val="3276"/>
                </a:lnSpc>
              </a:pPr>
              <a:r>
                <a:rPr lang="en-US" sz="2100">
                  <a:solidFill>
                    <a:srgbClr val="CADCFC"/>
                  </a:solidFill>
                  <a:latin typeface="Calibri (MS)"/>
                  <a:ea typeface="Calibri (MS)"/>
                  <a:cs typeface="Calibri (MS)"/>
                  <a:sym typeface="Calibri (MS)"/>
                </a:rPr>
                <a:t>Under the guidance of:  Mr. </a:t>
              </a:r>
              <a:r>
                <a:rPr lang="en-US" sz="2100" b="true">
                  <a:solidFill>
                    <a:srgbClr val="FFFFFF"/>
                  </a:solidFill>
                  <a:latin typeface="Calibri (MS) Bold"/>
                  <a:ea typeface="Calibri (MS) Bold"/>
                  <a:cs typeface="Calibri (MS) Bold"/>
                  <a:sym typeface="Calibri (MS) Bold"/>
                </a:rPr>
                <a:t>Shubham</a:t>
              </a:r>
              <a:r>
                <a:rPr lang="en-US" sz="2100" b="true">
                  <a:solidFill>
                    <a:srgbClr val="CADCFC"/>
                  </a:solidFill>
                  <a:latin typeface="Calibri (MS) Bold"/>
                  <a:ea typeface="Calibri (MS) Bold"/>
                  <a:cs typeface="Calibri (MS) Bold"/>
                  <a:sym typeface="Calibri (MS) Bold"/>
                </a:rPr>
                <a:t>  </a:t>
              </a:r>
              <a:r>
                <a:rPr lang="en-US" sz="2100" b="true">
                  <a:solidFill>
                    <a:srgbClr val="FFFFFF"/>
                  </a:solidFill>
                  <a:latin typeface="Calibri (MS) Bold"/>
                  <a:ea typeface="Calibri (MS) Bold"/>
                  <a:cs typeface="Calibri (MS) Bold"/>
                  <a:sym typeface="Calibri (MS) Bold"/>
                </a:rPr>
                <a:t>Pathak</a:t>
              </a:r>
              <a:r>
                <a:rPr lang="en-US" sz="2100" b="true">
                  <a:solidFill>
                    <a:srgbClr val="CADCFC"/>
                  </a:solidFill>
                  <a:latin typeface="Calibri (MS) Bold"/>
                  <a:ea typeface="Calibri (MS) Bold"/>
                  <a:cs typeface="Calibri (MS) Bold"/>
                  <a:sym typeface="Calibri (MS) Bold"/>
                </a:rPr>
                <a:t> </a:t>
              </a:r>
            </a:p>
          </p:txBody>
        </p:sp>
      </p:grpSp>
      <p:grpSp>
        <p:nvGrpSpPr>
          <p:cNvPr name="Group 28" id="28"/>
          <p:cNvGrpSpPr/>
          <p:nvPr/>
        </p:nvGrpSpPr>
        <p:grpSpPr>
          <a:xfrm rot="0">
            <a:off x="1097280" y="9189720"/>
            <a:ext cx="5486400" cy="548640"/>
            <a:chOff x="0" y="0"/>
            <a:chExt cx="7315200" cy="731520"/>
          </a:xfrm>
        </p:grpSpPr>
        <p:sp>
          <p:nvSpPr>
            <p:cNvPr name="Freeform 29" id="29"/>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715" r="0" b="-144715"/>
              </a:stretch>
            </a:blipFill>
          </p:spPr>
        </p:sp>
      </p:grpSp>
      <p:grpSp>
        <p:nvGrpSpPr>
          <p:cNvPr name="Group 30" id="30"/>
          <p:cNvGrpSpPr/>
          <p:nvPr/>
        </p:nvGrpSpPr>
        <p:grpSpPr>
          <a:xfrm rot="0">
            <a:off x="1097280" y="9161145"/>
            <a:ext cx="5486400" cy="577215"/>
            <a:chOff x="0" y="0"/>
            <a:chExt cx="7315200" cy="769620"/>
          </a:xfrm>
        </p:grpSpPr>
        <p:sp>
          <p:nvSpPr>
            <p:cNvPr name="Freeform 31" id="31"/>
            <p:cNvSpPr/>
            <p:nvPr/>
          </p:nvSpPr>
          <p:spPr>
            <a:xfrm flipH="false" flipV="false" rot="0">
              <a:off x="0" y="0"/>
              <a:ext cx="7315200" cy="769620"/>
            </a:xfrm>
            <a:custGeom>
              <a:avLst/>
              <a:gdLst/>
              <a:ahLst/>
              <a:cxnLst/>
              <a:rect r="r" b="b" t="t" l="l"/>
              <a:pathLst>
                <a:path h="769620" w="7315200">
                  <a:moveTo>
                    <a:pt x="0" y="0"/>
                  </a:moveTo>
                  <a:lnTo>
                    <a:pt x="7315200" y="0"/>
                  </a:lnTo>
                  <a:lnTo>
                    <a:pt x="7315200" y="769620"/>
                  </a:lnTo>
                  <a:lnTo>
                    <a:pt x="0" y="769620"/>
                  </a:lnTo>
                  <a:close/>
                </a:path>
              </a:pathLst>
            </a:custGeom>
            <a:blipFill>
              <a:blip r:embed="rId4">
                <a:alphaModFix amt="0"/>
              </a:blip>
              <a:stretch>
                <a:fillRect l="0" t="-135204" r="0" b="-135204"/>
              </a:stretch>
            </a:blipFill>
          </p:spPr>
        </p:sp>
        <p:sp>
          <p:nvSpPr>
            <p:cNvPr name="TextBox 32" id="32"/>
            <p:cNvSpPr txBox="true"/>
            <p:nvPr/>
          </p:nvSpPr>
          <p:spPr>
            <a:xfrm>
              <a:off x="0" y="-38100"/>
              <a:ext cx="7315200" cy="807720"/>
            </a:xfrm>
            <a:prstGeom prst="rect">
              <a:avLst/>
            </a:prstGeom>
          </p:spPr>
          <p:txBody>
            <a:bodyPr anchor="ctr" rtlCol="false" tIns="0" lIns="0" bIns="0" rIns="0"/>
            <a:lstStyle/>
            <a:p>
              <a:pPr algn="l">
                <a:lnSpc>
                  <a:spcPts val="2160"/>
                </a:lnSpc>
              </a:pPr>
              <a:r>
                <a:rPr lang="en-US" sz="1800">
                  <a:solidFill>
                    <a:srgbClr val="9FB3E8"/>
                  </a:solidFill>
                  <a:latin typeface="Calibri (MS)"/>
                  <a:ea typeface="Calibri (MS)"/>
                  <a:cs typeface="Calibri (MS)"/>
                  <a:sym typeface="Calibri (MS)"/>
                </a:rPr>
                <a:t>18 July </a:t>
              </a:r>
              <a:r>
                <a:rPr lang="en-US" sz="1800">
                  <a:solidFill>
                    <a:srgbClr val="9FB3E8"/>
                  </a:solidFill>
                  <a:latin typeface="Calibri (MS)"/>
                  <a:ea typeface="Calibri (MS)"/>
                  <a:cs typeface="Calibri (MS)"/>
                  <a:sym typeface="Calibri (MS)"/>
                </a:rPr>
                <a:t>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INTRODUCTION</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Why Automate Loan Approval?</a:t>
              </a:r>
            </a:p>
          </p:txBody>
        </p:sp>
      </p:grpSp>
      <p:sp>
        <p:nvSpPr>
          <p:cNvPr name="Freeform 12" id="12"/>
          <p:cNvSpPr/>
          <p:nvPr/>
        </p:nvSpPr>
        <p:spPr>
          <a:xfrm flipH="false" flipV="false" rot="0">
            <a:off x="806291" y="2589371"/>
            <a:ext cx="609409" cy="609409"/>
          </a:xfrm>
          <a:custGeom>
            <a:avLst/>
            <a:gdLst/>
            <a:ahLst/>
            <a:cxnLst/>
            <a:rect r="r" b="b" t="t" l="l"/>
            <a:pathLst>
              <a:path h="609409" w="609409">
                <a:moveTo>
                  <a:pt x="0" y="0"/>
                </a:moveTo>
                <a:lnTo>
                  <a:pt x="609410" y="0"/>
                </a:lnTo>
                <a:lnTo>
                  <a:pt x="609410" y="609410"/>
                </a:lnTo>
                <a:lnTo>
                  <a:pt x="0" y="6094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822960" y="2606040"/>
            <a:ext cx="576072" cy="576072"/>
            <a:chOff x="0" y="0"/>
            <a:chExt cx="768096" cy="768096"/>
          </a:xfrm>
        </p:grpSpPr>
        <p:sp>
          <p:nvSpPr>
            <p:cNvPr name="Freeform 14" id="14"/>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92" t="0" r="-78392" b="0"/>
              </a:stretch>
            </a:blipFill>
          </p:spPr>
        </p:sp>
      </p:grpSp>
      <p:grpSp>
        <p:nvGrpSpPr>
          <p:cNvPr name="Group 15" id="15"/>
          <p:cNvGrpSpPr/>
          <p:nvPr/>
        </p:nvGrpSpPr>
        <p:grpSpPr>
          <a:xfrm rot="0">
            <a:off x="822960" y="2570321"/>
            <a:ext cx="576072" cy="611791"/>
            <a:chOff x="0" y="0"/>
            <a:chExt cx="768096" cy="815721"/>
          </a:xfrm>
        </p:grpSpPr>
        <p:sp>
          <p:nvSpPr>
            <p:cNvPr name="Freeform 16" id="16"/>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4">
                <a:alphaModFix amt="0"/>
              </a:blip>
              <a:stretch>
                <a:fillRect l="-86258" t="0" r="-86258" b="0"/>
              </a:stretch>
            </a:blipFill>
          </p:spPr>
        </p:sp>
        <p:sp>
          <p:nvSpPr>
            <p:cNvPr name="TextBox 17" id="17"/>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1E2761"/>
                  </a:solidFill>
                  <a:latin typeface="Calibri (MS) Bold"/>
                  <a:ea typeface="Calibri (MS) Bold"/>
                  <a:cs typeface="Calibri (MS) Bold"/>
                  <a:sym typeface="Calibri (MS) Bold"/>
                </a:rPr>
                <a:t>1</a:t>
              </a:r>
            </a:p>
          </p:txBody>
        </p:sp>
      </p:grpSp>
      <p:grpSp>
        <p:nvGrpSpPr>
          <p:cNvPr name="Group 18" id="18"/>
          <p:cNvGrpSpPr/>
          <p:nvPr/>
        </p:nvGrpSpPr>
        <p:grpSpPr>
          <a:xfrm rot="0">
            <a:off x="1714500" y="2537460"/>
            <a:ext cx="9464040" cy="754380"/>
            <a:chOff x="0" y="0"/>
            <a:chExt cx="12618720" cy="1005840"/>
          </a:xfrm>
        </p:grpSpPr>
        <p:sp>
          <p:nvSpPr>
            <p:cNvPr name="Freeform 19" id="19"/>
            <p:cNvSpPr/>
            <p:nvPr/>
          </p:nvSpPr>
          <p:spPr>
            <a:xfrm flipH="false" flipV="false" rot="0">
              <a:off x="0" y="0"/>
              <a:ext cx="12618720" cy="1005840"/>
            </a:xfrm>
            <a:custGeom>
              <a:avLst/>
              <a:gdLst/>
              <a:ahLst/>
              <a:cxnLst/>
              <a:rect r="r" b="b" t="t" l="l"/>
              <a:pathLst>
                <a:path h="1005840" w="12618720">
                  <a:moveTo>
                    <a:pt x="0" y="0"/>
                  </a:moveTo>
                  <a:lnTo>
                    <a:pt x="12618720" y="0"/>
                  </a:lnTo>
                  <a:lnTo>
                    <a:pt x="12618720" y="1005840"/>
                  </a:lnTo>
                  <a:lnTo>
                    <a:pt x="0" y="1005840"/>
                  </a:lnTo>
                  <a:close/>
                </a:path>
              </a:pathLst>
            </a:custGeom>
            <a:blipFill>
              <a:blip r:embed="rId3">
                <a:alphaModFix amt="0"/>
              </a:blip>
              <a:stretch>
                <a:fillRect l="0" t="-194279" r="0" b="-194277"/>
              </a:stretch>
            </a:blipFill>
          </p:spPr>
        </p:sp>
      </p:grpSp>
      <p:grpSp>
        <p:nvGrpSpPr>
          <p:cNvPr name="Group 20" id="20"/>
          <p:cNvGrpSpPr/>
          <p:nvPr/>
        </p:nvGrpSpPr>
        <p:grpSpPr>
          <a:xfrm rot="0">
            <a:off x="1714500" y="2494598"/>
            <a:ext cx="9464040" cy="797243"/>
            <a:chOff x="0" y="0"/>
            <a:chExt cx="12618720" cy="1062990"/>
          </a:xfrm>
        </p:grpSpPr>
        <p:sp>
          <p:nvSpPr>
            <p:cNvPr name="Freeform 21" id="21"/>
            <p:cNvSpPr/>
            <p:nvPr/>
          </p:nvSpPr>
          <p:spPr>
            <a:xfrm flipH="false" flipV="false" rot="0">
              <a:off x="0" y="0"/>
              <a:ext cx="12618720" cy="1062990"/>
            </a:xfrm>
            <a:custGeom>
              <a:avLst/>
              <a:gdLst/>
              <a:ahLst/>
              <a:cxnLst/>
              <a:rect r="r" b="b" t="t" l="l"/>
              <a:pathLst>
                <a:path h="1062990" w="12618720">
                  <a:moveTo>
                    <a:pt x="0" y="0"/>
                  </a:moveTo>
                  <a:lnTo>
                    <a:pt x="12618720" y="0"/>
                  </a:lnTo>
                  <a:lnTo>
                    <a:pt x="12618720" y="1062990"/>
                  </a:lnTo>
                  <a:lnTo>
                    <a:pt x="0" y="1062990"/>
                  </a:lnTo>
                  <a:close/>
                </a:path>
              </a:pathLst>
            </a:custGeom>
            <a:blipFill>
              <a:blip r:embed="rId4">
                <a:alphaModFix amt="0"/>
              </a:blip>
              <a:stretch>
                <a:fillRect l="0" t="-181306" r="0" b="-181306"/>
              </a:stretch>
            </a:blipFill>
          </p:spPr>
        </p:sp>
        <p:sp>
          <p:nvSpPr>
            <p:cNvPr name="TextBox 22" id="22"/>
            <p:cNvSpPr txBox="true"/>
            <p:nvPr/>
          </p:nvSpPr>
          <p:spPr>
            <a:xfrm>
              <a:off x="0" y="-57150"/>
              <a:ext cx="12618720" cy="1120140"/>
            </a:xfrm>
            <a:prstGeom prst="rect">
              <a:avLst/>
            </a:prstGeom>
          </p:spPr>
          <p:txBody>
            <a:bodyPr anchor="ctr" rtlCol="false" tIns="0" lIns="0" bIns="0" rIns="0"/>
            <a:lstStyle/>
            <a:p>
              <a:pPr algn="l">
                <a:lnSpc>
                  <a:spcPts val="2700"/>
                </a:lnSpc>
              </a:pPr>
              <a:r>
                <a:rPr lang="en-US" sz="2250">
                  <a:solidFill>
                    <a:srgbClr val="44506B"/>
                  </a:solidFill>
                  <a:latin typeface="Calibri (MS)"/>
                  <a:ea typeface="Calibri (MS)"/>
                  <a:cs typeface="Calibri (MS)"/>
                  <a:sym typeface="Calibri (MS)"/>
                </a:rPr>
                <a:t>Loan officers traditionally review documents, verify income, and assess credit history manually</a:t>
              </a:r>
            </a:p>
          </p:txBody>
        </p:sp>
      </p:grpSp>
      <p:sp>
        <p:nvSpPr>
          <p:cNvPr name="Freeform 23" id="23"/>
          <p:cNvSpPr/>
          <p:nvPr/>
        </p:nvSpPr>
        <p:spPr>
          <a:xfrm flipH="false" flipV="false" rot="0">
            <a:off x="806291" y="3755231"/>
            <a:ext cx="609409" cy="609410"/>
          </a:xfrm>
          <a:custGeom>
            <a:avLst/>
            <a:gdLst/>
            <a:ahLst/>
            <a:cxnLst/>
            <a:rect r="r" b="b" t="t" l="l"/>
            <a:pathLst>
              <a:path h="609410" w="609409">
                <a:moveTo>
                  <a:pt x="0" y="0"/>
                </a:moveTo>
                <a:lnTo>
                  <a:pt x="609410" y="0"/>
                </a:lnTo>
                <a:lnTo>
                  <a:pt x="609410" y="609410"/>
                </a:lnTo>
                <a:lnTo>
                  <a:pt x="0" y="6094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4" id="24"/>
          <p:cNvGrpSpPr/>
          <p:nvPr/>
        </p:nvGrpSpPr>
        <p:grpSpPr>
          <a:xfrm rot="0">
            <a:off x="822960" y="3771900"/>
            <a:ext cx="576072" cy="576072"/>
            <a:chOff x="0" y="0"/>
            <a:chExt cx="768096" cy="768096"/>
          </a:xfrm>
        </p:grpSpPr>
        <p:sp>
          <p:nvSpPr>
            <p:cNvPr name="Freeform 25" id="25"/>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92" t="0" r="-78392" b="0"/>
              </a:stretch>
            </a:blipFill>
          </p:spPr>
        </p:sp>
      </p:grpSp>
      <p:grpSp>
        <p:nvGrpSpPr>
          <p:cNvPr name="Group 26" id="26"/>
          <p:cNvGrpSpPr/>
          <p:nvPr/>
        </p:nvGrpSpPr>
        <p:grpSpPr>
          <a:xfrm rot="0">
            <a:off x="822960" y="3736181"/>
            <a:ext cx="576072" cy="611791"/>
            <a:chOff x="0" y="0"/>
            <a:chExt cx="768096" cy="815721"/>
          </a:xfrm>
        </p:grpSpPr>
        <p:sp>
          <p:nvSpPr>
            <p:cNvPr name="Freeform 27" id="27"/>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4">
                <a:alphaModFix amt="0"/>
              </a:blip>
              <a:stretch>
                <a:fillRect l="-86258" t="0" r="-86258" b="0"/>
              </a:stretch>
            </a:blipFill>
          </p:spPr>
        </p:sp>
        <p:sp>
          <p:nvSpPr>
            <p:cNvPr name="TextBox 28" id="28"/>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1E2761"/>
                  </a:solidFill>
                  <a:latin typeface="Calibri (MS) Bold"/>
                  <a:ea typeface="Calibri (MS) Bold"/>
                  <a:cs typeface="Calibri (MS) Bold"/>
                  <a:sym typeface="Calibri (MS) Bold"/>
                </a:rPr>
                <a:t>2</a:t>
              </a:r>
            </a:p>
          </p:txBody>
        </p:sp>
      </p:grpSp>
      <p:grpSp>
        <p:nvGrpSpPr>
          <p:cNvPr name="Group 29" id="29"/>
          <p:cNvGrpSpPr/>
          <p:nvPr/>
        </p:nvGrpSpPr>
        <p:grpSpPr>
          <a:xfrm rot="0">
            <a:off x="1714500" y="3703320"/>
            <a:ext cx="9464040" cy="754380"/>
            <a:chOff x="0" y="0"/>
            <a:chExt cx="12618720" cy="1005840"/>
          </a:xfrm>
        </p:grpSpPr>
        <p:sp>
          <p:nvSpPr>
            <p:cNvPr name="Freeform 30" id="30"/>
            <p:cNvSpPr/>
            <p:nvPr/>
          </p:nvSpPr>
          <p:spPr>
            <a:xfrm flipH="false" flipV="false" rot="0">
              <a:off x="0" y="0"/>
              <a:ext cx="12618720" cy="1005840"/>
            </a:xfrm>
            <a:custGeom>
              <a:avLst/>
              <a:gdLst/>
              <a:ahLst/>
              <a:cxnLst/>
              <a:rect r="r" b="b" t="t" l="l"/>
              <a:pathLst>
                <a:path h="1005840" w="12618720">
                  <a:moveTo>
                    <a:pt x="0" y="0"/>
                  </a:moveTo>
                  <a:lnTo>
                    <a:pt x="12618720" y="0"/>
                  </a:lnTo>
                  <a:lnTo>
                    <a:pt x="12618720" y="1005840"/>
                  </a:lnTo>
                  <a:lnTo>
                    <a:pt x="0" y="1005840"/>
                  </a:lnTo>
                  <a:close/>
                </a:path>
              </a:pathLst>
            </a:custGeom>
            <a:blipFill>
              <a:blip r:embed="rId3">
                <a:alphaModFix amt="0"/>
              </a:blip>
              <a:stretch>
                <a:fillRect l="0" t="-194279" r="0" b="-194277"/>
              </a:stretch>
            </a:blipFill>
          </p:spPr>
        </p:sp>
      </p:grpSp>
      <p:grpSp>
        <p:nvGrpSpPr>
          <p:cNvPr name="Group 31" id="31"/>
          <p:cNvGrpSpPr/>
          <p:nvPr/>
        </p:nvGrpSpPr>
        <p:grpSpPr>
          <a:xfrm rot="0">
            <a:off x="1714500" y="3660458"/>
            <a:ext cx="9464040" cy="797243"/>
            <a:chOff x="0" y="0"/>
            <a:chExt cx="12618720" cy="1062990"/>
          </a:xfrm>
        </p:grpSpPr>
        <p:sp>
          <p:nvSpPr>
            <p:cNvPr name="Freeform 32" id="32"/>
            <p:cNvSpPr/>
            <p:nvPr/>
          </p:nvSpPr>
          <p:spPr>
            <a:xfrm flipH="false" flipV="false" rot="0">
              <a:off x="0" y="0"/>
              <a:ext cx="12618720" cy="1062990"/>
            </a:xfrm>
            <a:custGeom>
              <a:avLst/>
              <a:gdLst/>
              <a:ahLst/>
              <a:cxnLst/>
              <a:rect r="r" b="b" t="t" l="l"/>
              <a:pathLst>
                <a:path h="1062990" w="12618720">
                  <a:moveTo>
                    <a:pt x="0" y="0"/>
                  </a:moveTo>
                  <a:lnTo>
                    <a:pt x="12618720" y="0"/>
                  </a:lnTo>
                  <a:lnTo>
                    <a:pt x="12618720" y="1062990"/>
                  </a:lnTo>
                  <a:lnTo>
                    <a:pt x="0" y="1062990"/>
                  </a:lnTo>
                  <a:close/>
                </a:path>
              </a:pathLst>
            </a:custGeom>
            <a:blipFill>
              <a:blip r:embed="rId4">
                <a:alphaModFix amt="0"/>
              </a:blip>
              <a:stretch>
                <a:fillRect l="0" t="-181306" r="0" b="-181306"/>
              </a:stretch>
            </a:blipFill>
          </p:spPr>
        </p:sp>
        <p:sp>
          <p:nvSpPr>
            <p:cNvPr name="TextBox 33" id="33"/>
            <p:cNvSpPr txBox="true"/>
            <p:nvPr/>
          </p:nvSpPr>
          <p:spPr>
            <a:xfrm>
              <a:off x="0" y="-57150"/>
              <a:ext cx="12618720" cy="1120140"/>
            </a:xfrm>
            <a:prstGeom prst="rect">
              <a:avLst/>
            </a:prstGeom>
          </p:spPr>
          <p:txBody>
            <a:bodyPr anchor="ctr" rtlCol="false" tIns="0" lIns="0" bIns="0" rIns="0"/>
            <a:lstStyle/>
            <a:p>
              <a:pPr algn="l">
                <a:lnSpc>
                  <a:spcPts val="2700"/>
                </a:lnSpc>
              </a:pPr>
              <a:r>
                <a:rPr lang="en-US" sz="2250">
                  <a:solidFill>
                    <a:srgbClr val="44506B"/>
                  </a:solidFill>
                  <a:latin typeface="Calibri (MS)"/>
                  <a:ea typeface="Calibri (MS)"/>
                  <a:cs typeface="Calibri (MS)"/>
                  <a:sym typeface="Calibri (MS)"/>
                </a:rPr>
                <a:t>Manual review is slow, costly, and inconsistent across officers</a:t>
              </a:r>
            </a:p>
          </p:txBody>
        </p:sp>
      </p:grpSp>
      <p:sp>
        <p:nvSpPr>
          <p:cNvPr name="Freeform 34" id="34"/>
          <p:cNvSpPr/>
          <p:nvPr/>
        </p:nvSpPr>
        <p:spPr>
          <a:xfrm flipH="false" flipV="false" rot="0">
            <a:off x="806291" y="4921091"/>
            <a:ext cx="609409" cy="609410"/>
          </a:xfrm>
          <a:custGeom>
            <a:avLst/>
            <a:gdLst/>
            <a:ahLst/>
            <a:cxnLst/>
            <a:rect r="r" b="b" t="t" l="l"/>
            <a:pathLst>
              <a:path h="609410" w="609409">
                <a:moveTo>
                  <a:pt x="0" y="0"/>
                </a:moveTo>
                <a:lnTo>
                  <a:pt x="609410" y="0"/>
                </a:lnTo>
                <a:lnTo>
                  <a:pt x="609410" y="609410"/>
                </a:lnTo>
                <a:lnTo>
                  <a:pt x="0" y="6094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5" id="35"/>
          <p:cNvGrpSpPr/>
          <p:nvPr/>
        </p:nvGrpSpPr>
        <p:grpSpPr>
          <a:xfrm rot="0">
            <a:off x="822960" y="4937760"/>
            <a:ext cx="576072" cy="576072"/>
            <a:chOff x="0" y="0"/>
            <a:chExt cx="768096" cy="768096"/>
          </a:xfrm>
        </p:grpSpPr>
        <p:sp>
          <p:nvSpPr>
            <p:cNvPr name="Freeform 36" id="3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92" t="0" r="-78392" b="0"/>
              </a:stretch>
            </a:blipFill>
          </p:spPr>
        </p:sp>
      </p:grpSp>
      <p:grpSp>
        <p:nvGrpSpPr>
          <p:cNvPr name="Group 37" id="37"/>
          <p:cNvGrpSpPr/>
          <p:nvPr/>
        </p:nvGrpSpPr>
        <p:grpSpPr>
          <a:xfrm rot="0">
            <a:off x="822960" y="4902041"/>
            <a:ext cx="576072" cy="611791"/>
            <a:chOff x="0" y="0"/>
            <a:chExt cx="768096" cy="815721"/>
          </a:xfrm>
        </p:grpSpPr>
        <p:sp>
          <p:nvSpPr>
            <p:cNvPr name="Freeform 38" id="38"/>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4">
                <a:alphaModFix amt="0"/>
              </a:blip>
              <a:stretch>
                <a:fillRect l="-86258" t="0" r="-86258" b="0"/>
              </a:stretch>
            </a:blipFill>
          </p:spPr>
        </p:sp>
        <p:sp>
          <p:nvSpPr>
            <p:cNvPr name="TextBox 39" id="39"/>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1E2761"/>
                  </a:solidFill>
                  <a:latin typeface="Calibri (MS) Bold"/>
                  <a:ea typeface="Calibri (MS) Bold"/>
                  <a:cs typeface="Calibri (MS) Bold"/>
                  <a:sym typeface="Calibri (MS) Bold"/>
                </a:rPr>
                <a:t>3</a:t>
              </a:r>
            </a:p>
          </p:txBody>
        </p:sp>
      </p:grpSp>
      <p:grpSp>
        <p:nvGrpSpPr>
          <p:cNvPr name="Group 40" id="40"/>
          <p:cNvGrpSpPr/>
          <p:nvPr/>
        </p:nvGrpSpPr>
        <p:grpSpPr>
          <a:xfrm rot="0">
            <a:off x="1714500" y="4869180"/>
            <a:ext cx="9464040" cy="754380"/>
            <a:chOff x="0" y="0"/>
            <a:chExt cx="12618720" cy="1005840"/>
          </a:xfrm>
        </p:grpSpPr>
        <p:sp>
          <p:nvSpPr>
            <p:cNvPr name="Freeform 41" id="41"/>
            <p:cNvSpPr/>
            <p:nvPr/>
          </p:nvSpPr>
          <p:spPr>
            <a:xfrm flipH="false" flipV="false" rot="0">
              <a:off x="0" y="0"/>
              <a:ext cx="12618720" cy="1005840"/>
            </a:xfrm>
            <a:custGeom>
              <a:avLst/>
              <a:gdLst/>
              <a:ahLst/>
              <a:cxnLst/>
              <a:rect r="r" b="b" t="t" l="l"/>
              <a:pathLst>
                <a:path h="1005840" w="12618720">
                  <a:moveTo>
                    <a:pt x="0" y="0"/>
                  </a:moveTo>
                  <a:lnTo>
                    <a:pt x="12618720" y="0"/>
                  </a:lnTo>
                  <a:lnTo>
                    <a:pt x="12618720" y="1005840"/>
                  </a:lnTo>
                  <a:lnTo>
                    <a:pt x="0" y="1005840"/>
                  </a:lnTo>
                  <a:close/>
                </a:path>
              </a:pathLst>
            </a:custGeom>
            <a:blipFill>
              <a:blip r:embed="rId3">
                <a:alphaModFix amt="0"/>
              </a:blip>
              <a:stretch>
                <a:fillRect l="0" t="-194279" r="0" b="-194277"/>
              </a:stretch>
            </a:blipFill>
          </p:spPr>
        </p:sp>
      </p:grpSp>
      <p:grpSp>
        <p:nvGrpSpPr>
          <p:cNvPr name="Group 42" id="42"/>
          <p:cNvGrpSpPr/>
          <p:nvPr/>
        </p:nvGrpSpPr>
        <p:grpSpPr>
          <a:xfrm rot="0">
            <a:off x="1714500" y="4826318"/>
            <a:ext cx="9464040" cy="797243"/>
            <a:chOff x="0" y="0"/>
            <a:chExt cx="12618720" cy="1062990"/>
          </a:xfrm>
        </p:grpSpPr>
        <p:sp>
          <p:nvSpPr>
            <p:cNvPr name="Freeform 43" id="43"/>
            <p:cNvSpPr/>
            <p:nvPr/>
          </p:nvSpPr>
          <p:spPr>
            <a:xfrm flipH="false" flipV="false" rot="0">
              <a:off x="0" y="0"/>
              <a:ext cx="12618720" cy="1062990"/>
            </a:xfrm>
            <a:custGeom>
              <a:avLst/>
              <a:gdLst/>
              <a:ahLst/>
              <a:cxnLst/>
              <a:rect r="r" b="b" t="t" l="l"/>
              <a:pathLst>
                <a:path h="1062990" w="12618720">
                  <a:moveTo>
                    <a:pt x="0" y="0"/>
                  </a:moveTo>
                  <a:lnTo>
                    <a:pt x="12618720" y="0"/>
                  </a:lnTo>
                  <a:lnTo>
                    <a:pt x="12618720" y="1062990"/>
                  </a:lnTo>
                  <a:lnTo>
                    <a:pt x="0" y="1062990"/>
                  </a:lnTo>
                  <a:close/>
                </a:path>
              </a:pathLst>
            </a:custGeom>
            <a:blipFill>
              <a:blip r:embed="rId4">
                <a:alphaModFix amt="0"/>
              </a:blip>
              <a:stretch>
                <a:fillRect l="0" t="-181306" r="0" b="-181306"/>
              </a:stretch>
            </a:blipFill>
          </p:spPr>
        </p:sp>
        <p:sp>
          <p:nvSpPr>
            <p:cNvPr name="TextBox 44" id="44"/>
            <p:cNvSpPr txBox="true"/>
            <p:nvPr/>
          </p:nvSpPr>
          <p:spPr>
            <a:xfrm>
              <a:off x="0" y="-57150"/>
              <a:ext cx="12618720" cy="1120140"/>
            </a:xfrm>
            <a:prstGeom prst="rect">
              <a:avLst/>
            </a:prstGeom>
          </p:spPr>
          <p:txBody>
            <a:bodyPr anchor="ctr" rtlCol="false" tIns="0" lIns="0" bIns="0" rIns="0"/>
            <a:lstStyle/>
            <a:p>
              <a:pPr algn="l">
                <a:lnSpc>
                  <a:spcPts val="2700"/>
                </a:lnSpc>
              </a:pPr>
              <a:r>
                <a:rPr lang="en-US" sz="2250">
                  <a:solidFill>
                    <a:srgbClr val="44506B"/>
                  </a:solidFill>
                  <a:latin typeface="Calibri (MS)"/>
                  <a:ea typeface="Calibri (MS)"/>
                  <a:cs typeface="Calibri (MS)"/>
                  <a:sym typeface="Calibri (MS)"/>
                </a:rPr>
                <a:t>Human bias can creep into decisions, creating fairness and legal concerns</a:t>
              </a:r>
            </a:p>
          </p:txBody>
        </p:sp>
      </p:grpSp>
      <p:sp>
        <p:nvSpPr>
          <p:cNvPr name="Freeform 45" id="45"/>
          <p:cNvSpPr/>
          <p:nvPr/>
        </p:nvSpPr>
        <p:spPr>
          <a:xfrm flipH="false" flipV="false" rot="0">
            <a:off x="806291" y="6086951"/>
            <a:ext cx="609409" cy="609409"/>
          </a:xfrm>
          <a:custGeom>
            <a:avLst/>
            <a:gdLst/>
            <a:ahLst/>
            <a:cxnLst/>
            <a:rect r="r" b="b" t="t" l="l"/>
            <a:pathLst>
              <a:path h="609409" w="609409">
                <a:moveTo>
                  <a:pt x="0" y="0"/>
                </a:moveTo>
                <a:lnTo>
                  <a:pt x="609410" y="0"/>
                </a:lnTo>
                <a:lnTo>
                  <a:pt x="609410" y="609410"/>
                </a:lnTo>
                <a:lnTo>
                  <a:pt x="0" y="6094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6" id="46"/>
          <p:cNvGrpSpPr/>
          <p:nvPr/>
        </p:nvGrpSpPr>
        <p:grpSpPr>
          <a:xfrm rot="0">
            <a:off x="822960" y="6103620"/>
            <a:ext cx="576072" cy="576072"/>
            <a:chOff x="0" y="0"/>
            <a:chExt cx="768096" cy="768096"/>
          </a:xfrm>
        </p:grpSpPr>
        <p:sp>
          <p:nvSpPr>
            <p:cNvPr name="Freeform 47" id="47"/>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92" t="0" r="-78392" b="0"/>
              </a:stretch>
            </a:blipFill>
          </p:spPr>
        </p:sp>
      </p:grpSp>
      <p:grpSp>
        <p:nvGrpSpPr>
          <p:cNvPr name="Group 48" id="48"/>
          <p:cNvGrpSpPr/>
          <p:nvPr/>
        </p:nvGrpSpPr>
        <p:grpSpPr>
          <a:xfrm rot="0">
            <a:off x="822960" y="6067901"/>
            <a:ext cx="576072" cy="611791"/>
            <a:chOff x="0" y="0"/>
            <a:chExt cx="768096" cy="815721"/>
          </a:xfrm>
        </p:grpSpPr>
        <p:sp>
          <p:nvSpPr>
            <p:cNvPr name="Freeform 49" id="49"/>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4">
                <a:alphaModFix amt="0"/>
              </a:blip>
              <a:stretch>
                <a:fillRect l="-86258" t="0" r="-86258" b="0"/>
              </a:stretch>
            </a:blipFill>
          </p:spPr>
        </p:sp>
        <p:sp>
          <p:nvSpPr>
            <p:cNvPr name="TextBox 50" id="50"/>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1E2761"/>
                  </a:solidFill>
                  <a:latin typeface="Calibri (MS) Bold"/>
                  <a:ea typeface="Calibri (MS) Bold"/>
                  <a:cs typeface="Calibri (MS) Bold"/>
                  <a:sym typeface="Calibri (MS) Bold"/>
                </a:rPr>
                <a:t>4</a:t>
              </a:r>
            </a:p>
          </p:txBody>
        </p:sp>
      </p:grpSp>
      <p:grpSp>
        <p:nvGrpSpPr>
          <p:cNvPr name="Group 51" id="51"/>
          <p:cNvGrpSpPr/>
          <p:nvPr/>
        </p:nvGrpSpPr>
        <p:grpSpPr>
          <a:xfrm rot="0">
            <a:off x="1714500" y="6035040"/>
            <a:ext cx="9464040" cy="754380"/>
            <a:chOff x="0" y="0"/>
            <a:chExt cx="12618720" cy="1005840"/>
          </a:xfrm>
        </p:grpSpPr>
        <p:sp>
          <p:nvSpPr>
            <p:cNvPr name="Freeform 52" id="52"/>
            <p:cNvSpPr/>
            <p:nvPr/>
          </p:nvSpPr>
          <p:spPr>
            <a:xfrm flipH="false" flipV="false" rot="0">
              <a:off x="0" y="0"/>
              <a:ext cx="12618720" cy="1005840"/>
            </a:xfrm>
            <a:custGeom>
              <a:avLst/>
              <a:gdLst/>
              <a:ahLst/>
              <a:cxnLst/>
              <a:rect r="r" b="b" t="t" l="l"/>
              <a:pathLst>
                <a:path h="1005840" w="12618720">
                  <a:moveTo>
                    <a:pt x="0" y="0"/>
                  </a:moveTo>
                  <a:lnTo>
                    <a:pt x="12618720" y="0"/>
                  </a:lnTo>
                  <a:lnTo>
                    <a:pt x="12618720" y="1005840"/>
                  </a:lnTo>
                  <a:lnTo>
                    <a:pt x="0" y="1005840"/>
                  </a:lnTo>
                  <a:close/>
                </a:path>
              </a:pathLst>
            </a:custGeom>
            <a:blipFill>
              <a:blip r:embed="rId3">
                <a:alphaModFix amt="0"/>
              </a:blip>
              <a:stretch>
                <a:fillRect l="0" t="-194279" r="0" b="-194277"/>
              </a:stretch>
            </a:blipFill>
          </p:spPr>
        </p:sp>
      </p:grpSp>
      <p:grpSp>
        <p:nvGrpSpPr>
          <p:cNvPr name="Group 53" id="53"/>
          <p:cNvGrpSpPr/>
          <p:nvPr/>
        </p:nvGrpSpPr>
        <p:grpSpPr>
          <a:xfrm rot="0">
            <a:off x="1714500" y="5992178"/>
            <a:ext cx="9464040" cy="797243"/>
            <a:chOff x="0" y="0"/>
            <a:chExt cx="12618720" cy="1062990"/>
          </a:xfrm>
        </p:grpSpPr>
        <p:sp>
          <p:nvSpPr>
            <p:cNvPr name="Freeform 54" id="54"/>
            <p:cNvSpPr/>
            <p:nvPr/>
          </p:nvSpPr>
          <p:spPr>
            <a:xfrm flipH="false" flipV="false" rot="0">
              <a:off x="0" y="0"/>
              <a:ext cx="12618720" cy="1062990"/>
            </a:xfrm>
            <a:custGeom>
              <a:avLst/>
              <a:gdLst/>
              <a:ahLst/>
              <a:cxnLst/>
              <a:rect r="r" b="b" t="t" l="l"/>
              <a:pathLst>
                <a:path h="1062990" w="12618720">
                  <a:moveTo>
                    <a:pt x="0" y="0"/>
                  </a:moveTo>
                  <a:lnTo>
                    <a:pt x="12618720" y="0"/>
                  </a:lnTo>
                  <a:lnTo>
                    <a:pt x="12618720" y="1062990"/>
                  </a:lnTo>
                  <a:lnTo>
                    <a:pt x="0" y="1062990"/>
                  </a:lnTo>
                  <a:close/>
                </a:path>
              </a:pathLst>
            </a:custGeom>
            <a:blipFill>
              <a:blip r:embed="rId4">
                <a:alphaModFix amt="0"/>
              </a:blip>
              <a:stretch>
                <a:fillRect l="0" t="-181306" r="0" b="-181306"/>
              </a:stretch>
            </a:blipFill>
          </p:spPr>
        </p:sp>
        <p:sp>
          <p:nvSpPr>
            <p:cNvPr name="TextBox 55" id="55"/>
            <p:cNvSpPr txBox="true"/>
            <p:nvPr/>
          </p:nvSpPr>
          <p:spPr>
            <a:xfrm>
              <a:off x="0" y="-57150"/>
              <a:ext cx="12618720" cy="1120140"/>
            </a:xfrm>
            <a:prstGeom prst="rect">
              <a:avLst/>
            </a:prstGeom>
          </p:spPr>
          <p:txBody>
            <a:bodyPr anchor="ctr" rtlCol="false" tIns="0" lIns="0" bIns="0" rIns="0"/>
            <a:lstStyle/>
            <a:p>
              <a:pPr algn="l">
                <a:lnSpc>
                  <a:spcPts val="2700"/>
                </a:lnSpc>
              </a:pPr>
              <a:r>
                <a:rPr lang="en-US" sz="2250">
                  <a:solidFill>
                    <a:srgbClr val="44506B"/>
                  </a:solidFill>
                  <a:latin typeface="Calibri (MS)"/>
                  <a:ea typeface="Calibri (MS)"/>
                  <a:cs typeface="Calibri (MS)"/>
                  <a:sym typeface="Calibri (MS)"/>
                </a:rPr>
                <a:t>Growing application volumes make manual review difficult to scale</a:t>
              </a:r>
            </a:p>
          </p:txBody>
        </p:sp>
      </p:grpSp>
      <p:grpSp>
        <p:nvGrpSpPr>
          <p:cNvPr name="Group 56" id="56"/>
          <p:cNvGrpSpPr/>
          <p:nvPr/>
        </p:nvGrpSpPr>
        <p:grpSpPr>
          <a:xfrm rot="0">
            <a:off x="11932920" y="2606040"/>
            <a:ext cx="5349240" cy="5897880"/>
            <a:chOff x="0" y="0"/>
            <a:chExt cx="7132320" cy="7863840"/>
          </a:xfrm>
        </p:grpSpPr>
        <p:sp>
          <p:nvSpPr>
            <p:cNvPr name="Freeform 57" id="57"/>
            <p:cNvSpPr/>
            <p:nvPr/>
          </p:nvSpPr>
          <p:spPr>
            <a:xfrm flipH="false" flipV="false" rot="0">
              <a:off x="0" y="0"/>
              <a:ext cx="7132320" cy="7863840"/>
            </a:xfrm>
            <a:custGeom>
              <a:avLst/>
              <a:gdLst/>
              <a:ahLst/>
              <a:cxnLst/>
              <a:rect r="r" b="b" t="t" l="l"/>
              <a:pathLst>
                <a:path h="7863840" w="7132320">
                  <a:moveTo>
                    <a:pt x="0" y="219456"/>
                  </a:moveTo>
                  <a:cubicBezTo>
                    <a:pt x="0" y="98298"/>
                    <a:pt x="98298" y="0"/>
                    <a:pt x="219456" y="0"/>
                  </a:cubicBezTo>
                  <a:lnTo>
                    <a:pt x="6912864" y="0"/>
                  </a:lnTo>
                  <a:cubicBezTo>
                    <a:pt x="7034022" y="0"/>
                    <a:pt x="7132320" y="98298"/>
                    <a:pt x="7132320" y="219456"/>
                  </a:cubicBezTo>
                  <a:lnTo>
                    <a:pt x="7132320" y="7644384"/>
                  </a:lnTo>
                  <a:cubicBezTo>
                    <a:pt x="7132320" y="7765542"/>
                    <a:pt x="7034022" y="7863840"/>
                    <a:pt x="6912864" y="7863840"/>
                  </a:cubicBezTo>
                  <a:lnTo>
                    <a:pt x="219456" y="7863840"/>
                  </a:lnTo>
                  <a:cubicBezTo>
                    <a:pt x="98298" y="7863840"/>
                    <a:pt x="0" y="7765542"/>
                    <a:pt x="0" y="7644384"/>
                  </a:cubicBezTo>
                  <a:close/>
                </a:path>
              </a:pathLst>
            </a:custGeom>
            <a:solidFill>
              <a:srgbClr val="F7F9FC"/>
            </a:solidFill>
          </p:spPr>
        </p:sp>
      </p:grpSp>
      <p:grpSp>
        <p:nvGrpSpPr>
          <p:cNvPr name="Group 58" id="58"/>
          <p:cNvGrpSpPr/>
          <p:nvPr/>
        </p:nvGrpSpPr>
        <p:grpSpPr>
          <a:xfrm rot="0">
            <a:off x="14196060" y="3154680"/>
            <a:ext cx="1097280" cy="1097280"/>
            <a:chOff x="0" y="0"/>
            <a:chExt cx="1463040" cy="1463040"/>
          </a:xfrm>
        </p:grpSpPr>
        <p:sp>
          <p:nvSpPr>
            <p:cNvPr name="Freeform 59" id="59"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7"/>
              <a:stretch>
                <a:fillRect l="0" t="0" r="0" b="0"/>
              </a:stretch>
            </a:blipFill>
          </p:spPr>
        </p:sp>
      </p:grpSp>
      <p:grpSp>
        <p:nvGrpSpPr>
          <p:cNvPr name="Group 60" id="60"/>
          <p:cNvGrpSpPr/>
          <p:nvPr/>
        </p:nvGrpSpPr>
        <p:grpSpPr>
          <a:xfrm rot="0">
            <a:off x="12275820" y="4457700"/>
            <a:ext cx="4663440" cy="548640"/>
            <a:chOff x="0" y="0"/>
            <a:chExt cx="6217920" cy="731520"/>
          </a:xfrm>
        </p:grpSpPr>
        <p:sp>
          <p:nvSpPr>
            <p:cNvPr name="Freeform 61" id="61"/>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506" r="0" b="-115508"/>
              </a:stretch>
            </a:blipFill>
          </p:spPr>
        </p:sp>
      </p:grpSp>
      <p:grpSp>
        <p:nvGrpSpPr>
          <p:cNvPr name="Group 62" id="62"/>
          <p:cNvGrpSpPr/>
          <p:nvPr/>
        </p:nvGrpSpPr>
        <p:grpSpPr>
          <a:xfrm rot="0">
            <a:off x="12275820" y="4450556"/>
            <a:ext cx="4663440" cy="555784"/>
            <a:chOff x="0" y="0"/>
            <a:chExt cx="6217920" cy="741045"/>
          </a:xfrm>
        </p:grpSpPr>
        <p:sp>
          <p:nvSpPr>
            <p:cNvPr name="Freeform 63" id="63"/>
            <p:cNvSpPr/>
            <p:nvPr/>
          </p:nvSpPr>
          <p:spPr>
            <a:xfrm flipH="false" flipV="false" rot="0">
              <a:off x="0" y="0"/>
              <a:ext cx="6217920" cy="741045"/>
            </a:xfrm>
            <a:custGeom>
              <a:avLst/>
              <a:gdLst/>
              <a:ahLst/>
              <a:cxnLst/>
              <a:rect r="r" b="b" t="t" l="l"/>
              <a:pathLst>
                <a:path h="741045" w="6217920">
                  <a:moveTo>
                    <a:pt x="0" y="0"/>
                  </a:moveTo>
                  <a:lnTo>
                    <a:pt x="6217920" y="0"/>
                  </a:lnTo>
                  <a:lnTo>
                    <a:pt x="6217920" y="741045"/>
                  </a:lnTo>
                  <a:lnTo>
                    <a:pt x="0" y="741045"/>
                  </a:lnTo>
                  <a:close/>
                </a:path>
              </a:pathLst>
            </a:custGeom>
            <a:blipFill>
              <a:blip r:embed="rId4">
                <a:alphaModFix amt="0"/>
              </a:blip>
              <a:stretch>
                <a:fillRect l="0" t="-113494" r="0" b="-113494"/>
              </a:stretch>
            </a:blipFill>
          </p:spPr>
        </p:sp>
        <p:sp>
          <p:nvSpPr>
            <p:cNvPr name="TextBox 64" id="64"/>
            <p:cNvSpPr txBox="true"/>
            <p:nvPr/>
          </p:nvSpPr>
          <p:spPr>
            <a:xfrm>
              <a:off x="0" y="-9525"/>
              <a:ext cx="6217920" cy="750570"/>
            </a:xfrm>
            <a:prstGeom prst="rect">
              <a:avLst/>
            </a:prstGeom>
          </p:spPr>
          <p:txBody>
            <a:bodyPr anchor="ctr" rtlCol="false" tIns="0" lIns="0" bIns="0" rIns="0"/>
            <a:lstStyle/>
            <a:p>
              <a:pPr algn="l">
                <a:lnSpc>
                  <a:spcPts val="2879"/>
                </a:lnSpc>
              </a:pPr>
              <a:r>
                <a:rPr lang="en-US" sz="2400" b="true">
                  <a:solidFill>
                    <a:srgbClr val="1E2761"/>
                  </a:solidFill>
                  <a:latin typeface="Cambria Bold"/>
                  <a:ea typeface="Cambria Bold"/>
                  <a:cs typeface="Cambria Bold"/>
                  <a:sym typeface="Cambria Bold"/>
                </a:rPr>
                <a:t>AI &amp; ML in Finance</a:t>
              </a:r>
            </a:p>
          </p:txBody>
        </p:sp>
      </p:grpSp>
      <p:grpSp>
        <p:nvGrpSpPr>
          <p:cNvPr name="Group 65" id="65"/>
          <p:cNvGrpSpPr/>
          <p:nvPr/>
        </p:nvGrpSpPr>
        <p:grpSpPr>
          <a:xfrm rot="0">
            <a:off x="12275820" y="5074920"/>
            <a:ext cx="4663440" cy="3154680"/>
            <a:chOff x="0" y="0"/>
            <a:chExt cx="6217920" cy="4206240"/>
          </a:xfrm>
        </p:grpSpPr>
        <p:sp>
          <p:nvSpPr>
            <p:cNvPr name="Freeform 66" id="66"/>
            <p:cNvSpPr/>
            <p:nvPr/>
          </p:nvSpPr>
          <p:spPr>
            <a:xfrm flipH="false" flipV="false" rot="0">
              <a:off x="0" y="0"/>
              <a:ext cx="6217920" cy="4206240"/>
            </a:xfrm>
            <a:custGeom>
              <a:avLst/>
              <a:gdLst/>
              <a:ahLst/>
              <a:cxnLst/>
              <a:rect r="r" b="b" t="t" l="l"/>
              <a:pathLst>
                <a:path h="4206240" w="6217920">
                  <a:moveTo>
                    <a:pt x="0" y="0"/>
                  </a:moveTo>
                  <a:lnTo>
                    <a:pt x="6217920" y="0"/>
                  </a:lnTo>
                  <a:lnTo>
                    <a:pt x="6217920" y="4206240"/>
                  </a:lnTo>
                  <a:lnTo>
                    <a:pt x="0" y="4206240"/>
                  </a:lnTo>
                  <a:close/>
                </a:path>
              </a:pathLst>
            </a:custGeom>
            <a:blipFill>
              <a:blip r:embed="rId3">
                <a:alphaModFix amt="0"/>
              </a:blip>
              <a:stretch>
                <a:fillRect l="-36853" t="0" r="-36853" b="0"/>
              </a:stretch>
            </a:blipFill>
          </p:spPr>
        </p:sp>
      </p:grpSp>
      <p:grpSp>
        <p:nvGrpSpPr>
          <p:cNvPr name="Group 67" id="67"/>
          <p:cNvGrpSpPr/>
          <p:nvPr/>
        </p:nvGrpSpPr>
        <p:grpSpPr>
          <a:xfrm rot="0">
            <a:off x="12275820" y="5010626"/>
            <a:ext cx="4663440" cy="3218974"/>
            <a:chOff x="0" y="0"/>
            <a:chExt cx="6217920" cy="4291965"/>
          </a:xfrm>
        </p:grpSpPr>
        <p:sp>
          <p:nvSpPr>
            <p:cNvPr name="Freeform 68" id="68"/>
            <p:cNvSpPr/>
            <p:nvPr/>
          </p:nvSpPr>
          <p:spPr>
            <a:xfrm flipH="false" flipV="false" rot="0">
              <a:off x="0" y="0"/>
              <a:ext cx="6217920" cy="4291965"/>
            </a:xfrm>
            <a:custGeom>
              <a:avLst/>
              <a:gdLst/>
              <a:ahLst/>
              <a:cxnLst/>
              <a:rect r="r" b="b" t="t" l="l"/>
              <a:pathLst>
                <a:path h="4291965" w="6217920">
                  <a:moveTo>
                    <a:pt x="0" y="0"/>
                  </a:moveTo>
                  <a:lnTo>
                    <a:pt x="6217920" y="0"/>
                  </a:lnTo>
                  <a:lnTo>
                    <a:pt x="6217920" y="4291965"/>
                  </a:lnTo>
                  <a:lnTo>
                    <a:pt x="0" y="4291965"/>
                  </a:lnTo>
                  <a:close/>
                </a:path>
              </a:pathLst>
            </a:custGeom>
            <a:blipFill>
              <a:blip r:embed="rId4">
                <a:alphaModFix amt="0"/>
              </a:blip>
              <a:stretch>
                <a:fillRect l="-38562" t="0" r="-38562" b="0"/>
              </a:stretch>
            </a:blipFill>
          </p:spPr>
        </p:sp>
        <p:sp>
          <p:nvSpPr>
            <p:cNvPr name="TextBox 69" id="69"/>
            <p:cNvSpPr txBox="true"/>
            <p:nvPr/>
          </p:nvSpPr>
          <p:spPr>
            <a:xfrm>
              <a:off x="0" y="-85725"/>
              <a:ext cx="6217920" cy="4377690"/>
            </a:xfrm>
            <a:prstGeom prst="rect">
              <a:avLst/>
            </a:prstGeom>
          </p:spPr>
          <p:txBody>
            <a:bodyPr anchor="ctr" rtlCol="false" tIns="0" lIns="0" bIns="0" rIns="0"/>
            <a:lstStyle/>
            <a:p>
              <a:pPr algn="l">
                <a:lnSpc>
                  <a:spcPts val="2700"/>
                </a:lnSpc>
              </a:pPr>
              <a:r>
                <a:rPr lang="en-US" sz="1875">
                  <a:solidFill>
                    <a:srgbClr val="44506B"/>
                  </a:solidFill>
                  <a:latin typeface="Calibri (MS)"/>
                  <a:ea typeface="Calibri (MS)"/>
                  <a:cs typeface="Calibri (MS)"/>
                  <a:sym typeface="Calibri (MS)"/>
                </a:rPr>
                <a:t>Predictive models can analyze many variables at once, spot complex patterns in historical data, and deliver consistent, repeatable decisions at scale — making ML a natural fit for automating loan approvals.</a:t>
              </a:r>
            </a:p>
          </p:txBody>
        </p:sp>
      </p:grpSp>
      <p:grpSp>
        <p:nvGrpSpPr>
          <p:cNvPr name="Group 70" id="70"/>
          <p:cNvGrpSpPr/>
          <p:nvPr/>
        </p:nvGrpSpPr>
        <p:grpSpPr>
          <a:xfrm rot="0">
            <a:off x="685800" y="9738360"/>
            <a:ext cx="8229600" cy="411480"/>
            <a:chOff x="0" y="0"/>
            <a:chExt cx="10972800" cy="548640"/>
          </a:xfrm>
        </p:grpSpPr>
        <p:sp>
          <p:nvSpPr>
            <p:cNvPr name="Freeform 71" id="7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72" id="72"/>
          <p:cNvGrpSpPr/>
          <p:nvPr/>
        </p:nvGrpSpPr>
        <p:grpSpPr>
          <a:xfrm rot="0">
            <a:off x="685800" y="9716929"/>
            <a:ext cx="8229600" cy="432911"/>
            <a:chOff x="0" y="0"/>
            <a:chExt cx="10972800" cy="577215"/>
          </a:xfrm>
        </p:grpSpPr>
        <p:sp>
          <p:nvSpPr>
            <p:cNvPr name="Freeform 73" id="73"/>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74" id="74"/>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75" id="75"/>
          <p:cNvGrpSpPr/>
          <p:nvPr/>
        </p:nvGrpSpPr>
        <p:grpSpPr>
          <a:xfrm rot="0">
            <a:off x="16870680" y="9738360"/>
            <a:ext cx="685800" cy="411480"/>
            <a:chOff x="0" y="0"/>
            <a:chExt cx="914400" cy="548640"/>
          </a:xfrm>
        </p:grpSpPr>
        <p:sp>
          <p:nvSpPr>
            <p:cNvPr name="Freeform 76" id="7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77" id="77"/>
          <p:cNvGrpSpPr/>
          <p:nvPr/>
        </p:nvGrpSpPr>
        <p:grpSpPr>
          <a:xfrm rot="0">
            <a:off x="16870680" y="9716929"/>
            <a:ext cx="685800" cy="432911"/>
            <a:chOff x="0" y="0"/>
            <a:chExt cx="914400" cy="577215"/>
          </a:xfrm>
        </p:grpSpPr>
        <p:sp>
          <p:nvSpPr>
            <p:cNvPr name="Freeform 78" id="78"/>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79" id="79"/>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THE CHALLENGE</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Problem Statement &amp; Objectives</a:t>
              </a:r>
            </a:p>
          </p:txBody>
        </p:sp>
      </p:grpSp>
      <p:grpSp>
        <p:nvGrpSpPr>
          <p:cNvPr name="Group 12" id="12"/>
          <p:cNvGrpSpPr/>
          <p:nvPr/>
        </p:nvGrpSpPr>
        <p:grpSpPr>
          <a:xfrm rot="0">
            <a:off x="822960" y="2606040"/>
            <a:ext cx="8092440" cy="6309360"/>
            <a:chOff x="0" y="0"/>
            <a:chExt cx="10789920" cy="8412480"/>
          </a:xfrm>
        </p:grpSpPr>
        <p:sp>
          <p:nvSpPr>
            <p:cNvPr name="Freeform 13" id="13"/>
            <p:cNvSpPr/>
            <p:nvPr/>
          </p:nvSpPr>
          <p:spPr>
            <a:xfrm flipH="false" flipV="false" rot="0">
              <a:off x="0" y="0"/>
              <a:ext cx="10789920" cy="8412480"/>
            </a:xfrm>
            <a:custGeom>
              <a:avLst/>
              <a:gdLst/>
              <a:ahLst/>
              <a:cxnLst/>
              <a:rect r="r" b="b" t="t" l="l"/>
              <a:pathLst>
                <a:path h="8412480" w="10789920">
                  <a:moveTo>
                    <a:pt x="0" y="182880"/>
                  </a:moveTo>
                  <a:cubicBezTo>
                    <a:pt x="0" y="81915"/>
                    <a:pt x="81915" y="0"/>
                    <a:pt x="182880" y="0"/>
                  </a:cubicBezTo>
                  <a:lnTo>
                    <a:pt x="10607040" y="0"/>
                  </a:lnTo>
                  <a:cubicBezTo>
                    <a:pt x="10708005" y="0"/>
                    <a:pt x="10789920" y="81915"/>
                    <a:pt x="10789920" y="182880"/>
                  </a:cubicBezTo>
                  <a:lnTo>
                    <a:pt x="10789920" y="8229600"/>
                  </a:lnTo>
                  <a:cubicBezTo>
                    <a:pt x="10789920" y="8330565"/>
                    <a:pt x="10708005" y="8412480"/>
                    <a:pt x="10607040" y="8412480"/>
                  </a:cubicBezTo>
                  <a:lnTo>
                    <a:pt x="182880" y="8412480"/>
                  </a:lnTo>
                  <a:cubicBezTo>
                    <a:pt x="81915" y="8412480"/>
                    <a:pt x="0" y="8330565"/>
                    <a:pt x="0" y="8229600"/>
                  </a:cubicBezTo>
                  <a:close/>
                </a:path>
              </a:pathLst>
            </a:custGeom>
            <a:solidFill>
              <a:srgbClr val="F7F9FC"/>
            </a:solidFill>
          </p:spPr>
        </p:sp>
      </p:grpSp>
      <p:grpSp>
        <p:nvGrpSpPr>
          <p:cNvPr name="Group 14" id="14"/>
          <p:cNvGrpSpPr/>
          <p:nvPr/>
        </p:nvGrpSpPr>
        <p:grpSpPr>
          <a:xfrm rot="0">
            <a:off x="1303020" y="3017520"/>
            <a:ext cx="754380" cy="754380"/>
            <a:chOff x="0" y="0"/>
            <a:chExt cx="1005840" cy="1005840"/>
          </a:xfrm>
        </p:grpSpPr>
        <p:sp>
          <p:nvSpPr>
            <p:cNvPr name="Freeform 15" id="15" descr="preencoded.png"/>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lnTo>
                    <a:pt x="0" y="0"/>
                  </a:lnTo>
                  <a:close/>
                </a:path>
              </a:pathLst>
            </a:custGeom>
            <a:blipFill>
              <a:blip r:embed="rId5"/>
              <a:stretch>
                <a:fillRect l="0" t="0" r="0" b="0"/>
              </a:stretch>
            </a:blipFill>
          </p:spPr>
        </p:sp>
      </p:grpSp>
      <p:grpSp>
        <p:nvGrpSpPr>
          <p:cNvPr name="Group 16" id="16"/>
          <p:cNvGrpSpPr/>
          <p:nvPr/>
        </p:nvGrpSpPr>
        <p:grpSpPr>
          <a:xfrm rot="0">
            <a:off x="2263140" y="3127248"/>
            <a:ext cx="6309360" cy="548640"/>
            <a:chOff x="0" y="0"/>
            <a:chExt cx="8412480" cy="731520"/>
          </a:xfrm>
        </p:grpSpPr>
        <p:sp>
          <p:nvSpPr>
            <p:cNvPr name="Freeform 17" id="17"/>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blipFill>
              <a:blip r:embed="rId3">
                <a:alphaModFix amt="0"/>
              </a:blip>
              <a:stretch>
                <a:fillRect l="0" t="-173921" r="0" b="-173921"/>
              </a:stretch>
            </a:blipFill>
          </p:spPr>
        </p:sp>
      </p:grpSp>
      <p:grpSp>
        <p:nvGrpSpPr>
          <p:cNvPr name="Group 18" id="18"/>
          <p:cNvGrpSpPr/>
          <p:nvPr/>
        </p:nvGrpSpPr>
        <p:grpSpPr>
          <a:xfrm rot="0">
            <a:off x="2263140" y="3120104"/>
            <a:ext cx="6309360" cy="555784"/>
            <a:chOff x="0" y="0"/>
            <a:chExt cx="8412480" cy="741045"/>
          </a:xfrm>
        </p:grpSpPr>
        <p:sp>
          <p:nvSpPr>
            <p:cNvPr name="Freeform 19" id="19"/>
            <p:cNvSpPr/>
            <p:nvPr/>
          </p:nvSpPr>
          <p:spPr>
            <a:xfrm flipH="false" flipV="false" rot="0">
              <a:off x="0" y="0"/>
              <a:ext cx="8412480" cy="741045"/>
            </a:xfrm>
            <a:custGeom>
              <a:avLst/>
              <a:gdLst/>
              <a:ahLst/>
              <a:cxnLst/>
              <a:rect r="r" b="b" t="t" l="l"/>
              <a:pathLst>
                <a:path h="741045" w="8412480">
                  <a:moveTo>
                    <a:pt x="0" y="0"/>
                  </a:moveTo>
                  <a:lnTo>
                    <a:pt x="8412480" y="0"/>
                  </a:lnTo>
                  <a:lnTo>
                    <a:pt x="8412480" y="741045"/>
                  </a:lnTo>
                  <a:lnTo>
                    <a:pt x="0" y="741045"/>
                  </a:lnTo>
                  <a:close/>
                </a:path>
              </a:pathLst>
            </a:custGeom>
            <a:blipFill>
              <a:blip r:embed="rId4">
                <a:alphaModFix amt="0"/>
              </a:blip>
              <a:stretch>
                <a:fillRect l="0" t="-171197" r="0" b="-171197"/>
              </a:stretch>
            </a:blipFill>
          </p:spPr>
        </p:sp>
        <p:sp>
          <p:nvSpPr>
            <p:cNvPr name="TextBox 20" id="20"/>
            <p:cNvSpPr txBox="true"/>
            <p:nvPr/>
          </p:nvSpPr>
          <p:spPr>
            <a:xfrm>
              <a:off x="0" y="-9525"/>
              <a:ext cx="8412480" cy="750570"/>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The Problem</a:t>
              </a:r>
            </a:p>
          </p:txBody>
        </p:sp>
      </p:grpSp>
      <p:grpSp>
        <p:nvGrpSpPr>
          <p:cNvPr name="Group 21" id="21"/>
          <p:cNvGrpSpPr/>
          <p:nvPr/>
        </p:nvGrpSpPr>
        <p:grpSpPr>
          <a:xfrm rot="0">
            <a:off x="1303020" y="4114800"/>
            <a:ext cx="7132320" cy="576072"/>
            <a:chOff x="0" y="0"/>
            <a:chExt cx="9509760" cy="768096"/>
          </a:xfrm>
        </p:grpSpPr>
        <p:sp>
          <p:nvSpPr>
            <p:cNvPr name="Freeform 22" id="22"/>
            <p:cNvSpPr/>
            <p:nvPr/>
          </p:nvSpPr>
          <p:spPr>
            <a:xfrm flipH="false" flipV="false" rot="0">
              <a:off x="0" y="0"/>
              <a:ext cx="9509760" cy="768096"/>
            </a:xfrm>
            <a:custGeom>
              <a:avLst/>
              <a:gdLst/>
              <a:ahLst/>
              <a:cxnLst/>
              <a:rect r="r" b="b" t="t" l="l"/>
              <a:pathLst>
                <a:path h="768096" w="9509760">
                  <a:moveTo>
                    <a:pt x="0" y="0"/>
                  </a:moveTo>
                  <a:lnTo>
                    <a:pt x="9509760" y="0"/>
                  </a:lnTo>
                  <a:lnTo>
                    <a:pt x="9509760" y="768096"/>
                  </a:lnTo>
                  <a:lnTo>
                    <a:pt x="0" y="768096"/>
                  </a:lnTo>
                  <a:close/>
                </a:path>
              </a:pathLst>
            </a:custGeom>
            <a:blipFill>
              <a:blip r:embed="rId3">
                <a:alphaModFix amt="0"/>
              </a:blip>
              <a:stretch>
                <a:fillRect l="0" t="-191076" r="0" b="-191074"/>
              </a:stretch>
            </a:blipFill>
          </p:spPr>
        </p:sp>
      </p:grpSp>
      <p:grpSp>
        <p:nvGrpSpPr>
          <p:cNvPr name="Group 23" id="23"/>
          <p:cNvGrpSpPr/>
          <p:nvPr/>
        </p:nvGrpSpPr>
        <p:grpSpPr>
          <a:xfrm rot="0">
            <a:off x="1303020" y="4086225"/>
            <a:ext cx="7132320" cy="604647"/>
            <a:chOff x="0" y="0"/>
            <a:chExt cx="9509760" cy="806196"/>
          </a:xfrm>
        </p:grpSpPr>
        <p:sp>
          <p:nvSpPr>
            <p:cNvPr name="Freeform 24" id="24"/>
            <p:cNvSpPr/>
            <p:nvPr/>
          </p:nvSpPr>
          <p:spPr>
            <a:xfrm flipH="false" flipV="false" rot="0">
              <a:off x="0" y="0"/>
              <a:ext cx="9509760" cy="806196"/>
            </a:xfrm>
            <a:custGeom>
              <a:avLst/>
              <a:gdLst/>
              <a:ahLst/>
              <a:cxnLst/>
              <a:rect r="r" b="b" t="t" l="l"/>
              <a:pathLst>
                <a:path h="806196" w="9509760">
                  <a:moveTo>
                    <a:pt x="0" y="0"/>
                  </a:moveTo>
                  <a:lnTo>
                    <a:pt x="9509760" y="0"/>
                  </a:lnTo>
                  <a:lnTo>
                    <a:pt x="9509760" y="806196"/>
                  </a:lnTo>
                  <a:lnTo>
                    <a:pt x="0" y="806196"/>
                  </a:lnTo>
                  <a:close/>
                </a:path>
              </a:pathLst>
            </a:custGeom>
            <a:blipFill>
              <a:blip r:embed="rId4">
                <a:alphaModFix amt="0"/>
              </a:blip>
              <a:stretch>
                <a:fillRect l="0" t="-179842" r="0" b="-179842"/>
              </a:stretch>
            </a:blipFill>
          </p:spPr>
        </p:sp>
        <p:sp>
          <p:nvSpPr>
            <p:cNvPr name="TextBox 25" id="25"/>
            <p:cNvSpPr txBox="true"/>
            <p:nvPr/>
          </p:nvSpPr>
          <p:spPr>
            <a:xfrm>
              <a:off x="0" y="-38100"/>
              <a:ext cx="950976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44506B"/>
                  </a:solidFill>
                  <a:latin typeface="Calibri (MS)"/>
                  <a:ea typeface="Calibri (MS)"/>
                  <a:cs typeface="Calibri (MS)"/>
                  <a:sym typeface="Calibri (MS)"/>
                </a:rPr>
                <a:t>Processing delays of days to weeks</a:t>
              </a:r>
            </a:p>
          </p:txBody>
        </p:sp>
      </p:grpSp>
      <p:grpSp>
        <p:nvGrpSpPr>
          <p:cNvPr name="Group 26" id="26"/>
          <p:cNvGrpSpPr/>
          <p:nvPr/>
        </p:nvGrpSpPr>
        <p:grpSpPr>
          <a:xfrm rot="0">
            <a:off x="1303020" y="4800600"/>
            <a:ext cx="7132320" cy="576072"/>
            <a:chOff x="0" y="0"/>
            <a:chExt cx="9509760" cy="768096"/>
          </a:xfrm>
        </p:grpSpPr>
        <p:sp>
          <p:nvSpPr>
            <p:cNvPr name="Freeform 27" id="27"/>
            <p:cNvSpPr/>
            <p:nvPr/>
          </p:nvSpPr>
          <p:spPr>
            <a:xfrm flipH="false" flipV="false" rot="0">
              <a:off x="0" y="0"/>
              <a:ext cx="9509760" cy="768096"/>
            </a:xfrm>
            <a:custGeom>
              <a:avLst/>
              <a:gdLst/>
              <a:ahLst/>
              <a:cxnLst/>
              <a:rect r="r" b="b" t="t" l="l"/>
              <a:pathLst>
                <a:path h="768096" w="9509760">
                  <a:moveTo>
                    <a:pt x="0" y="0"/>
                  </a:moveTo>
                  <a:lnTo>
                    <a:pt x="9509760" y="0"/>
                  </a:lnTo>
                  <a:lnTo>
                    <a:pt x="9509760" y="768096"/>
                  </a:lnTo>
                  <a:lnTo>
                    <a:pt x="0" y="768096"/>
                  </a:lnTo>
                  <a:close/>
                </a:path>
              </a:pathLst>
            </a:custGeom>
            <a:blipFill>
              <a:blip r:embed="rId3">
                <a:alphaModFix amt="0"/>
              </a:blip>
              <a:stretch>
                <a:fillRect l="0" t="-191076" r="0" b="-191074"/>
              </a:stretch>
            </a:blipFill>
          </p:spPr>
        </p:sp>
      </p:grpSp>
      <p:grpSp>
        <p:nvGrpSpPr>
          <p:cNvPr name="Group 28" id="28"/>
          <p:cNvGrpSpPr/>
          <p:nvPr/>
        </p:nvGrpSpPr>
        <p:grpSpPr>
          <a:xfrm rot="0">
            <a:off x="1303020" y="4772025"/>
            <a:ext cx="7132320" cy="604647"/>
            <a:chOff x="0" y="0"/>
            <a:chExt cx="9509760" cy="806196"/>
          </a:xfrm>
        </p:grpSpPr>
        <p:sp>
          <p:nvSpPr>
            <p:cNvPr name="Freeform 29" id="29"/>
            <p:cNvSpPr/>
            <p:nvPr/>
          </p:nvSpPr>
          <p:spPr>
            <a:xfrm flipH="false" flipV="false" rot="0">
              <a:off x="0" y="0"/>
              <a:ext cx="9509760" cy="806196"/>
            </a:xfrm>
            <a:custGeom>
              <a:avLst/>
              <a:gdLst/>
              <a:ahLst/>
              <a:cxnLst/>
              <a:rect r="r" b="b" t="t" l="l"/>
              <a:pathLst>
                <a:path h="806196" w="9509760">
                  <a:moveTo>
                    <a:pt x="0" y="0"/>
                  </a:moveTo>
                  <a:lnTo>
                    <a:pt x="9509760" y="0"/>
                  </a:lnTo>
                  <a:lnTo>
                    <a:pt x="9509760" y="806196"/>
                  </a:lnTo>
                  <a:lnTo>
                    <a:pt x="0" y="806196"/>
                  </a:lnTo>
                  <a:close/>
                </a:path>
              </a:pathLst>
            </a:custGeom>
            <a:blipFill>
              <a:blip r:embed="rId4">
                <a:alphaModFix amt="0"/>
              </a:blip>
              <a:stretch>
                <a:fillRect l="0" t="-179842" r="0" b="-179842"/>
              </a:stretch>
            </a:blipFill>
          </p:spPr>
        </p:sp>
        <p:sp>
          <p:nvSpPr>
            <p:cNvPr name="TextBox 30" id="30"/>
            <p:cNvSpPr txBox="true"/>
            <p:nvPr/>
          </p:nvSpPr>
          <p:spPr>
            <a:xfrm>
              <a:off x="0" y="-38100"/>
              <a:ext cx="950976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44506B"/>
                  </a:solidFill>
                  <a:latin typeface="Calibri (MS)"/>
                  <a:ea typeface="Calibri (MS)"/>
                  <a:cs typeface="Calibri (MS)"/>
                  <a:sym typeface="Calibri (MS)"/>
                </a:rPr>
                <a:t>Inconsistent officer-to-officer decisions</a:t>
              </a:r>
            </a:p>
          </p:txBody>
        </p:sp>
      </p:grpSp>
      <p:grpSp>
        <p:nvGrpSpPr>
          <p:cNvPr name="Group 31" id="31"/>
          <p:cNvGrpSpPr/>
          <p:nvPr/>
        </p:nvGrpSpPr>
        <p:grpSpPr>
          <a:xfrm rot="0">
            <a:off x="1303020" y="5486400"/>
            <a:ext cx="7132320" cy="576072"/>
            <a:chOff x="0" y="0"/>
            <a:chExt cx="9509760" cy="768096"/>
          </a:xfrm>
        </p:grpSpPr>
        <p:sp>
          <p:nvSpPr>
            <p:cNvPr name="Freeform 32" id="32"/>
            <p:cNvSpPr/>
            <p:nvPr/>
          </p:nvSpPr>
          <p:spPr>
            <a:xfrm flipH="false" flipV="false" rot="0">
              <a:off x="0" y="0"/>
              <a:ext cx="9509760" cy="768096"/>
            </a:xfrm>
            <a:custGeom>
              <a:avLst/>
              <a:gdLst/>
              <a:ahLst/>
              <a:cxnLst/>
              <a:rect r="r" b="b" t="t" l="l"/>
              <a:pathLst>
                <a:path h="768096" w="9509760">
                  <a:moveTo>
                    <a:pt x="0" y="0"/>
                  </a:moveTo>
                  <a:lnTo>
                    <a:pt x="9509760" y="0"/>
                  </a:lnTo>
                  <a:lnTo>
                    <a:pt x="9509760" y="768096"/>
                  </a:lnTo>
                  <a:lnTo>
                    <a:pt x="0" y="768096"/>
                  </a:lnTo>
                  <a:close/>
                </a:path>
              </a:pathLst>
            </a:custGeom>
            <a:blipFill>
              <a:blip r:embed="rId3">
                <a:alphaModFix amt="0"/>
              </a:blip>
              <a:stretch>
                <a:fillRect l="0" t="-191076" r="0" b="-191074"/>
              </a:stretch>
            </a:blipFill>
          </p:spPr>
        </p:sp>
      </p:grpSp>
      <p:grpSp>
        <p:nvGrpSpPr>
          <p:cNvPr name="Group 33" id="33"/>
          <p:cNvGrpSpPr/>
          <p:nvPr/>
        </p:nvGrpSpPr>
        <p:grpSpPr>
          <a:xfrm rot="0">
            <a:off x="1303020" y="5457825"/>
            <a:ext cx="7132320" cy="604647"/>
            <a:chOff x="0" y="0"/>
            <a:chExt cx="9509760" cy="806196"/>
          </a:xfrm>
        </p:grpSpPr>
        <p:sp>
          <p:nvSpPr>
            <p:cNvPr name="Freeform 34" id="34"/>
            <p:cNvSpPr/>
            <p:nvPr/>
          </p:nvSpPr>
          <p:spPr>
            <a:xfrm flipH="false" flipV="false" rot="0">
              <a:off x="0" y="0"/>
              <a:ext cx="9509760" cy="806196"/>
            </a:xfrm>
            <a:custGeom>
              <a:avLst/>
              <a:gdLst/>
              <a:ahLst/>
              <a:cxnLst/>
              <a:rect r="r" b="b" t="t" l="l"/>
              <a:pathLst>
                <a:path h="806196" w="9509760">
                  <a:moveTo>
                    <a:pt x="0" y="0"/>
                  </a:moveTo>
                  <a:lnTo>
                    <a:pt x="9509760" y="0"/>
                  </a:lnTo>
                  <a:lnTo>
                    <a:pt x="9509760" y="806196"/>
                  </a:lnTo>
                  <a:lnTo>
                    <a:pt x="0" y="806196"/>
                  </a:lnTo>
                  <a:close/>
                </a:path>
              </a:pathLst>
            </a:custGeom>
            <a:blipFill>
              <a:blip r:embed="rId4">
                <a:alphaModFix amt="0"/>
              </a:blip>
              <a:stretch>
                <a:fillRect l="0" t="-179842" r="0" b="-179842"/>
              </a:stretch>
            </a:blipFill>
          </p:spPr>
        </p:sp>
        <p:sp>
          <p:nvSpPr>
            <p:cNvPr name="TextBox 35" id="35"/>
            <p:cNvSpPr txBox="true"/>
            <p:nvPr/>
          </p:nvSpPr>
          <p:spPr>
            <a:xfrm>
              <a:off x="0" y="-38100"/>
              <a:ext cx="950976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44506B"/>
                  </a:solidFill>
                  <a:latin typeface="Calibri (MS)"/>
                  <a:ea typeface="Calibri (MS)"/>
                  <a:cs typeface="Calibri (MS)"/>
                  <a:sym typeface="Calibri (MS)"/>
                </a:rPr>
                <a:t>Unconscious bias &amp; legal exposure</a:t>
              </a:r>
            </a:p>
          </p:txBody>
        </p:sp>
      </p:grpSp>
      <p:grpSp>
        <p:nvGrpSpPr>
          <p:cNvPr name="Group 36" id="36"/>
          <p:cNvGrpSpPr/>
          <p:nvPr/>
        </p:nvGrpSpPr>
        <p:grpSpPr>
          <a:xfrm rot="0">
            <a:off x="1303020" y="6172200"/>
            <a:ext cx="7132320" cy="576072"/>
            <a:chOff x="0" y="0"/>
            <a:chExt cx="9509760" cy="768096"/>
          </a:xfrm>
        </p:grpSpPr>
        <p:sp>
          <p:nvSpPr>
            <p:cNvPr name="Freeform 37" id="37"/>
            <p:cNvSpPr/>
            <p:nvPr/>
          </p:nvSpPr>
          <p:spPr>
            <a:xfrm flipH="false" flipV="false" rot="0">
              <a:off x="0" y="0"/>
              <a:ext cx="9509760" cy="768096"/>
            </a:xfrm>
            <a:custGeom>
              <a:avLst/>
              <a:gdLst/>
              <a:ahLst/>
              <a:cxnLst/>
              <a:rect r="r" b="b" t="t" l="l"/>
              <a:pathLst>
                <a:path h="768096" w="9509760">
                  <a:moveTo>
                    <a:pt x="0" y="0"/>
                  </a:moveTo>
                  <a:lnTo>
                    <a:pt x="9509760" y="0"/>
                  </a:lnTo>
                  <a:lnTo>
                    <a:pt x="9509760" y="768096"/>
                  </a:lnTo>
                  <a:lnTo>
                    <a:pt x="0" y="768096"/>
                  </a:lnTo>
                  <a:close/>
                </a:path>
              </a:pathLst>
            </a:custGeom>
            <a:blipFill>
              <a:blip r:embed="rId3">
                <a:alphaModFix amt="0"/>
              </a:blip>
              <a:stretch>
                <a:fillRect l="0" t="-191076" r="0" b="-191074"/>
              </a:stretch>
            </a:blipFill>
          </p:spPr>
        </p:sp>
      </p:grpSp>
      <p:grpSp>
        <p:nvGrpSpPr>
          <p:cNvPr name="Group 38" id="38"/>
          <p:cNvGrpSpPr/>
          <p:nvPr/>
        </p:nvGrpSpPr>
        <p:grpSpPr>
          <a:xfrm rot="0">
            <a:off x="1303020" y="6143625"/>
            <a:ext cx="7132320" cy="604647"/>
            <a:chOff x="0" y="0"/>
            <a:chExt cx="9509760" cy="806196"/>
          </a:xfrm>
        </p:grpSpPr>
        <p:sp>
          <p:nvSpPr>
            <p:cNvPr name="Freeform 39" id="39"/>
            <p:cNvSpPr/>
            <p:nvPr/>
          </p:nvSpPr>
          <p:spPr>
            <a:xfrm flipH="false" flipV="false" rot="0">
              <a:off x="0" y="0"/>
              <a:ext cx="9509760" cy="806196"/>
            </a:xfrm>
            <a:custGeom>
              <a:avLst/>
              <a:gdLst/>
              <a:ahLst/>
              <a:cxnLst/>
              <a:rect r="r" b="b" t="t" l="l"/>
              <a:pathLst>
                <a:path h="806196" w="9509760">
                  <a:moveTo>
                    <a:pt x="0" y="0"/>
                  </a:moveTo>
                  <a:lnTo>
                    <a:pt x="9509760" y="0"/>
                  </a:lnTo>
                  <a:lnTo>
                    <a:pt x="9509760" y="806196"/>
                  </a:lnTo>
                  <a:lnTo>
                    <a:pt x="0" y="806196"/>
                  </a:lnTo>
                  <a:close/>
                </a:path>
              </a:pathLst>
            </a:custGeom>
            <a:blipFill>
              <a:blip r:embed="rId4">
                <a:alphaModFix amt="0"/>
              </a:blip>
              <a:stretch>
                <a:fillRect l="0" t="-179842" r="0" b="-179842"/>
              </a:stretch>
            </a:blipFill>
          </p:spPr>
        </p:sp>
        <p:sp>
          <p:nvSpPr>
            <p:cNvPr name="TextBox 40" id="40"/>
            <p:cNvSpPr txBox="true"/>
            <p:nvPr/>
          </p:nvSpPr>
          <p:spPr>
            <a:xfrm>
              <a:off x="0" y="-38100"/>
              <a:ext cx="950976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44506B"/>
                  </a:solidFill>
                  <a:latin typeface="Calibri (MS)"/>
                  <a:ea typeface="Calibri (MS)"/>
                  <a:cs typeface="Calibri (MS)"/>
                  <a:sym typeface="Calibri (MS)"/>
                </a:rPr>
                <a:t>Poor scalability, high operating cost</a:t>
              </a:r>
            </a:p>
          </p:txBody>
        </p:sp>
      </p:grpSp>
      <p:grpSp>
        <p:nvGrpSpPr>
          <p:cNvPr name="Group 41" id="41"/>
          <p:cNvGrpSpPr/>
          <p:nvPr/>
        </p:nvGrpSpPr>
        <p:grpSpPr>
          <a:xfrm rot="0">
            <a:off x="1303020" y="6858000"/>
            <a:ext cx="7132320" cy="576072"/>
            <a:chOff x="0" y="0"/>
            <a:chExt cx="9509760" cy="768096"/>
          </a:xfrm>
        </p:grpSpPr>
        <p:sp>
          <p:nvSpPr>
            <p:cNvPr name="Freeform 42" id="42"/>
            <p:cNvSpPr/>
            <p:nvPr/>
          </p:nvSpPr>
          <p:spPr>
            <a:xfrm flipH="false" flipV="false" rot="0">
              <a:off x="0" y="0"/>
              <a:ext cx="9509760" cy="768096"/>
            </a:xfrm>
            <a:custGeom>
              <a:avLst/>
              <a:gdLst/>
              <a:ahLst/>
              <a:cxnLst/>
              <a:rect r="r" b="b" t="t" l="l"/>
              <a:pathLst>
                <a:path h="768096" w="9509760">
                  <a:moveTo>
                    <a:pt x="0" y="0"/>
                  </a:moveTo>
                  <a:lnTo>
                    <a:pt x="9509760" y="0"/>
                  </a:lnTo>
                  <a:lnTo>
                    <a:pt x="9509760" y="768096"/>
                  </a:lnTo>
                  <a:lnTo>
                    <a:pt x="0" y="768096"/>
                  </a:lnTo>
                  <a:close/>
                </a:path>
              </a:pathLst>
            </a:custGeom>
            <a:blipFill>
              <a:blip r:embed="rId3">
                <a:alphaModFix amt="0"/>
              </a:blip>
              <a:stretch>
                <a:fillRect l="0" t="-191076" r="0" b="-191074"/>
              </a:stretch>
            </a:blipFill>
          </p:spPr>
        </p:sp>
      </p:grpSp>
      <p:grpSp>
        <p:nvGrpSpPr>
          <p:cNvPr name="Group 43" id="43"/>
          <p:cNvGrpSpPr/>
          <p:nvPr/>
        </p:nvGrpSpPr>
        <p:grpSpPr>
          <a:xfrm rot="0">
            <a:off x="1303020" y="6829425"/>
            <a:ext cx="7132320" cy="604647"/>
            <a:chOff x="0" y="0"/>
            <a:chExt cx="9509760" cy="806196"/>
          </a:xfrm>
        </p:grpSpPr>
        <p:sp>
          <p:nvSpPr>
            <p:cNvPr name="Freeform 44" id="44"/>
            <p:cNvSpPr/>
            <p:nvPr/>
          </p:nvSpPr>
          <p:spPr>
            <a:xfrm flipH="false" flipV="false" rot="0">
              <a:off x="0" y="0"/>
              <a:ext cx="9509760" cy="806196"/>
            </a:xfrm>
            <a:custGeom>
              <a:avLst/>
              <a:gdLst/>
              <a:ahLst/>
              <a:cxnLst/>
              <a:rect r="r" b="b" t="t" l="l"/>
              <a:pathLst>
                <a:path h="806196" w="9509760">
                  <a:moveTo>
                    <a:pt x="0" y="0"/>
                  </a:moveTo>
                  <a:lnTo>
                    <a:pt x="9509760" y="0"/>
                  </a:lnTo>
                  <a:lnTo>
                    <a:pt x="9509760" y="806196"/>
                  </a:lnTo>
                  <a:lnTo>
                    <a:pt x="0" y="806196"/>
                  </a:lnTo>
                  <a:close/>
                </a:path>
              </a:pathLst>
            </a:custGeom>
            <a:blipFill>
              <a:blip r:embed="rId4">
                <a:alphaModFix amt="0"/>
              </a:blip>
              <a:stretch>
                <a:fillRect l="0" t="-179842" r="0" b="-179842"/>
              </a:stretch>
            </a:blipFill>
          </p:spPr>
        </p:sp>
        <p:sp>
          <p:nvSpPr>
            <p:cNvPr name="TextBox 45" id="45"/>
            <p:cNvSpPr txBox="true"/>
            <p:nvPr/>
          </p:nvSpPr>
          <p:spPr>
            <a:xfrm>
              <a:off x="0" y="-38100"/>
              <a:ext cx="950976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44506B"/>
                  </a:solidFill>
                  <a:latin typeface="Calibri (MS)"/>
                  <a:ea typeface="Calibri (MS)"/>
                  <a:cs typeface="Calibri (MS)"/>
                  <a:sym typeface="Calibri (MS)"/>
                </a:rPr>
                <a:t>No transparency for applicants</a:t>
              </a:r>
            </a:p>
          </p:txBody>
        </p:sp>
      </p:grpSp>
      <p:grpSp>
        <p:nvGrpSpPr>
          <p:cNvPr name="Group 46" id="46"/>
          <p:cNvGrpSpPr/>
          <p:nvPr/>
        </p:nvGrpSpPr>
        <p:grpSpPr>
          <a:xfrm rot="0">
            <a:off x="9326880" y="2606040"/>
            <a:ext cx="8092440" cy="6309360"/>
            <a:chOff x="0" y="0"/>
            <a:chExt cx="10789920" cy="8412480"/>
          </a:xfrm>
        </p:grpSpPr>
        <p:sp>
          <p:nvSpPr>
            <p:cNvPr name="Freeform 47" id="47"/>
            <p:cNvSpPr/>
            <p:nvPr/>
          </p:nvSpPr>
          <p:spPr>
            <a:xfrm flipH="false" flipV="false" rot="0">
              <a:off x="0" y="0"/>
              <a:ext cx="10789920" cy="8412480"/>
            </a:xfrm>
            <a:custGeom>
              <a:avLst/>
              <a:gdLst/>
              <a:ahLst/>
              <a:cxnLst/>
              <a:rect r="r" b="b" t="t" l="l"/>
              <a:pathLst>
                <a:path h="8412480" w="10789920">
                  <a:moveTo>
                    <a:pt x="0" y="182880"/>
                  </a:moveTo>
                  <a:cubicBezTo>
                    <a:pt x="0" y="81915"/>
                    <a:pt x="81915" y="0"/>
                    <a:pt x="182880" y="0"/>
                  </a:cubicBezTo>
                  <a:lnTo>
                    <a:pt x="10607040" y="0"/>
                  </a:lnTo>
                  <a:cubicBezTo>
                    <a:pt x="10708005" y="0"/>
                    <a:pt x="10789920" y="81915"/>
                    <a:pt x="10789920" y="182880"/>
                  </a:cubicBezTo>
                  <a:lnTo>
                    <a:pt x="10789920" y="8229600"/>
                  </a:lnTo>
                  <a:cubicBezTo>
                    <a:pt x="10789920" y="8330565"/>
                    <a:pt x="10708005" y="8412480"/>
                    <a:pt x="10607040" y="8412480"/>
                  </a:cubicBezTo>
                  <a:lnTo>
                    <a:pt x="182880" y="8412480"/>
                  </a:lnTo>
                  <a:cubicBezTo>
                    <a:pt x="81915" y="8412480"/>
                    <a:pt x="0" y="8330565"/>
                    <a:pt x="0" y="8229600"/>
                  </a:cubicBezTo>
                  <a:close/>
                </a:path>
              </a:pathLst>
            </a:custGeom>
            <a:solidFill>
              <a:srgbClr val="1E2761"/>
            </a:solidFill>
          </p:spPr>
        </p:sp>
      </p:grpSp>
      <p:grpSp>
        <p:nvGrpSpPr>
          <p:cNvPr name="Group 48" id="48"/>
          <p:cNvGrpSpPr/>
          <p:nvPr/>
        </p:nvGrpSpPr>
        <p:grpSpPr>
          <a:xfrm rot="0">
            <a:off x="9806940" y="3017520"/>
            <a:ext cx="754380" cy="754380"/>
            <a:chOff x="0" y="0"/>
            <a:chExt cx="1005840" cy="1005840"/>
          </a:xfrm>
        </p:grpSpPr>
        <p:sp>
          <p:nvSpPr>
            <p:cNvPr name="Freeform 49" id="49" descr="preencoded.png"/>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lnTo>
                    <a:pt x="0" y="0"/>
                  </a:lnTo>
                  <a:close/>
                </a:path>
              </a:pathLst>
            </a:custGeom>
            <a:blipFill>
              <a:blip r:embed="rId6"/>
              <a:stretch>
                <a:fillRect l="0" t="0" r="0" b="0"/>
              </a:stretch>
            </a:blipFill>
          </p:spPr>
        </p:sp>
      </p:grpSp>
      <p:grpSp>
        <p:nvGrpSpPr>
          <p:cNvPr name="Group 50" id="50"/>
          <p:cNvGrpSpPr/>
          <p:nvPr/>
        </p:nvGrpSpPr>
        <p:grpSpPr>
          <a:xfrm rot="0">
            <a:off x="10767060" y="3127248"/>
            <a:ext cx="6309360" cy="548640"/>
            <a:chOff x="0" y="0"/>
            <a:chExt cx="8412480" cy="731520"/>
          </a:xfrm>
        </p:grpSpPr>
        <p:sp>
          <p:nvSpPr>
            <p:cNvPr name="Freeform 51" id="51"/>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blipFill>
              <a:blip r:embed="rId3">
                <a:alphaModFix amt="0"/>
              </a:blip>
              <a:stretch>
                <a:fillRect l="0" t="-173921" r="0" b="-173921"/>
              </a:stretch>
            </a:blipFill>
          </p:spPr>
        </p:sp>
      </p:grpSp>
      <p:grpSp>
        <p:nvGrpSpPr>
          <p:cNvPr name="Group 52" id="52"/>
          <p:cNvGrpSpPr/>
          <p:nvPr/>
        </p:nvGrpSpPr>
        <p:grpSpPr>
          <a:xfrm rot="0">
            <a:off x="10767060" y="3120104"/>
            <a:ext cx="6309360" cy="555784"/>
            <a:chOff x="0" y="0"/>
            <a:chExt cx="8412480" cy="741045"/>
          </a:xfrm>
        </p:grpSpPr>
        <p:sp>
          <p:nvSpPr>
            <p:cNvPr name="Freeform 53" id="53"/>
            <p:cNvSpPr/>
            <p:nvPr/>
          </p:nvSpPr>
          <p:spPr>
            <a:xfrm flipH="false" flipV="false" rot="0">
              <a:off x="0" y="0"/>
              <a:ext cx="8412480" cy="741045"/>
            </a:xfrm>
            <a:custGeom>
              <a:avLst/>
              <a:gdLst/>
              <a:ahLst/>
              <a:cxnLst/>
              <a:rect r="r" b="b" t="t" l="l"/>
              <a:pathLst>
                <a:path h="741045" w="8412480">
                  <a:moveTo>
                    <a:pt x="0" y="0"/>
                  </a:moveTo>
                  <a:lnTo>
                    <a:pt x="8412480" y="0"/>
                  </a:lnTo>
                  <a:lnTo>
                    <a:pt x="8412480" y="741045"/>
                  </a:lnTo>
                  <a:lnTo>
                    <a:pt x="0" y="741045"/>
                  </a:lnTo>
                  <a:close/>
                </a:path>
              </a:pathLst>
            </a:custGeom>
            <a:blipFill>
              <a:blip r:embed="rId4">
                <a:alphaModFix amt="0"/>
              </a:blip>
              <a:stretch>
                <a:fillRect l="0" t="-171197" r="0" b="-171197"/>
              </a:stretch>
            </a:blipFill>
          </p:spPr>
        </p:sp>
        <p:sp>
          <p:nvSpPr>
            <p:cNvPr name="TextBox 54" id="54"/>
            <p:cNvSpPr txBox="true"/>
            <p:nvPr/>
          </p:nvSpPr>
          <p:spPr>
            <a:xfrm>
              <a:off x="0" y="-9525"/>
              <a:ext cx="8412480" cy="750570"/>
            </a:xfrm>
            <a:prstGeom prst="rect">
              <a:avLst/>
            </a:prstGeom>
          </p:spPr>
          <p:txBody>
            <a:bodyPr anchor="ctr" rtlCol="false" tIns="0" lIns="0" bIns="0" rIns="0"/>
            <a:lstStyle/>
            <a:p>
              <a:pPr algn="l">
                <a:lnSpc>
                  <a:spcPts val="3060"/>
                </a:lnSpc>
              </a:pPr>
              <a:r>
                <a:rPr lang="en-US" sz="2550" b="true">
                  <a:solidFill>
                    <a:srgbClr val="FFFFFF"/>
                  </a:solidFill>
                  <a:latin typeface="Cambria Bold"/>
                  <a:ea typeface="Cambria Bold"/>
                  <a:cs typeface="Cambria Bold"/>
                  <a:sym typeface="Cambria Bold"/>
                </a:rPr>
                <a:t>Project Objectives</a:t>
              </a:r>
            </a:p>
          </p:txBody>
        </p:sp>
      </p:grpSp>
      <p:grpSp>
        <p:nvGrpSpPr>
          <p:cNvPr name="Group 55" id="55"/>
          <p:cNvGrpSpPr/>
          <p:nvPr/>
        </p:nvGrpSpPr>
        <p:grpSpPr>
          <a:xfrm rot="0">
            <a:off x="9806940" y="4114800"/>
            <a:ext cx="7269480" cy="576072"/>
            <a:chOff x="0" y="0"/>
            <a:chExt cx="9692640" cy="768096"/>
          </a:xfrm>
        </p:grpSpPr>
        <p:sp>
          <p:nvSpPr>
            <p:cNvPr name="Freeform 56" id="56"/>
            <p:cNvSpPr/>
            <p:nvPr/>
          </p:nvSpPr>
          <p:spPr>
            <a:xfrm flipH="false" flipV="false" rot="0">
              <a:off x="0" y="0"/>
              <a:ext cx="9692640" cy="768096"/>
            </a:xfrm>
            <a:custGeom>
              <a:avLst/>
              <a:gdLst/>
              <a:ahLst/>
              <a:cxnLst/>
              <a:rect r="r" b="b" t="t" l="l"/>
              <a:pathLst>
                <a:path h="768096" w="9692640">
                  <a:moveTo>
                    <a:pt x="0" y="0"/>
                  </a:moveTo>
                  <a:lnTo>
                    <a:pt x="9692640" y="0"/>
                  </a:lnTo>
                  <a:lnTo>
                    <a:pt x="9692640" y="768096"/>
                  </a:lnTo>
                  <a:lnTo>
                    <a:pt x="0" y="768096"/>
                  </a:lnTo>
                  <a:close/>
                </a:path>
              </a:pathLst>
            </a:custGeom>
            <a:blipFill>
              <a:blip r:embed="rId3">
                <a:alphaModFix amt="0"/>
              </a:blip>
              <a:stretch>
                <a:fillRect l="0" t="-195710" r="0" b="-195712"/>
              </a:stretch>
            </a:blipFill>
          </p:spPr>
        </p:sp>
      </p:grpSp>
      <p:grpSp>
        <p:nvGrpSpPr>
          <p:cNvPr name="Group 57" id="57"/>
          <p:cNvGrpSpPr/>
          <p:nvPr/>
        </p:nvGrpSpPr>
        <p:grpSpPr>
          <a:xfrm rot="0">
            <a:off x="9806940" y="4086225"/>
            <a:ext cx="7269480" cy="604647"/>
            <a:chOff x="0" y="0"/>
            <a:chExt cx="9692640" cy="806196"/>
          </a:xfrm>
        </p:grpSpPr>
        <p:sp>
          <p:nvSpPr>
            <p:cNvPr name="Freeform 58" id="58"/>
            <p:cNvSpPr/>
            <p:nvPr/>
          </p:nvSpPr>
          <p:spPr>
            <a:xfrm flipH="false" flipV="false" rot="0">
              <a:off x="0" y="0"/>
              <a:ext cx="9692640" cy="806196"/>
            </a:xfrm>
            <a:custGeom>
              <a:avLst/>
              <a:gdLst/>
              <a:ahLst/>
              <a:cxnLst/>
              <a:rect r="r" b="b" t="t" l="l"/>
              <a:pathLst>
                <a:path h="806196" w="9692640">
                  <a:moveTo>
                    <a:pt x="0" y="0"/>
                  </a:moveTo>
                  <a:lnTo>
                    <a:pt x="9692640" y="0"/>
                  </a:lnTo>
                  <a:lnTo>
                    <a:pt x="9692640" y="806196"/>
                  </a:lnTo>
                  <a:lnTo>
                    <a:pt x="0" y="806196"/>
                  </a:lnTo>
                  <a:close/>
                </a:path>
              </a:pathLst>
            </a:custGeom>
            <a:blipFill>
              <a:blip r:embed="rId4">
                <a:alphaModFix amt="0"/>
              </a:blip>
              <a:stretch>
                <a:fillRect l="0" t="-184262" r="0" b="-184262"/>
              </a:stretch>
            </a:blipFill>
          </p:spPr>
        </p:sp>
        <p:sp>
          <p:nvSpPr>
            <p:cNvPr name="TextBox 59" id="59"/>
            <p:cNvSpPr txBox="true"/>
            <p:nvPr/>
          </p:nvSpPr>
          <p:spPr>
            <a:xfrm>
              <a:off x="0" y="-38100"/>
              <a:ext cx="969264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CADCFC"/>
                  </a:solidFill>
                  <a:latin typeface="Calibri (MS)"/>
                  <a:ea typeface="Calibri (MS)"/>
                  <a:cs typeface="Calibri (MS)"/>
                  <a:sym typeface="Calibri (MS)"/>
                </a:rPr>
                <a:t>Conduct thorough EDA on the dataset</a:t>
              </a:r>
            </a:p>
          </p:txBody>
        </p:sp>
      </p:grpSp>
      <p:grpSp>
        <p:nvGrpSpPr>
          <p:cNvPr name="Group 60" id="60"/>
          <p:cNvGrpSpPr/>
          <p:nvPr/>
        </p:nvGrpSpPr>
        <p:grpSpPr>
          <a:xfrm rot="0">
            <a:off x="9806940" y="4800600"/>
            <a:ext cx="7269480" cy="576072"/>
            <a:chOff x="0" y="0"/>
            <a:chExt cx="9692640" cy="768096"/>
          </a:xfrm>
        </p:grpSpPr>
        <p:sp>
          <p:nvSpPr>
            <p:cNvPr name="Freeform 61" id="61"/>
            <p:cNvSpPr/>
            <p:nvPr/>
          </p:nvSpPr>
          <p:spPr>
            <a:xfrm flipH="false" flipV="false" rot="0">
              <a:off x="0" y="0"/>
              <a:ext cx="9692640" cy="768096"/>
            </a:xfrm>
            <a:custGeom>
              <a:avLst/>
              <a:gdLst/>
              <a:ahLst/>
              <a:cxnLst/>
              <a:rect r="r" b="b" t="t" l="l"/>
              <a:pathLst>
                <a:path h="768096" w="9692640">
                  <a:moveTo>
                    <a:pt x="0" y="0"/>
                  </a:moveTo>
                  <a:lnTo>
                    <a:pt x="9692640" y="0"/>
                  </a:lnTo>
                  <a:lnTo>
                    <a:pt x="9692640" y="768096"/>
                  </a:lnTo>
                  <a:lnTo>
                    <a:pt x="0" y="768096"/>
                  </a:lnTo>
                  <a:close/>
                </a:path>
              </a:pathLst>
            </a:custGeom>
            <a:blipFill>
              <a:blip r:embed="rId3">
                <a:alphaModFix amt="0"/>
              </a:blip>
              <a:stretch>
                <a:fillRect l="0" t="-195710" r="0" b="-195712"/>
              </a:stretch>
            </a:blipFill>
          </p:spPr>
        </p:sp>
      </p:grpSp>
      <p:grpSp>
        <p:nvGrpSpPr>
          <p:cNvPr name="Group 62" id="62"/>
          <p:cNvGrpSpPr/>
          <p:nvPr/>
        </p:nvGrpSpPr>
        <p:grpSpPr>
          <a:xfrm rot="0">
            <a:off x="9806940" y="4772025"/>
            <a:ext cx="7269480" cy="604647"/>
            <a:chOff x="0" y="0"/>
            <a:chExt cx="9692640" cy="806196"/>
          </a:xfrm>
        </p:grpSpPr>
        <p:sp>
          <p:nvSpPr>
            <p:cNvPr name="Freeform 63" id="63"/>
            <p:cNvSpPr/>
            <p:nvPr/>
          </p:nvSpPr>
          <p:spPr>
            <a:xfrm flipH="false" flipV="false" rot="0">
              <a:off x="0" y="0"/>
              <a:ext cx="9692640" cy="806196"/>
            </a:xfrm>
            <a:custGeom>
              <a:avLst/>
              <a:gdLst/>
              <a:ahLst/>
              <a:cxnLst/>
              <a:rect r="r" b="b" t="t" l="l"/>
              <a:pathLst>
                <a:path h="806196" w="9692640">
                  <a:moveTo>
                    <a:pt x="0" y="0"/>
                  </a:moveTo>
                  <a:lnTo>
                    <a:pt x="9692640" y="0"/>
                  </a:lnTo>
                  <a:lnTo>
                    <a:pt x="9692640" y="806196"/>
                  </a:lnTo>
                  <a:lnTo>
                    <a:pt x="0" y="806196"/>
                  </a:lnTo>
                  <a:close/>
                </a:path>
              </a:pathLst>
            </a:custGeom>
            <a:blipFill>
              <a:blip r:embed="rId4">
                <a:alphaModFix amt="0"/>
              </a:blip>
              <a:stretch>
                <a:fillRect l="0" t="-184262" r="0" b="-184262"/>
              </a:stretch>
            </a:blipFill>
          </p:spPr>
        </p:sp>
        <p:sp>
          <p:nvSpPr>
            <p:cNvPr name="TextBox 64" id="64"/>
            <p:cNvSpPr txBox="true"/>
            <p:nvPr/>
          </p:nvSpPr>
          <p:spPr>
            <a:xfrm>
              <a:off x="0" y="-38100"/>
              <a:ext cx="969264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CADCFC"/>
                  </a:solidFill>
                  <a:latin typeface="Calibri (MS)"/>
                  <a:ea typeface="Calibri (MS)"/>
                  <a:cs typeface="Calibri (MS)"/>
                  <a:sym typeface="Calibri (MS)"/>
                </a:rPr>
                <a:t>Preprocess data: handle missing values &amp; encoding</a:t>
              </a:r>
            </a:p>
          </p:txBody>
        </p:sp>
      </p:grpSp>
      <p:grpSp>
        <p:nvGrpSpPr>
          <p:cNvPr name="Group 65" id="65"/>
          <p:cNvGrpSpPr/>
          <p:nvPr/>
        </p:nvGrpSpPr>
        <p:grpSpPr>
          <a:xfrm rot="0">
            <a:off x="9806940" y="5486400"/>
            <a:ext cx="7269480" cy="576072"/>
            <a:chOff x="0" y="0"/>
            <a:chExt cx="9692640" cy="768096"/>
          </a:xfrm>
        </p:grpSpPr>
        <p:sp>
          <p:nvSpPr>
            <p:cNvPr name="Freeform 66" id="66"/>
            <p:cNvSpPr/>
            <p:nvPr/>
          </p:nvSpPr>
          <p:spPr>
            <a:xfrm flipH="false" flipV="false" rot="0">
              <a:off x="0" y="0"/>
              <a:ext cx="9692640" cy="768096"/>
            </a:xfrm>
            <a:custGeom>
              <a:avLst/>
              <a:gdLst/>
              <a:ahLst/>
              <a:cxnLst/>
              <a:rect r="r" b="b" t="t" l="l"/>
              <a:pathLst>
                <a:path h="768096" w="9692640">
                  <a:moveTo>
                    <a:pt x="0" y="0"/>
                  </a:moveTo>
                  <a:lnTo>
                    <a:pt x="9692640" y="0"/>
                  </a:lnTo>
                  <a:lnTo>
                    <a:pt x="9692640" y="768096"/>
                  </a:lnTo>
                  <a:lnTo>
                    <a:pt x="0" y="768096"/>
                  </a:lnTo>
                  <a:close/>
                </a:path>
              </a:pathLst>
            </a:custGeom>
            <a:blipFill>
              <a:blip r:embed="rId3">
                <a:alphaModFix amt="0"/>
              </a:blip>
              <a:stretch>
                <a:fillRect l="0" t="-195710" r="0" b="-195712"/>
              </a:stretch>
            </a:blipFill>
          </p:spPr>
        </p:sp>
      </p:grpSp>
      <p:grpSp>
        <p:nvGrpSpPr>
          <p:cNvPr name="Group 67" id="67"/>
          <p:cNvGrpSpPr/>
          <p:nvPr/>
        </p:nvGrpSpPr>
        <p:grpSpPr>
          <a:xfrm rot="0">
            <a:off x="9806940" y="5457825"/>
            <a:ext cx="7269480" cy="604647"/>
            <a:chOff x="0" y="0"/>
            <a:chExt cx="9692640" cy="806196"/>
          </a:xfrm>
        </p:grpSpPr>
        <p:sp>
          <p:nvSpPr>
            <p:cNvPr name="Freeform 68" id="68"/>
            <p:cNvSpPr/>
            <p:nvPr/>
          </p:nvSpPr>
          <p:spPr>
            <a:xfrm flipH="false" flipV="false" rot="0">
              <a:off x="0" y="0"/>
              <a:ext cx="9692640" cy="806196"/>
            </a:xfrm>
            <a:custGeom>
              <a:avLst/>
              <a:gdLst/>
              <a:ahLst/>
              <a:cxnLst/>
              <a:rect r="r" b="b" t="t" l="l"/>
              <a:pathLst>
                <a:path h="806196" w="9692640">
                  <a:moveTo>
                    <a:pt x="0" y="0"/>
                  </a:moveTo>
                  <a:lnTo>
                    <a:pt x="9692640" y="0"/>
                  </a:lnTo>
                  <a:lnTo>
                    <a:pt x="9692640" y="806196"/>
                  </a:lnTo>
                  <a:lnTo>
                    <a:pt x="0" y="806196"/>
                  </a:lnTo>
                  <a:close/>
                </a:path>
              </a:pathLst>
            </a:custGeom>
            <a:blipFill>
              <a:blip r:embed="rId4">
                <a:alphaModFix amt="0"/>
              </a:blip>
              <a:stretch>
                <a:fillRect l="0" t="-184262" r="0" b="-184262"/>
              </a:stretch>
            </a:blipFill>
          </p:spPr>
        </p:sp>
        <p:sp>
          <p:nvSpPr>
            <p:cNvPr name="TextBox 69" id="69"/>
            <p:cNvSpPr txBox="true"/>
            <p:nvPr/>
          </p:nvSpPr>
          <p:spPr>
            <a:xfrm>
              <a:off x="0" y="-38100"/>
              <a:ext cx="969264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CADCFC"/>
                  </a:solidFill>
                  <a:latin typeface="Calibri (MS)"/>
                  <a:ea typeface="Calibri (MS)"/>
                  <a:cs typeface="Calibri (MS)"/>
                  <a:sym typeface="Calibri (MS)"/>
                </a:rPr>
                <a:t>Train &amp; compare 3 classification algorithms</a:t>
              </a:r>
            </a:p>
          </p:txBody>
        </p:sp>
      </p:grpSp>
      <p:grpSp>
        <p:nvGrpSpPr>
          <p:cNvPr name="Group 70" id="70"/>
          <p:cNvGrpSpPr/>
          <p:nvPr/>
        </p:nvGrpSpPr>
        <p:grpSpPr>
          <a:xfrm rot="0">
            <a:off x="9806940" y="6172200"/>
            <a:ext cx="7269480" cy="576072"/>
            <a:chOff x="0" y="0"/>
            <a:chExt cx="9692640" cy="768096"/>
          </a:xfrm>
        </p:grpSpPr>
        <p:sp>
          <p:nvSpPr>
            <p:cNvPr name="Freeform 71" id="71"/>
            <p:cNvSpPr/>
            <p:nvPr/>
          </p:nvSpPr>
          <p:spPr>
            <a:xfrm flipH="false" flipV="false" rot="0">
              <a:off x="0" y="0"/>
              <a:ext cx="9692640" cy="768096"/>
            </a:xfrm>
            <a:custGeom>
              <a:avLst/>
              <a:gdLst/>
              <a:ahLst/>
              <a:cxnLst/>
              <a:rect r="r" b="b" t="t" l="l"/>
              <a:pathLst>
                <a:path h="768096" w="9692640">
                  <a:moveTo>
                    <a:pt x="0" y="0"/>
                  </a:moveTo>
                  <a:lnTo>
                    <a:pt x="9692640" y="0"/>
                  </a:lnTo>
                  <a:lnTo>
                    <a:pt x="9692640" y="768096"/>
                  </a:lnTo>
                  <a:lnTo>
                    <a:pt x="0" y="768096"/>
                  </a:lnTo>
                  <a:close/>
                </a:path>
              </a:pathLst>
            </a:custGeom>
            <a:blipFill>
              <a:blip r:embed="rId3">
                <a:alphaModFix amt="0"/>
              </a:blip>
              <a:stretch>
                <a:fillRect l="0" t="-195710" r="0" b="-195712"/>
              </a:stretch>
            </a:blipFill>
          </p:spPr>
        </p:sp>
      </p:grpSp>
      <p:grpSp>
        <p:nvGrpSpPr>
          <p:cNvPr name="Group 72" id="72"/>
          <p:cNvGrpSpPr/>
          <p:nvPr/>
        </p:nvGrpSpPr>
        <p:grpSpPr>
          <a:xfrm rot="0">
            <a:off x="9806940" y="6143625"/>
            <a:ext cx="7269480" cy="604647"/>
            <a:chOff x="0" y="0"/>
            <a:chExt cx="9692640" cy="806196"/>
          </a:xfrm>
        </p:grpSpPr>
        <p:sp>
          <p:nvSpPr>
            <p:cNvPr name="Freeform 73" id="73"/>
            <p:cNvSpPr/>
            <p:nvPr/>
          </p:nvSpPr>
          <p:spPr>
            <a:xfrm flipH="false" flipV="false" rot="0">
              <a:off x="0" y="0"/>
              <a:ext cx="9692640" cy="806196"/>
            </a:xfrm>
            <a:custGeom>
              <a:avLst/>
              <a:gdLst/>
              <a:ahLst/>
              <a:cxnLst/>
              <a:rect r="r" b="b" t="t" l="l"/>
              <a:pathLst>
                <a:path h="806196" w="9692640">
                  <a:moveTo>
                    <a:pt x="0" y="0"/>
                  </a:moveTo>
                  <a:lnTo>
                    <a:pt x="9692640" y="0"/>
                  </a:lnTo>
                  <a:lnTo>
                    <a:pt x="9692640" y="806196"/>
                  </a:lnTo>
                  <a:lnTo>
                    <a:pt x="0" y="806196"/>
                  </a:lnTo>
                  <a:close/>
                </a:path>
              </a:pathLst>
            </a:custGeom>
            <a:blipFill>
              <a:blip r:embed="rId4">
                <a:alphaModFix amt="0"/>
              </a:blip>
              <a:stretch>
                <a:fillRect l="0" t="-184262" r="0" b="-184262"/>
              </a:stretch>
            </a:blipFill>
          </p:spPr>
        </p:sp>
        <p:sp>
          <p:nvSpPr>
            <p:cNvPr name="TextBox 74" id="74"/>
            <p:cNvSpPr txBox="true"/>
            <p:nvPr/>
          </p:nvSpPr>
          <p:spPr>
            <a:xfrm>
              <a:off x="0" y="-38100"/>
              <a:ext cx="969264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CADCFC"/>
                  </a:solidFill>
                  <a:latin typeface="Calibri (MS)"/>
                  <a:ea typeface="Calibri (MS)"/>
                  <a:cs typeface="Calibri (MS)"/>
                  <a:sym typeface="Calibri (MS)"/>
                </a:rPr>
                <a:t>Evaluate using accuracy, precision, recall, F1</a:t>
              </a:r>
            </a:p>
          </p:txBody>
        </p:sp>
      </p:grpSp>
      <p:grpSp>
        <p:nvGrpSpPr>
          <p:cNvPr name="Group 75" id="75"/>
          <p:cNvGrpSpPr/>
          <p:nvPr/>
        </p:nvGrpSpPr>
        <p:grpSpPr>
          <a:xfrm rot="0">
            <a:off x="9806940" y="6858000"/>
            <a:ext cx="7269480" cy="576072"/>
            <a:chOff x="0" y="0"/>
            <a:chExt cx="9692640" cy="768096"/>
          </a:xfrm>
        </p:grpSpPr>
        <p:sp>
          <p:nvSpPr>
            <p:cNvPr name="Freeform 76" id="76"/>
            <p:cNvSpPr/>
            <p:nvPr/>
          </p:nvSpPr>
          <p:spPr>
            <a:xfrm flipH="false" flipV="false" rot="0">
              <a:off x="0" y="0"/>
              <a:ext cx="9692640" cy="768096"/>
            </a:xfrm>
            <a:custGeom>
              <a:avLst/>
              <a:gdLst/>
              <a:ahLst/>
              <a:cxnLst/>
              <a:rect r="r" b="b" t="t" l="l"/>
              <a:pathLst>
                <a:path h="768096" w="9692640">
                  <a:moveTo>
                    <a:pt x="0" y="0"/>
                  </a:moveTo>
                  <a:lnTo>
                    <a:pt x="9692640" y="0"/>
                  </a:lnTo>
                  <a:lnTo>
                    <a:pt x="9692640" y="768096"/>
                  </a:lnTo>
                  <a:lnTo>
                    <a:pt x="0" y="768096"/>
                  </a:lnTo>
                  <a:close/>
                </a:path>
              </a:pathLst>
            </a:custGeom>
            <a:blipFill>
              <a:blip r:embed="rId3">
                <a:alphaModFix amt="0"/>
              </a:blip>
              <a:stretch>
                <a:fillRect l="0" t="-195710" r="0" b="-195712"/>
              </a:stretch>
            </a:blipFill>
          </p:spPr>
        </p:sp>
      </p:grpSp>
      <p:grpSp>
        <p:nvGrpSpPr>
          <p:cNvPr name="Group 77" id="77"/>
          <p:cNvGrpSpPr/>
          <p:nvPr/>
        </p:nvGrpSpPr>
        <p:grpSpPr>
          <a:xfrm rot="0">
            <a:off x="9806940" y="6829425"/>
            <a:ext cx="7269480" cy="604647"/>
            <a:chOff x="0" y="0"/>
            <a:chExt cx="9692640" cy="806196"/>
          </a:xfrm>
        </p:grpSpPr>
        <p:sp>
          <p:nvSpPr>
            <p:cNvPr name="Freeform 78" id="78"/>
            <p:cNvSpPr/>
            <p:nvPr/>
          </p:nvSpPr>
          <p:spPr>
            <a:xfrm flipH="false" flipV="false" rot="0">
              <a:off x="0" y="0"/>
              <a:ext cx="9692640" cy="806196"/>
            </a:xfrm>
            <a:custGeom>
              <a:avLst/>
              <a:gdLst/>
              <a:ahLst/>
              <a:cxnLst/>
              <a:rect r="r" b="b" t="t" l="l"/>
              <a:pathLst>
                <a:path h="806196" w="9692640">
                  <a:moveTo>
                    <a:pt x="0" y="0"/>
                  </a:moveTo>
                  <a:lnTo>
                    <a:pt x="9692640" y="0"/>
                  </a:lnTo>
                  <a:lnTo>
                    <a:pt x="9692640" y="806196"/>
                  </a:lnTo>
                  <a:lnTo>
                    <a:pt x="0" y="806196"/>
                  </a:lnTo>
                  <a:close/>
                </a:path>
              </a:pathLst>
            </a:custGeom>
            <a:blipFill>
              <a:blip r:embed="rId4">
                <a:alphaModFix amt="0"/>
              </a:blip>
              <a:stretch>
                <a:fillRect l="0" t="-184262" r="0" b="-184262"/>
              </a:stretch>
            </a:blipFill>
          </p:spPr>
        </p:sp>
        <p:sp>
          <p:nvSpPr>
            <p:cNvPr name="TextBox 79" id="79"/>
            <p:cNvSpPr txBox="true"/>
            <p:nvPr/>
          </p:nvSpPr>
          <p:spPr>
            <a:xfrm>
              <a:off x="0" y="-38100"/>
              <a:ext cx="9692640" cy="844296"/>
            </a:xfrm>
            <a:prstGeom prst="rect">
              <a:avLst/>
            </a:prstGeom>
          </p:spPr>
          <p:txBody>
            <a:bodyPr anchor="ctr" rtlCol="false" tIns="0" lIns="0" bIns="0" rIns="0"/>
            <a:lstStyle/>
            <a:p>
              <a:pPr algn="l" marL="427553" indent="-142518" lvl="2">
                <a:lnSpc>
                  <a:spcPts val="2430"/>
                </a:lnSpc>
                <a:buFont typeface="Arial"/>
                <a:buChar char="⚬"/>
              </a:pPr>
              <a:r>
                <a:rPr lang="en-US" sz="2025">
                  <a:solidFill>
                    <a:srgbClr val="CADCFC"/>
                  </a:solidFill>
                  <a:latin typeface="Calibri (MS)"/>
                  <a:ea typeface="Calibri (MS)"/>
                  <a:cs typeface="Calibri (MS)"/>
                  <a:sym typeface="Calibri (MS)"/>
                </a:rPr>
                <a:t>Deploy the best model as a Streamlit web app</a:t>
              </a:r>
            </a:p>
          </p:txBody>
        </p:sp>
      </p:grpSp>
      <p:grpSp>
        <p:nvGrpSpPr>
          <p:cNvPr name="Group 80" id="80"/>
          <p:cNvGrpSpPr/>
          <p:nvPr/>
        </p:nvGrpSpPr>
        <p:grpSpPr>
          <a:xfrm rot="0">
            <a:off x="685800" y="9738360"/>
            <a:ext cx="8229600" cy="411480"/>
            <a:chOff x="0" y="0"/>
            <a:chExt cx="10972800" cy="548640"/>
          </a:xfrm>
        </p:grpSpPr>
        <p:sp>
          <p:nvSpPr>
            <p:cNvPr name="Freeform 81" id="8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82" id="82"/>
          <p:cNvGrpSpPr/>
          <p:nvPr/>
        </p:nvGrpSpPr>
        <p:grpSpPr>
          <a:xfrm rot="0">
            <a:off x="685800" y="9716929"/>
            <a:ext cx="8229600" cy="432911"/>
            <a:chOff x="0" y="0"/>
            <a:chExt cx="10972800" cy="577215"/>
          </a:xfrm>
        </p:grpSpPr>
        <p:sp>
          <p:nvSpPr>
            <p:cNvPr name="Freeform 83" id="83"/>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84" id="84"/>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85" id="85"/>
          <p:cNvGrpSpPr/>
          <p:nvPr/>
        </p:nvGrpSpPr>
        <p:grpSpPr>
          <a:xfrm rot="0">
            <a:off x="16870680" y="9738360"/>
            <a:ext cx="685800" cy="411480"/>
            <a:chOff x="0" y="0"/>
            <a:chExt cx="914400" cy="548640"/>
          </a:xfrm>
        </p:grpSpPr>
        <p:sp>
          <p:nvSpPr>
            <p:cNvPr name="Freeform 86" id="8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87" id="87"/>
          <p:cNvGrpSpPr/>
          <p:nvPr/>
        </p:nvGrpSpPr>
        <p:grpSpPr>
          <a:xfrm rot="0">
            <a:off x="16870680" y="9716929"/>
            <a:ext cx="685800" cy="432911"/>
            <a:chOff x="0" y="0"/>
            <a:chExt cx="914400" cy="577215"/>
          </a:xfrm>
        </p:grpSpPr>
        <p:sp>
          <p:nvSpPr>
            <p:cNvPr name="Freeform 88" id="88"/>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89" id="89"/>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METHODOLOGY</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Dataset Overview</a:t>
              </a:r>
            </a:p>
          </p:txBody>
        </p:sp>
      </p:grpSp>
      <p:grpSp>
        <p:nvGrpSpPr>
          <p:cNvPr name="Group 12" id="12"/>
          <p:cNvGrpSpPr/>
          <p:nvPr/>
        </p:nvGrpSpPr>
        <p:grpSpPr>
          <a:xfrm rot="0">
            <a:off x="822960" y="2606040"/>
            <a:ext cx="3909060" cy="2125980"/>
            <a:chOff x="0" y="0"/>
            <a:chExt cx="5212080" cy="2834640"/>
          </a:xfrm>
        </p:grpSpPr>
        <p:sp>
          <p:nvSpPr>
            <p:cNvPr name="Freeform 13" id="13"/>
            <p:cNvSpPr/>
            <p:nvPr/>
          </p:nvSpPr>
          <p:spPr>
            <a:xfrm flipH="false" flipV="false" rot="0">
              <a:off x="0" y="0"/>
              <a:ext cx="5212080" cy="2834640"/>
            </a:xfrm>
            <a:custGeom>
              <a:avLst/>
              <a:gdLst/>
              <a:ahLst/>
              <a:cxnLst/>
              <a:rect r="r" b="b" t="t" l="l"/>
              <a:pathLst>
                <a:path h="2834640" w="5212080">
                  <a:moveTo>
                    <a:pt x="0" y="146304"/>
                  </a:moveTo>
                  <a:cubicBezTo>
                    <a:pt x="0" y="65532"/>
                    <a:pt x="65532" y="0"/>
                    <a:pt x="146304" y="0"/>
                  </a:cubicBezTo>
                  <a:lnTo>
                    <a:pt x="5065776" y="0"/>
                  </a:lnTo>
                  <a:cubicBezTo>
                    <a:pt x="5146548" y="0"/>
                    <a:pt x="5212080" y="65532"/>
                    <a:pt x="5212080" y="146304"/>
                  </a:cubicBezTo>
                  <a:lnTo>
                    <a:pt x="5212080" y="2688336"/>
                  </a:lnTo>
                  <a:cubicBezTo>
                    <a:pt x="5212080" y="2769108"/>
                    <a:pt x="5146548" y="2834640"/>
                    <a:pt x="5065776" y="2834640"/>
                  </a:cubicBezTo>
                  <a:lnTo>
                    <a:pt x="146304" y="2834640"/>
                  </a:lnTo>
                  <a:cubicBezTo>
                    <a:pt x="65532" y="2834640"/>
                    <a:pt x="0" y="2769108"/>
                    <a:pt x="0" y="2688336"/>
                  </a:cubicBezTo>
                  <a:close/>
                </a:path>
              </a:pathLst>
            </a:custGeom>
            <a:solidFill>
              <a:srgbClr val="F7F9FC"/>
            </a:solidFill>
          </p:spPr>
        </p:sp>
      </p:grpSp>
      <p:grpSp>
        <p:nvGrpSpPr>
          <p:cNvPr name="Group 14" id="14"/>
          <p:cNvGrpSpPr/>
          <p:nvPr/>
        </p:nvGrpSpPr>
        <p:grpSpPr>
          <a:xfrm rot="0">
            <a:off x="822960" y="2743200"/>
            <a:ext cx="3909060" cy="1028700"/>
            <a:chOff x="0" y="0"/>
            <a:chExt cx="5212080" cy="1371600"/>
          </a:xfrm>
        </p:grpSpPr>
        <p:sp>
          <p:nvSpPr>
            <p:cNvPr name="Freeform 15" id="15"/>
            <p:cNvSpPr/>
            <p:nvPr/>
          </p:nvSpPr>
          <p:spPr>
            <a:xfrm flipH="false" flipV="false" rot="0">
              <a:off x="0" y="0"/>
              <a:ext cx="5212080" cy="1371600"/>
            </a:xfrm>
            <a:custGeom>
              <a:avLst/>
              <a:gdLst/>
              <a:ahLst/>
              <a:cxnLst/>
              <a:rect r="r" b="b" t="t" l="l"/>
              <a:pathLst>
                <a:path h="1371600" w="5212080">
                  <a:moveTo>
                    <a:pt x="0" y="0"/>
                  </a:moveTo>
                  <a:lnTo>
                    <a:pt x="5212080" y="0"/>
                  </a:lnTo>
                  <a:lnTo>
                    <a:pt x="5212080" y="1371600"/>
                  </a:lnTo>
                  <a:lnTo>
                    <a:pt x="0" y="1371600"/>
                  </a:lnTo>
                  <a:close/>
                </a:path>
              </a:pathLst>
            </a:custGeom>
            <a:blipFill>
              <a:blip r:embed="rId3">
                <a:alphaModFix amt="0"/>
              </a:blip>
              <a:stretch>
                <a:fillRect l="0" t="-23991" r="0" b="-23991"/>
              </a:stretch>
            </a:blipFill>
          </p:spPr>
        </p:sp>
      </p:grpSp>
      <p:grpSp>
        <p:nvGrpSpPr>
          <p:cNvPr name="Group 16" id="16"/>
          <p:cNvGrpSpPr/>
          <p:nvPr/>
        </p:nvGrpSpPr>
        <p:grpSpPr>
          <a:xfrm rot="0">
            <a:off x="822960" y="2728912"/>
            <a:ext cx="3909060" cy="1042988"/>
            <a:chOff x="0" y="0"/>
            <a:chExt cx="5212080" cy="1390650"/>
          </a:xfrm>
        </p:grpSpPr>
        <p:sp>
          <p:nvSpPr>
            <p:cNvPr name="Freeform 17" id="17"/>
            <p:cNvSpPr/>
            <p:nvPr/>
          </p:nvSpPr>
          <p:spPr>
            <a:xfrm flipH="false" flipV="false" rot="0">
              <a:off x="0" y="0"/>
              <a:ext cx="5212080" cy="1390650"/>
            </a:xfrm>
            <a:custGeom>
              <a:avLst/>
              <a:gdLst/>
              <a:ahLst/>
              <a:cxnLst/>
              <a:rect r="r" b="b" t="t" l="l"/>
              <a:pathLst>
                <a:path h="1390650" w="5212080">
                  <a:moveTo>
                    <a:pt x="0" y="0"/>
                  </a:moveTo>
                  <a:lnTo>
                    <a:pt x="5212080" y="0"/>
                  </a:lnTo>
                  <a:lnTo>
                    <a:pt x="5212080" y="1390650"/>
                  </a:lnTo>
                  <a:lnTo>
                    <a:pt x="0" y="1390650"/>
                  </a:lnTo>
                  <a:close/>
                </a:path>
              </a:pathLst>
            </a:custGeom>
            <a:blipFill>
              <a:blip r:embed="rId4">
                <a:alphaModFix amt="0"/>
              </a:blip>
              <a:stretch>
                <a:fillRect l="0" t="-23028" r="0" b="-23028"/>
              </a:stretch>
            </a:blipFill>
          </p:spPr>
        </p:sp>
        <p:sp>
          <p:nvSpPr>
            <p:cNvPr name="TextBox 18" id="18"/>
            <p:cNvSpPr txBox="true"/>
            <p:nvPr/>
          </p:nvSpPr>
          <p:spPr>
            <a:xfrm>
              <a:off x="0" y="-19050"/>
              <a:ext cx="5212080" cy="1409700"/>
            </a:xfrm>
            <a:prstGeom prst="rect">
              <a:avLst/>
            </a:prstGeom>
          </p:spPr>
          <p:txBody>
            <a:bodyPr anchor="ctr" rtlCol="false" tIns="0" lIns="0" bIns="0" rIns="0"/>
            <a:lstStyle/>
            <a:p>
              <a:pPr algn="ctr">
                <a:lnSpc>
                  <a:spcPts val="5400"/>
                </a:lnSpc>
              </a:pPr>
              <a:r>
                <a:rPr lang="en-US" sz="4500" b="true">
                  <a:solidFill>
                    <a:srgbClr val="1E2761"/>
                  </a:solidFill>
                  <a:latin typeface="Cambria Bold"/>
                  <a:ea typeface="Cambria Bold"/>
                  <a:cs typeface="Cambria Bold"/>
                  <a:sym typeface="Cambria Bold"/>
                </a:rPr>
                <a:t>614</a:t>
              </a:r>
            </a:p>
          </p:txBody>
        </p:sp>
      </p:grpSp>
      <p:grpSp>
        <p:nvGrpSpPr>
          <p:cNvPr name="Group 19" id="19"/>
          <p:cNvGrpSpPr/>
          <p:nvPr/>
        </p:nvGrpSpPr>
        <p:grpSpPr>
          <a:xfrm rot="0">
            <a:off x="960120" y="3771900"/>
            <a:ext cx="3634740" cy="754380"/>
            <a:chOff x="0" y="0"/>
            <a:chExt cx="4846320" cy="1005840"/>
          </a:xfrm>
        </p:grpSpPr>
        <p:sp>
          <p:nvSpPr>
            <p:cNvPr name="Freeform 20" id="20"/>
            <p:cNvSpPr/>
            <p:nvPr/>
          </p:nvSpPr>
          <p:spPr>
            <a:xfrm flipH="false" flipV="false" rot="0">
              <a:off x="0" y="0"/>
              <a:ext cx="4846320" cy="1005840"/>
            </a:xfrm>
            <a:custGeom>
              <a:avLst/>
              <a:gdLst/>
              <a:ahLst/>
              <a:cxnLst/>
              <a:rect r="r" b="b" t="t" l="l"/>
              <a:pathLst>
                <a:path h="1005840" w="4846320">
                  <a:moveTo>
                    <a:pt x="0" y="0"/>
                  </a:moveTo>
                  <a:lnTo>
                    <a:pt x="4846320" y="0"/>
                  </a:lnTo>
                  <a:lnTo>
                    <a:pt x="4846320" y="1005840"/>
                  </a:lnTo>
                  <a:lnTo>
                    <a:pt x="0" y="1005840"/>
                  </a:lnTo>
                  <a:close/>
                </a:path>
              </a:pathLst>
            </a:custGeom>
            <a:blipFill>
              <a:blip r:embed="rId3">
                <a:alphaModFix amt="0"/>
              </a:blip>
              <a:stretch>
                <a:fillRect l="0" t="-43816" r="0" b="-43816"/>
              </a:stretch>
            </a:blipFill>
          </p:spPr>
        </p:sp>
      </p:grpSp>
      <p:grpSp>
        <p:nvGrpSpPr>
          <p:cNvPr name="Group 21" id="21"/>
          <p:cNvGrpSpPr/>
          <p:nvPr/>
        </p:nvGrpSpPr>
        <p:grpSpPr>
          <a:xfrm rot="0">
            <a:off x="960120" y="3743325"/>
            <a:ext cx="3634740" cy="782955"/>
            <a:chOff x="0" y="0"/>
            <a:chExt cx="4846320" cy="1043940"/>
          </a:xfrm>
        </p:grpSpPr>
        <p:sp>
          <p:nvSpPr>
            <p:cNvPr name="Freeform 22" id="22"/>
            <p:cNvSpPr/>
            <p:nvPr/>
          </p:nvSpPr>
          <p:spPr>
            <a:xfrm flipH="false" flipV="false" rot="0">
              <a:off x="0" y="0"/>
              <a:ext cx="4846320" cy="1043940"/>
            </a:xfrm>
            <a:custGeom>
              <a:avLst/>
              <a:gdLst/>
              <a:ahLst/>
              <a:cxnLst/>
              <a:rect r="r" b="b" t="t" l="l"/>
              <a:pathLst>
                <a:path h="1043940" w="4846320">
                  <a:moveTo>
                    <a:pt x="0" y="0"/>
                  </a:moveTo>
                  <a:lnTo>
                    <a:pt x="4846320" y="0"/>
                  </a:lnTo>
                  <a:lnTo>
                    <a:pt x="4846320" y="1043940"/>
                  </a:lnTo>
                  <a:lnTo>
                    <a:pt x="0" y="1043940"/>
                  </a:lnTo>
                  <a:close/>
                </a:path>
              </a:pathLst>
            </a:custGeom>
            <a:blipFill>
              <a:blip r:embed="rId4">
                <a:alphaModFix amt="0"/>
              </a:blip>
              <a:stretch>
                <a:fillRect l="0" t="-40456" r="0" b="-40456"/>
              </a:stretch>
            </a:blipFill>
          </p:spPr>
        </p:sp>
        <p:sp>
          <p:nvSpPr>
            <p:cNvPr name="TextBox 23" id="23"/>
            <p:cNvSpPr txBox="true"/>
            <p:nvPr/>
          </p:nvSpPr>
          <p:spPr>
            <a:xfrm>
              <a:off x="0" y="-38100"/>
              <a:ext cx="4846320" cy="1082040"/>
            </a:xfrm>
            <a:prstGeom prst="rect">
              <a:avLst/>
            </a:prstGeom>
          </p:spPr>
          <p:txBody>
            <a:bodyPr anchor="ctr" rtlCol="false" tIns="0" lIns="0" bIns="0" rIns="0"/>
            <a:lstStyle/>
            <a:p>
              <a:pPr algn="ctr">
                <a:lnSpc>
                  <a:spcPts val="2070"/>
                </a:lnSpc>
              </a:pPr>
              <a:r>
                <a:rPr lang="en-US" sz="1725">
                  <a:solidFill>
                    <a:srgbClr val="6E7B96"/>
                  </a:solidFill>
                  <a:latin typeface="Calibri (MS)"/>
                  <a:ea typeface="Calibri (MS)"/>
                  <a:cs typeface="Calibri (MS)"/>
                  <a:sym typeface="Calibri (MS)"/>
                </a:rPr>
                <a:t>Applicant Records</a:t>
              </a:r>
            </a:p>
          </p:txBody>
        </p:sp>
      </p:grpSp>
      <p:grpSp>
        <p:nvGrpSpPr>
          <p:cNvPr name="Group 24" id="24"/>
          <p:cNvGrpSpPr/>
          <p:nvPr/>
        </p:nvGrpSpPr>
        <p:grpSpPr>
          <a:xfrm rot="0">
            <a:off x="4965192" y="2606040"/>
            <a:ext cx="3909060" cy="2125980"/>
            <a:chOff x="0" y="0"/>
            <a:chExt cx="5212080" cy="2834640"/>
          </a:xfrm>
        </p:grpSpPr>
        <p:sp>
          <p:nvSpPr>
            <p:cNvPr name="Freeform 25" id="25"/>
            <p:cNvSpPr/>
            <p:nvPr/>
          </p:nvSpPr>
          <p:spPr>
            <a:xfrm flipH="false" flipV="false" rot="0">
              <a:off x="0" y="0"/>
              <a:ext cx="5212080" cy="2834640"/>
            </a:xfrm>
            <a:custGeom>
              <a:avLst/>
              <a:gdLst/>
              <a:ahLst/>
              <a:cxnLst/>
              <a:rect r="r" b="b" t="t" l="l"/>
              <a:pathLst>
                <a:path h="2834640" w="5212080">
                  <a:moveTo>
                    <a:pt x="0" y="146304"/>
                  </a:moveTo>
                  <a:cubicBezTo>
                    <a:pt x="0" y="65532"/>
                    <a:pt x="65532" y="0"/>
                    <a:pt x="146304" y="0"/>
                  </a:cubicBezTo>
                  <a:lnTo>
                    <a:pt x="5065776" y="0"/>
                  </a:lnTo>
                  <a:cubicBezTo>
                    <a:pt x="5146548" y="0"/>
                    <a:pt x="5212080" y="65532"/>
                    <a:pt x="5212080" y="146304"/>
                  </a:cubicBezTo>
                  <a:lnTo>
                    <a:pt x="5212080" y="2688336"/>
                  </a:lnTo>
                  <a:cubicBezTo>
                    <a:pt x="5212080" y="2769108"/>
                    <a:pt x="5146548" y="2834640"/>
                    <a:pt x="5065776" y="2834640"/>
                  </a:cubicBezTo>
                  <a:lnTo>
                    <a:pt x="146304" y="2834640"/>
                  </a:lnTo>
                  <a:cubicBezTo>
                    <a:pt x="65532" y="2834640"/>
                    <a:pt x="0" y="2769108"/>
                    <a:pt x="0" y="2688336"/>
                  </a:cubicBezTo>
                  <a:close/>
                </a:path>
              </a:pathLst>
            </a:custGeom>
            <a:solidFill>
              <a:srgbClr val="F7F9FC"/>
            </a:solidFill>
          </p:spPr>
        </p:sp>
      </p:grpSp>
      <p:grpSp>
        <p:nvGrpSpPr>
          <p:cNvPr name="Group 26" id="26"/>
          <p:cNvGrpSpPr/>
          <p:nvPr/>
        </p:nvGrpSpPr>
        <p:grpSpPr>
          <a:xfrm rot="0">
            <a:off x="4965192" y="2743200"/>
            <a:ext cx="3909060" cy="1028700"/>
            <a:chOff x="0" y="0"/>
            <a:chExt cx="5212080" cy="1371600"/>
          </a:xfrm>
        </p:grpSpPr>
        <p:sp>
          <p:nvSpPr>
            <p:cNvPr name="Freeform 27" id="27"/>
            <p:cNvSpPr/>
            <p:nvPr/>
          </p:nvSpPr>
          <p:spPr>
            <a:xfrm flipH="false" flipV="false" rot="0">
              <a:off x="0" y="0"/>
              <a:ext cx="5212080" cy="1371600"/>
            </a:xfrm>
            <a:custGeom>
              <a:avLst/>
              <a:gdLst/>
              <a:ahLst/>
              <a:cxnLst/>
              <a:rect r="r" b="b" t="t" l="l"/>
              <a:pathLst>
                <a:path h="1371600" w="5212080">
                  <a:moveTo>
                    <a:pt x="0" y="0"/>
                  </a:moveTo>
                  <a:lnTo>
                    <a:pt x="5212080" y="0"/>
                  </a:lnTo>
                  <a:lnTo>
                    <a:pt x="5212080" y="1371600"/>
                  </a:lnTo>
                  <a:lnTo>
                    <a:pt x="0" y="1371600"/>
                  </a:lnTo>
                  <a:close/>
                </a:path>
              </a:pathLst>
            </a:custGeom>
            <a:blipFill>
              <a:blip r:embed="rId3">
                <a:alphaModFix amt="0"/>
              </a:blip>
              <a:stretch>
                <a:fillRect l="0" t="-23991" r="0" b="-23991"/>
              </a:stretch>
            </a:blipFill>
          </p:spPr>
        </p:sp>
      </p:grpSp>
      <p:grpSp>
        <p:nvGrpSpPr>
          <p:cNvPr name="Group 28" id="28"/>
          <p:cNvGrpSpPr/>
          <p:nvPr/>
        </p:nvGrpSpPr>
        <p:grpSpPr>
          <a:xfrm rot="0">
            <a:off x="4965192" y="2728912"/>
            <a:ext cx="3909060" cy="1042988"/>
            <a:chOff x="0" y="0"/>
            <a:chExt cx="5212080" cy="1390650"/>
          </a:xfrm>
        </p:grpSpPr>
        <p:sp>
          <p:nvSpPr>
            <p:cNvPr name="Freeform 29" id="29"/>
            <p:cNvSpPr/>
            <p:nvPr/>
          </p:nvSpPr>
          <p:spPr>
            <a:xfrm flipH="false" flipV="false" rot="0">
              <a:off x="0" y="0"/>
              <a:ext cx="5212080" cy="1390650"/>
            </a:xfrm>
            <a:custGeom>
              <a:avLst/>
              <a:gdLst/>
              <a:ahLst/>
              <a:cxnLst/>
              <a:rect r="r" b="b" t="t" l="l"/>
              <a:pathLst>
                <a:path h="1390650" w="5212080">
                  <a:moveTo>
                    <a:pt x="0" y="0"/>
                  </a:moveTo>
                  <a:lnTo>
                    <a:pt x="5212080" y="0"/>
                  </a:lnTo>
                  <a:lnTo>
                    <a:pt x="5212080" y="1390650"/>
                  </a:lnTo>
                  <a:lnTo>
                    <a:pt x="0" y="1390650"/>
                  </a:lnTo>
                  <a:close/>
                </a:path>
              </a:pathLst>
            </a:custGeom>
            <a:blipFill>
              <a:blip r:embed="rId4">
                <a:alphaModFix amt="0"/>
              </a:blip>
              <a:stretch>
                <a:fillRect l="0" t="-23028" r="0" b="-23028"/>
              </a:stretch>
            </a:blipFill>
          </p:spPr>
        </p:sp>
        <p:sp>
          <p:nvSpPr>
            <p:cNvPr name="TextBox 30" id="30"/>
            <p:cNvSpPr txBox="true"/>
            <p:nvPr/>
          </p:nvSpPr>
          <p:spPr>
            <a:xfrm>
              <a:off x="0" y="-19050"/>
              <a:ext cx="5212080" cy="1409700"/>
            </a:xfrm>
            <a:prstGeom prst="rect">
              <a:avLst/>
            </a:prstGeom>
          </p:spPr>
          <p:txBody>
            <a:bodyPr anchor="ctr" rtlCol="false" tIns="0" lIns="0" bIns="0" rIns="0"/>
            <a:lstStyle/>
            <a:p>
              <a:pPr algn="ctr">
                <a:lnSpc>
                  <a:spcPts val="5400"/>
                </a:lnSpc>
              </a:pPr>
              <a:r>
                <a:rPr lang="en-US" sz="4500" b="true">
                  <a:solidFill>
                    <a:srgbClr val="1E2761"/>
                  </a:solidFill>
                  <a:latin typeface="Cambria Bold"/>
                  <a:ea typeface="Cambria Bold"/>
                  <a:cs typeface="Cambria Bold"/>
                  <a:sym typeface="Cambria Bold"/>
                </a:rPr>
                <a:t>13</a:t>
              </a:r>
            </a:p>
          </p:txBody>
        </p:sp>
      </p:grpSp>
      <p:grpSp>
        <p:nvGrpSpPr>
          <p:cNvPr name="Group 31" id="31"/>
          <p:cNvGrpSpPr/>
          <p:nvPr/>
        </p:nvGrpSpPr>
        <p:grpSpPr>
          <a:xfrm rot="0">
            <a:off x="5102352" y="3771900"/>
            <a:ext cx="3634740" cy="754380"/>
            <a:chOff x="0" y="0"/>
            <a:chExt cx="4846320" cy="1005840"/>
          </a:xfrm>
        </p:grpSpPr>
        <p:sp>
          <p:nvSpPr>
            <p:cNvPr name="Freeform 32" id="32"/>
            <p:cNvSpPr/>
            <p:nvPr/>
          </p:nvSpPr>
          <p:spPr>
            <a:xfrm flipH="false" flipV="false" rot="0">
              <a:off x="0" y="0"/>
              <a:ext cx="4846320" cy="1005840"/>
            </a:xfrm>
            <a:custGeom>
              <a:avLst/>
              <a:gdLst/>
              <a:ahLst/>
              <a:cxnLst/>
              <a:rect r="r" b="b" t="t" l="l"/>
              <a:pathLst>
                <a:path h="1005840" w="4846320">
                  <a:moveTo>
                    <a:pt x="0" y="0"/>
                  </a:moveTo>
                  <a:lnTo>
                    <a:pt x="4846320" y="0"/>
                  </a:lnTo>
                  <a:lnTo>
                    <a:pt x="4846320" y="1005840"/>
                  </a:lnTo>
                  <a:lnTo>
                    <a:pt x="0" y="1005840"/>
                  </a:lnTo>
                  <a:close/>
                </a:path>
              </a:pathLst>
            </a:custGeom>
            <a:blipFill>
              <a:blip r:embed="rId3">
                <a:alphaModFix amt="0"/>
              </a:blip>
              <a:stretch>
                <a:fillRect l="0" t="-43816" r="0" b="-43816"/>
              </a:stretch>
            </a:blipFill>
          </p:spPr>
        </p:sp>
      </p:grpSp>
      <p:grpSp>
        <p:nvGrpSpPr>
          <p:cNvPr name="Group 33" id="33"/>
          <p:cNvGrpSpPr/>
          <p:nvPr/>
        </p:nvGrpSpPr>
        <p:grpSpPr>
          <a:xfrm rot="0">
            <a:off x="5102352" y="3743325"/>
            <a:ext cx="3634740" cy="782955"/>
            <a:chOff x="0" y="0"/>
            <a:chExt cx="4846320" cy="1043940"/>
          </a:xfrm>
        </p:grpSpPr>
        <p:sp>
          <p:nvSpPr>
            <p:cNvPr name="Freeform 34" id="34"/>
            <p:cNvSpPr/>
            <p:nvPr/>
          </p:nvSpPr>
          <p:spPr>
            <a:xfrm flipH="false" flipV="false" rot="0">
              <a:off x="0" y="0"/>
              <a:ext cx="4846320" cy="1043940"/>
            </a:xfrm>
            <a:custGeom>
              <a:avLst/>
              <a:gdLst/>
              <a:ahLst/>
              <a:cxnLst/>
              <a:rect r="r" b="b" t="t" l="l"/>
              <a:pathLst>
                <a:path h="1043940" w="4846320">
                  <a:moveTo>
                    <a:pt x="0" y="0"/>
                  </a:moveTo>
                  <a:lnTo>
                    <a:pt x="4846320" y="0"/>
                  </a:lnTo>
                  <a:lnTo>
                    <a:pt x="4846320" y="1043940"/>
                  </a:lnTo>
                  <a:lnTo>
                    <a:pt x="0" y="1043940"/>
                  </a:lnTo>
                  <a:close/>
                </a:path>
              </a:pathLst>
            </a:custGeom>
            <a:blipFill>
              <a:blip r:embed="rId4">
                <a:alphaModFix amt="0"/>
              </a:blip>
              <a:stretch>
                <a:fillRect l="0" t="-40456" r="0" b="-40456"/>
              </a:stretch>
            </a:blipFill>
          </p:spPr>
        </p:sp>
        <p:sp>
          <p:nvSpPr>
            <p:cNvPr name="TextBox 35" id="35"/>
            <p:cNvSpPr txBox="true"/>
            <p:nvPr/>
          </p:nvSpPr>
          <p:spPr>
            <a:xfrm>
              <a:off x="0" y="-38100"/>
              <a:ext cx="4846320" cy="1082040"/>
            </a:xfrm>
            <a:prstGeom prst="rect">
              <a:avLst/>
            </a:prstGeom>
          </p:spPr>
          <p:txBody>
            <a:bodyPr anchor="ctr" rtlCol="false" tIns="0" lIns="0" bIns="0" rIns="0"/>
            <a:lstStyle/>
            <a:p>
              <a:pPr algn="ctr">
                <a:lnSpc>
                  <a:spcPts val="2070"/>
                </a:lnSpc>
              </a:pPr>
              <a:r>
                <a:rPr lang="en-US" sz="1725">
                  <a:solidFill>
                    <a:srgbClr val="6E7B96"/>
                  </a:solidFill>
                  <a:latin typeface="Calibri (MS)"/>
                  <a:ea typeface="Calibri (MS)"/>
                  <a:cs typeface="Calibri (MS)"/>
                  <a:sym typeface="Calibri (MS)"/>
                </a:rPr>
                <a:t>Total Features</a:t>
              </a:r>
            </a:p>
          </p:txBody>
        </p:sp>
      </p:grpSp>
      <p:grpSp>
        <p:nvGrpSpPr>
          <p:cNvPr name="Group 36" id="36"/>
          <p:cNvGrpSpPr/>
          <p:nvPr/>
        </p:nvGrpSpPr>
        <p:grpSpPr>
          <a:xfrm rot="0">
            <a:off x="9107424" y="2606040"/>
            <a:ext cx="3909060" cy="2125980"/>
            <a:chOff x="0" y="0"/>
            <a:chExt cx="5212080" cy="2834640"/>
          </a:xfrm>
        </p:grpSpPr>
        <p:sp>
          <p:nvSpPr>
            <p:cNvPr name="Freeform 37" id="37"/>
            <p:cNvSpPr/>
            <p:nvPr/>
          </p:nvSpPr>
          <p:spPr>
            <a:xfrm flipH="false" flipV="false" rot="0">
              <a:off x="0" y="0"/>
              <a:ext cx="5212080" cy="2834640"/>
            </a:xfrm>
            <a:custGeom>
              <a:avLst/>
              <a:gdLst/>
              <a:ahLst/>
              <a:cxnLst/>
              <a:rect r="r" b="b" t="t" l="l"/>
              <a:pathLst>
                <a:path h="2834640" w="5212080">
                  <a:moveTo>
                    <a:pt x="0" y="146304"/>
                  </a:moveTo>
                  <a:cubicBezTo>
                    <a:pt x="0" y="65532"/>
                    <a:pt x="65532" y="0"/>
                    <a:pt x="146304" y="0"/>
                  </a:cubicBezTo>
                  <a:lnTo>
                    <a:pt x="5065776" y="0"/>
                  </a:lnTo>
                  <a:cubicBezTo>
                    <a:pt x="5146548" y="0"/>
                    <a:pt x="5212080" y="65532"/>
                    <a:pt x="5212080" y="146304"/>
                  </a:cubicBezTo>
                  <a:lnTo>
                    <a:pt x="5212080" y="2688336"/>
                  </a:lnTo>
                  <a:cubicBezTo>
                    <a:pt x="5212080" y="2769108"/>
                    <a:pt x="5146548" y="2834640"/>
                    <a:pt x="5065776" y="2834640"/>
                  </a:cubicBezTo>
                  <a:lnTo>
                    <a:pt x="146304" y="2834640"/>
                  </a:lnTo>
                  <a:cubicBezTo>
                    <a:pt x="65532" y="2834640"/>
                    <a:pt x="0" y="2769108"/>
                    <a:pt x="0" y="2688336"/>
                  </a:cubicBezTo>
                  <a:close/>
                </a:path>
              </a:pathLst>
            </a:custGeom>
            <a:solidFill>
              <a:srgbClr val="F7F9FC"/>
            </a:solidFill>
          </p:spPr>
        </p:sp>
      </p:grpSp>
      <p:grpSp>
        <p:nvGrpSpPr>
          <p:cNvPr name="Group 38" id="38"/>
          <p:cNvGrpSpPr/>
          <p:nvPr/>
        </p:nvGrpSpPr>
        <p:grpSpPr>
          <a:xfrm rot="0">
            <a:off x="9107424" y="2743200"/>
            <a:ext cx="3909060" cy="1028700"/>
            <a:chOff x="0" y="0"/>
            <a:chExt cx="5212080" cy="1371600"/>
          </a:xfrm>
        </p:grpSpPr>
        <p:sp>
          <p:nvSpPr>
            <p:cNvPr name="Freeform 39" id="39"/>
            <p:cNvSpPr/>
            <p:nvPr/>
          </p:nvSpPr>
          <p:spPr>
            <a:xfrm flipH="false" flipV="false" rot="0">
              <a:off x="0" y="0"/>
              <a:ext cx="5212080" cy="1371600"/>
            </a:xfrm>
            <a:custGeom>
              <a:avLst/>
              <a:gdLst/>
              <a:ahLst/>
              <a:cxnLst/>
              <a:rect r="r" b="b" t="t" l="l"/>
              <a:pathLst>
                <a:path h="1371600" w="5212080">
                  <a:moveTo>
                    <a:pt x="0" y="0"/>
                  </a:moveTo>
                  <a:lnTo>
                    <a:pt x="5212080" y="0"/>
                  </a:lnTo>
                  <a:lnTo>
                    <a:pt x="5212080" y="1371600"/>
                  </a:lnTo>
                  <a:lnTo>
                    <a:pt x="0" y="1371600"/>
                  </a:lnTo>
                  <a:close/>
                </a:path>
              </a:pathLst>
            </a:custGeom>
            <a:blipFill>
              <a:blip r:embed="rId3">
                <a:alphaModFix amt="0"/>
              </a:blip>
              <a:stretch>
                <a:fillRect l="0" t="-23991" r="0" b="-23991"/>
              </a:stretch>
            </a:blipFill>
          </p:spPr>
        </p:sp>
      </p:grpSp>
      <p:grpSp>
        <p:nvGrpSpPr>
          <p:cNvPr name="Group 40" id="40"/>
          <p:cNvGrpSpPr/>
          <p:nvPr/>
        </p:nvGrpSpPr>
        <p:grpSpPr>
          <a:xfrm rot="0">
            <a:off x="9107424" y="2728912"/>
            <a:ext cx="3909060" cy="1042988"/>
            <a:chOff x="0" y="0"/>
            <a:chExt cx="5212080" cy="1390650"/>
          </a:xfrm>
        </p:grpSpPr>
        <p:sp>
          <p:nvSpPr>
            <p:cNvPr name="Freeform 41" id="41"/>
            <p:cNvSpPr/>
            <p:nvPr/>
          </p:nvSpPr>
          <p:spPr>
            <a:xfrm flipH="false" flipV="false" rot="0">
              <a:off x="0" y="0"/>
              <a:ext cx="5212080" cy="1390650"/>
            </a:xfrm>
            <a:custGeom>
              <a:avLst/>
              <a:gdLst/>
              <a:ahLst/>
              <a:cxnLst/>
              <a:rect r="r" b="b" t="t" l="l"/>
              <a:pathLst>
                <a:path h="1390650" w="5212080">
                  <a:moveTo>
                    <a:pt x="0" y="0"/>
                  </a:moveTo>
                  <a:lnTo>
                    <a:pt x="5212080" y="0"/>
                  </a:lnTo>
                  <a:lnTo>
                    <a:pt x="5212080" y="1390650"/>
                  </a:lnTo>
                  <a:lnTo>
                    <a:pt x="0" y="1390650"/>
                  </a:lnTo>
                  <a:close/>
                </a:path>
              </a:pathLst>
            </a:custGeom>
            <a:blipFill>
              <a:blip r:embed="rId4">
                <a:alphaModFix amt="0"/>
              </a:blip>
              <a:stretch>
                <a:fillRect l="0" t="-23028" r="0" b="-23028"/>
              </a:stretch>
            </a:blipFill>
          </p:spPr>
        </p:sp>
        <p:sp>
          <p:nvSpPr>
            <p:cNvPr name="TextBox 42" id="42"/>
            <p:cNvSpPr txBox="true"/>
            <p:nvPr/>
          </p:nvSpPr>
          <p:spPr>
            <a:xfrm>
              <a:off x="0" y="-19050"/>
              <a:ext cx="5212080" cy="1409700"/>
            </a:xfrm>
            <a:prstGeom prst="rect">
              <a:avLst/>
            </a:prstGeom>
          </p:spPr>
          <p:txBody>
            <a:bodyPr anchor="ctr" rtlCol="false" tIns="0" lIns="0" bIns="0" rIns="0"/>
            <a:lstStyle/>
            <a:p>
              <a:pPr algn="ctr">
                <a:lnSpc>
                  <a:spcPts val="5400"/>
                </a:lnSpc>
              </a:pPr>
              <a:r>
                <a:rPr lang="en-US" sz="4500" b="true">
                  <a:solidFill>
                    <a:srgbClr val="1E2761"/>
                  </a:solidFill>
                  <a:latin typeface="Cambria Bold"/>
                  <a:ea typeface="Cambria Bold"/>
                  <a:cs typeface="Cambria Bold"/>
                  <a:sym typeface="Cambria Bold"/>
                </a:rPr>
                <a:t>68.7%</a:t>
              </a:r>
            </a:p>
          </p:txBody>
        </p:sp>
      </p:grpSp>
      <p:grpSp>
        <p:nvGrpSpPr>
          <p:cNvPr name="Group 43" id="43"/>
          <p:cNvGrpSpPr/>
          <p:nvPr/>
        </p:nvGrpSpPr>
        <p:grpSpPr>
          <a:xfrm rot="0">
            <a:off x="9244584" y="3771900"/>
            <a:ext cx="3634740" cy="754380"/>
            <a:chOff x="0" y="0"/>
            <a:chExt cx="4846320" cy="1005840"/>
          </a:xfrm>
        </p:grpSpPr>
        <p:sp>
          <p:nvSpPr>
            <p:cNvPr name="Freeform 44" id="44"/>
            <p:cNvSpPr/>
            <p:nvPr/>
          </p:nvSpPr>
          <p:spPr>
            <a:xfrm flipH="false" flipV="false" rot="0">
              <a:off x="0" y="0"/>
              <a:ext cx="4846320" cy="1005840"/>
            </a:xfrm>
            <a:custGeom>
              <a:avLst/>
              <a:gdLst/>
              <a:ahLst/>
              <a:cxnLst/>
              <a:rect r="r" b="b" t="t" l="l"/>
              <a:pathLst>
                <a:path h="1005840" w="4846320">
                  <a:moveTo>
                    <a:pt x="0" y="0"/>
                  </a:moveTo>
                  <a:lnTo>
                    <a:pt x="4846320" y="0"/>
                  </a:lnTo>
                  <a:lnTo>
                    <a:pt x="4846320" y="1005840"/>
                  </a:lnTo>
                  <a:lnTo>
                    <a:pt x="0" y="1005840"/>
                  </a:lnTo>
                  <a:close/>
                </a:path>
              </a:pathLst>
            </a:custGeom>
            <a:blipFill>
              <a:blip r:embed="rId3">
                <a:alphaModFix amt="0"/>
              </a:blip>
              <a:stretch>
                <a:fillRect l="0" t="-43816" r="0" b="-43816"/>
              </a:stretch>
            </a:blipFill>
          </p:spPr>
        </p:sp>
      </p:grpSp>
      <p:grpSp>
        <p:nvGrpSpPr>
          <p:cNvPr name="Group 45" id="45"/>
          <p:cNvGrpSpPr/>
          <p:nvPr/>
        </p:nvGrpSpPr>
        <p:grpSpPr>
          <a:xfrm rot="0">
            <a:off x="9244584" y="3743325"/>
            <a:ext cx="3634740" cy="782955"/>
            <a:chOff x="0" y="0"/>
            <a:chExt cx="4846320" cy="1043940"/>
          </a:xfrm>
        </p:grpSpPr>
        <p:sp>
          <p:nvSpPr>
            <p:cNvPr name="Freeform 46" id="46"/>
            <p:cNvSpPr/>
            <p:nvPr/>
          </p:nvSpPr>
          <p:spPr>
            <a:xfrm flipH="false" flipV="false" rot="0">
              <a:off x="0" y="0"/>
              <a:ext cx="4846320" cy="1043940"/>
            </a:xfrm>
            <a:custGeom>
              <a:avLst/>
              <a:gdLst/>
              <a:ahLst/>
              <a:cxnLst/>
              <a:rect r="r" b="b" t="t" l="l"/>
              <a:pathLst>
                <a:path h="1043940" w="4846320">
                  <a:moveTo>
                    <a:pt x="0" y="0"/>
                  </a:moveTo>
                  <a:lnTo>
                    <a:pt x="4846320" y="0"/>
                  </a:lnTo>
                  <a:lnTo>
                    <a:pt x="4846320" y="1043940"/>
                  </a:lnTo>
                  <a:lnTo>
                    <a:pt x="0" y="1043940"/>
                  </a:lnTo>
                  <a:close/>
                </a:path>
              </a:pathLst>
            </a:custGeom>
            <a:blipFill>
              <a:blip r:embed="rId4">
                <a:alphaModFix amt="0"/>
              </a:blip>
              <a:stretch>
                <a:fillRect l="0" t="-40456" r="0" b="-40456"/>
              </a:stretch>
            </a:blipFill>
          </p:spPr>
        </p:sp>
        <p:sp>
          <p:nvSpPr>
            <p:cNvPr name="TextBox 47" id="47"/>
            <p:cNvSpPr txBox="true"/>
            <p:nvPr/>
          </p:nvSpPr>
          <p:spPr>
            <a:xfrm>
              <a:off x="0" y="-38100"/>
              <a:ext cx="4846320" cy="1082040"/>
            </a:xfrm>
            <a:prstGeom prst="rect">
              <a:avLst/>
            </a:prstGeom>
          </p:spPr>
          <p:txBody>
            <a:bodyPr anchor="ctr" rtlCol="false" tIns="0" lIns="0" bIns="0" rIns="0"/>
            <a:lstStyle/>
            <a:p>
              <a:pPr algn="ctr">
                <a:lnSpc>
                  <a:spcPts val="2070"/>
                </a:lnSpc>
              </a:pPr>
              <a:r>
                <a:rPr lang="en-US" sz="1725">
                  <a:solidFill>
                    <a:srgbClr val="6E7B96"/>
                  </a:solidFill>
                  <a:latin typeface="Calibri (MS)"/>
                  <a:ea typeface="Calibri (MS)"/>
                  <a:cs typeface="Calibri (MS)"/>
                  <a:sym typeface="Calibri (MS)"/>
                </a:rPr>
                <a:t>Approved (Y)</a:t>
              </a:r>
            </a:p>
          </p:txBody>
        </p:sp>
      </p:grpSp>
      <p:grpSp>
        <p:nvGrpSpPr>
          <p:cNvPr name="Group 48" id="48"/>
          <p:cNvGrpSpPr/>
          <p:nvPr/>
        </p:nvGrpSpPr>
        <p:grpSpPr>
          <a:xfrm rot="0">
            <a:off x="13249656" y="2606040"/>
            <a:ext cx="3909060" cy="2125980"/>
            <a:chOff x="0" y="0"/>
            <a:chExt cx="5212080" cy="2834640"/>
          </a:xfrm>
        </p:grpSpPr>
        <p:sp>
          <p:nvSpPr>
            <p:cNvPr name="Freeform 49" id="49"/>
            <p:cNvSpPr/>
            <p:nvPr/>
          </p:nvSpPr>
          <p:spPr>
            <a:xfrm flipH="false" flipV="false" rot="0">
              <a:off x="0" y="0"/>
              <a:ext cx="5212080" cy="2834640"/>
            </a:xfrm>
            <a:custGeom>
              <a:avLst/>
              <a:gdLst/>
              <a:ahLst/>
              <a:cxnLst/>
              <a:rect r="r" b="b" t="t" l="l"/>
              <a:pathLst>
                <a:path h="2834640" w="5212080">
                  <a:moveTo>
                    <a:pt x="0" y="146304"/>
                  </a:moveTo>
                  <a:cubicBezTo>
                    <a:pt x="0" y="65532"/>
                    <a:pt x="65532" y="0"/>
                    <a:pt x="146304" y="0"/>
                  </a:cubicBezTo>
                  <a:lnTo>
                    <a:pt x="5065776" y="0"/>
                  </a:lnTo>
                  <a:cubicBezTo>
                    <a:pt x="5146548" y="0"/>
                    <a:pt x="5212080" y="65532"/>
                    <a:pt x="5212080" y="146304"/>
                  </a:cubicBezTo>
                  <a:lnTo>
                    <a:pt x="5212080" y="2688336"/>
                  </a:lnTo>
                  <a:cubicBezTo>
                    <a:pt x="5212080" y="2769108"/>
                    <a:pt x="5146548" y="2834640"/>
                    <a:pt x="5065776" y="2834640"/>
                  </a:cubicBezTo>
                  <a:lnTo>
                    <a:pt x="146304" y="2834640"/>
                  </a:lnTo>
                  <a:cubicBezTo>
                    <a:pt x="65532" y="2834640"/>
                    <a:pt x="0" y="2769108"/>
                    <a:pt x="0" y="2688336"/>
                  </a:cubicBezTo>
                  <a:close/>
                </a:path>
              </a:pathLst>
            </a:custGeom>
            <a:solidFill>
              <a:srgbClr val="F7F9FC"/>
            </a:solidFill>
          </p:spPr>
        </p:sp>
      </p:grpSp>
      <p:grpSp>
        <p:nvGrpSpPr>
          <p:cNvPr name="Group 50" id="50"/>
          <p:cNvGrpSpPr/>
          <p:nvPr/>
        </p:nvGrpSpPr>
        <p:grpSpPr>
          <a:xfrm rot="0">
            <a:off x="13249656" y="2743200"/>
            <a:ext cx="3909060" cy="1028700"/>
            <a:chOff x="0" y="0"/>
            <a:chExt cx="5212080" cy="1371600"/>
          </a:xfrm>
        </p:grpSpPr>
        <p:sp>
          <p:nvSpPr>
            <p:cNvPr name="Freeform 51" id="51"/>
            <p:cNvSpPr/>
            <p:nvPr/>
          </p:nvSpPr>
          <p:spPr>
            <a:xfrm flipH="false" flipV="false" rot="0">
              <a:off x="0" y="0"/>
              <a:ext cx="5212080" cy="1371600"/>
            </a:xfrm>
            <a:custGeom>
              <a:avLst/>
              <a:gdLst/>
              <a:ahLst/>
              <a:cxnLst/>
              <a:rect r="r" b="b" t="t" l="l"/>
              <a:pathLst>
                <a:path h="1371600" w="5212080">
                  <a:moveTo>
                    <a:pt x="0" y="0"/>
                  </a:moveTo>
                  <a:lnTo>
                    <a:pt x="5212080" y="0"/>
                  </a:lnTo>
                  <a:lnTo>
                    <a:pt x="5212080" y="1371600"/>
                  </a:lnTo>
                  <a:lnTo>
                    <a:pt x="0" y="1371600"/>
                  </a:lnTo>
                  <a:close/>
                </a:path>
              </a:pathLst>
            </a:custGeom>
            <a:blipFill>
              <a:blip r:embed="rId3">
                <a:alphaModFix amt="0"/>
              </a:blip>
              <a:stretch>
                <a:fillRect l="0" t="-23991" r="0" b="-23991"/>
              </a:stretch>
            </a:blipFill>
          </p:spPr>
        </p:sp>
      </p:grpSp>
      <p:grpSp>
        <p:nvGrpSpPr>
          <p:cNvPr name="Group 52" id="52"/>
          <p:cNvGrpSpPr/>
          <p:nvPr/>
        </p:nvGrpSpPr>
        <p:grpSpPr>
          <a:xfrm rot="0">
            <a:off x="13249656" y="2728912"/>
            <a:ext cx="3909060" cy="1042988"/>
            <a:chOff x="0" y="0"/>
            <a:chExt cx="5212080" cy="1390650"/>
          </a:xfrm>
        </p:grpSpPr>
        <p:sp>
          <p:nvSpPr>
            <p:cNvPr name="Freeform 53" id="53"/>
            <p:cNvSpPr/>
            <p:nvPr/>
          </p:nvSpPr>
          <p:spPr>
            <a:xfrm flipH="false" flipV="false" rot="0">
              <a:off x="0" y="0"/>
              <a:ext cx="5212080" cy="1390650"/>
            </a:xfrm>
            <a:custGeom>
              <a:avLst/>
              <a:gdLst/>
              <a:ahLst/>
              <a:cxnLst/>
              <a:rect r="r" b="b" t="t" l="l"/>
              <a:pathLst>
                <a:path h="1390650" w="5212080">
                  <a:moveTo>
                    <a:pt x="0" y="0"/>
                  </a:moveTo>
                  <a:lnTo>
                    <a:pt x="5212080" y="0"/>
                  </a:lnTo>
                  <a:lnTo>
                    <a:pt x="5212080" y="1390650"/>
                  </a:lnTo>
                  <a:lnTo>
                    <a:pt x="0" y="1390650"/>
                  </a:lnTo>
                  <a:close/>
                </a:path>
              </a:pathLst>
            </a:custGeom>
            <a:blipFill>
              <a:blip r:embed="rId4">
                <a:alphaModFix amt="0"/>
              </a:blip>
              <a:stretch>
                <a:fillRect l="0" t="-23028" r="0" b="-23028"/>
              </a:stretch>
            </a:blipFill>
          </p:spPr>
        </p:sp>
        <p:sp>
          <p:nvSpPr>
            <p:cNvPr name="TextBox 54" id="54"/>
            <p:cNvSpPr txBox="true"/>
            <p:nvPr/>
          </p:nvSpPr>
          <p:spPr>
            <a:xfrm>
              <a:off x="0" y="-19050"/>
              <a:ext cx="5212080" cy="1409700"/>
            </a:xfrm>
            <a:prstGeom prst="rect">
              <a:avLst/>
            </a:prstGeom>
          </p:spPr>
          <p:txBody>
            <a:bodyPr anchor="ctr" rtlCol="false" tIns="0" lIns="0" bIns="0" rIns="0"/>
            <a:lstStyle/>
            <a:p>
              <a:pPr algn="ctr">
                <a:lnSpc>
                  <a:spcPts val="5400"/>
                </a:lnSpc>
              </a:pPr>
              <a:r>
                <a:rPr lang="en-US" sz="4500" b="true">
                  <a:solidFill>
                    <a:srgbClr val="1E2761"/>
                  </a:solidFill>
                  <a:latin typeface="Cambria Bold"/>
                  <a:ea typeface="Cambria Bold"/>
                  <a:cs typeface="Cambria Bold"/>
                  <a:sym typeface="Cambria Bold"/>
                </a:rPr>
                <a:t>7 of 13</a:t>
              </a:r>
            </a:p>
          </p:txBody>
        </p:sp>
      </p:grpSp>
      <p:grpSp>
        <p:nvGrpSpPr>
          <p:cNvPr name="Group 55" id="55"/>
          <p:cNvGrpSpPr/>
          <p:nvPr/>
        </p:nvGrpSpPr>
        <p:grpSpPr>
          <a:xfrm rot="0">
            <a:off x="13386816" y="3771900"/>
            <a:ext cx="3634740" cy="754380"/>
            <a:chOff x="0" y="0"/>
            <a:chExt cx="4846320" cy="1005840"/>
          </a:xfrm>
        </p:grpSpPr>
        <p:sp>
          <p:nvSpPr>
            <p:cNvPr name="Freeform 56" id="56"/>
            <p:cNvSpPr/>
            <p:nvPr/>
          </p:nvSpPr>
          <p:spPr>
            <a:xfrm flipH="false" flipV="false" rot="0">
              <a:off x="0" y="0"/>
              <a:ext cx="4846320" cy="1005840"/>
            </a:xfrm>
            <a:custGeom>
              <a:avLst/>
              <a:gdLst/>
              <a:ahLst/>
              <a:cxnLst/>
              <a:rect r="r" b="b" t="t" l="l"/>
              <a:pathLst>
                <a:path h="1005840" w="4846320">
                  <a:moveTo>
                    <a:pt x="0" y="0"/>
                  </a:moveTo>
                  <a:lnTo>
                    <a:pt x="4846320" y="0"/>
                  </a:lnTo>
                  <a:lnTo>
                    <a:pt x="4846320" y="1005840"/>
                  </a:lnTo>
                  <a:lnTo>
                    <a:pt x="0" y="1005840"/>
                  </a:lnTo>
                  <a:close/>
                </a:path>
              </a:pathLst>
            </a:custGeom>
            <a:blipFill>
              <a:blip r:embed="rId3">
                <a:alphaModFix amt="0"/>
              </a:blip>
              <a:stretch>
                <a:fillRect l="0" t="-43816" r="0" b="-43816"/>
              </a:stretch>
            </a:blipFill>
          </p:spPr>
        </p:sp>
      </p:grpSp>
      <p:grpSp>
        <p:nvGrpSpPr>
          <p:cNvPr name="Group 57" id="57"/>
          <p:cNvGrpSpPr/>
          <p:nvPr/>
        </p:nvGrpSpPr>
        <p:grpSpPr>
          <a:xfrm rot="0">
            <a:off x="13386816" y="3743325"/>
            <a:ext cx="3634740" cy="782955"/>
            <a:chOff x="0" y="0"/>
            <a:chExt cx="4846320" cy="1043940"/>
          </a:xfrm>
        </p:grpSpPr>
        <p:sp>
          <p:nvSpPr>
            <p:cNvPr name="Freeform 58" id="58"/>
            <p:cNvSpPr/>
            <p:nvPr/>
          </p:nvSpPr>
          <p:spPr>
            <a:xfrm flipH="false" flipV="false" rot="0">
              <a:off x="0" y="0"/>
              <a:ext cx="4846320" cy="1043940"/>
            </a:xfrm>
            <a:custGeom>
              <a:avLst/>
              <a:gdLst/>
              <a:ahLst/>
              <a:cxnLst/>
              <a:rect r="r" b="b" t="t" l="l"/>
              <a:pathLst>
                <a:path h="1043940" w="4846320">
                  <a:moveTo>
                    <a:pt x="0" y="0"/>
                  </a:moveTo>
                  <a:lnTo>
                    <a:pt x="4846320" y="0"/>
                  </a:lnTo>
                  <a:lnTo>
                    <a:pt x="4846320" y="1043940"/>
                  </a:lnTo>
                  <a:lnTo>
                    <a:pt x="0" y="1043940"/>
                  </a:lnTo>
                  <a:close/>
                </a:path>
              </a:pathLst>
            </a:custGeom>
            <a:blipFill>
              <a:blip r:embed="rId4">
                <a:alphaModFix amt="0"/>
              </a:blip>
              <a:stretch>
                <a:fillRect l="0" t="-40456" r="0" b="-40456"/>
              </a:stretch>
            </a:blipFill>
          </p:spPr>
        </p:sp>
        <p:sp>
          <p:nvSpPr>
            <p:cNvPr name="TextBox 59" id="59"/>
            <p:cNvSpPr txBox="true"/>
            <p:nvPr/>
          </p:nvSpPr>
          <p:spPr>
            <a:xfrm>
              <a:off x="0" y="-38100"/>
              <a:ext cx="4846320" cy="1082040"/>
            </a:xfrm>
            <a:prstGeom prst="rect">
              <a:avLst/>
            </a:prstGeom>
          </p:spPr>
          <p:txBody>
            <a:bodyPr anchor="ctr" rtlCol="false" tIns="0" lIns="0" bIns="0" rIns="0"/>
            <a:lstStyle/>
            <a:p>
              <a:pPr algn="ctr">
                <a:lnSpc>
                  <a:spcPts val="2070"/>
                </a:lnSpc>
              </a:pPr>
              <a:r>
                <a:rPr lang="en-US" sz="1725">
                  <a:solidFill>
                    <a:srgbClr val="6E7B96"/>
                  </a:solidFill>
                  <a:latin typeface="Calibri (MS)"/>
                  <a:ea typeface="Calibri (MS)"/>
                  <a:cs typeface="Calibri (MS)"/>
                  <a:sym typeface="Calibri (MS)"/>
                </a:rPr>
                <a:t>Columns with Missing Values</a:t>
              </a:r>
            </a:p>
          </p:txBody>
        </p:sp>
      </p:grpSp>
      <p:grpSp>
        <p:nvGrpSpPr>
          <p:cNvPr name="Group 60" id="60"/>
          <p:cNvGrpSpPr/>
          <p:nvPr/>
        </p:nvGrpSpPr>
        <p:grpSpPr>
          <a:xfrm rot="0">
            <a:off x="822960" y="5074920"/>
            <a:ext cx="10972800" cy="480060"/>
            <a:chOff x="0" y="0"/>
            <a:chExt cx="14630400" cy="640080"/>
          </a:xfrm>
        </p:grpSpPr>
        <p:sp>
          <p:nvSpPr>
            <p:cNvPr name="Freeform 61" id="61"/>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063" r="0" b="-395061"/>
              </a:stretch>
            </a:blipFill>
          </p:spPr>
        </p:sp>
      </p:grpSp>
      <p:grpSp>
        <p:nvGrpSpPr>
          <p:cNvPr name="Group 62" id="62"/>
          <p:cNvGrpSpPr/>
          <p:nvPr/>
        </p:nvGrpSpPr>
        <p:grpSpPr>
          <a:xfrm rot="0">
            <a:off x="822960" y="5046345"/>
            <a:ext cx="10972800" cy="508635"/>
            <a:chOff x="0" y="0"/>
            <a:chExt cx="14630400" cy="678180"/>
          </a:xfrm>
        </p:grpSpPr>
        <p:sp>
          <p:nvSpPr>
            <p:cNvPr name="Freeform 63" id="63"/>
            <p:cNvSpPr/>
            <p:nvPr/>
          </p:nvSpPr>
          <p:spPr>
            <a:xfrm flipH="false" flipV="false" rot="0">
              <a:off x="0" y="0"/>
              <a:ext cx="14630400" cy="678180"/>
            </a:xfrm>
            <a:custGeom>
              <a:avLst/>
              <a:gdLst/>
              <a:ahLst/>
              <a:cxnLst/>
              <a:rect r="r" b="b" t="t" l="l"/>
              <a:pathLst>
                <a:path h="678180" w="14630400">
                  <a:moveTo>
                    <a:pt x="0" y="0"/>
                  </a:moveTo>
                  <a:lnTo>
                    <a:pt x="14630400" y="0"/>
                  </a:lnTo>
                  <a:lnTo>
                    <a:pt x="14630400" y="678180"/>
                  </a:lnTo>
                  <a:lnTo>
                    <a:pt x="0" y="678180"/>
                  </a:lnTo>
                  <a:close/>
                </a:path>
              </a:pathLst>
            </a:custGeom>
            <a:blipFill>
              <a:blip r:embed="rId4">
                <a:alphaModFix amt="0"/>
              </a:blip>
              <a:stretch>
                <a:fillRect l="0" t="-370351" r="0" b="-370351"/>
              </a:stretch>
            </a:blipFill>
          </p:spPr>
        </p:sp>
        <p:sp>
          <p:nvSpPr>
            <p:cNvPr name="TextBox 64" id="64"/>
            <p:cNvSpPr txBox="true"/>
            <p:nvPr/>
          </p:nvSpPr>
          <p:spPr>
            <a:xfrm>
              <a:off x="0" y="-38100"/>
              <a:ext cx="14630400" cy="716280"/>
            </a:xfrm>
            <a:prstGeom prst="rect">
              <a:avLst/>
            </a:prstGeom>
          </p:spPr>
          <p:txBody>
            <a:bodyPr anchor="ctr" rtlCol="false" tIns="0" lIns="0" bIns="0" rIns="0"/>
            <a:lstStyle/>
            <a:p>
              <a:pPr algn="l">
                <a:lnSpc>
                  <a:spcPts val="2250"/>
                </a:lnSpc>
              </a:pPr>
              <a:r>
                <a:rPr lang="en-US" sz="1875" i="true">
                  <a:solidFill>
                    <a:srgbClr val="44506B"/>
                  </a:solidFill>
                  <a:latin typeface="Calibri (MS) Italics"/>
                  <a:ea typeface="Calibri (MS) Italics"/>
                  <a:cs typeface="Calibri (MS) Italics"/>
                  <a:sym typeface="Calibri (MS) Italics"/>
                </a:rPr>
                <a:t>Source: Kaggle Loan Prediction Dataset (by altruistdelhite04)</a:t>
              </a:r>
            </a:p>
          </p:txBody>
        </p:sp>
      </p:grpSp>
      <p:grpSp>
        <p:nvGrpSpPr>
          <p:cNvPr name="Group 65" id="65"/>
          <p:cNvGrpSpPr/>
          <p:nvPr/>
        </p:nvGrpSpPr>
        <p:grpSpPr>
          <a:xfrm rot="0">
            <a:off x="822960" y="5829300"/>
            <a:ext cx="2743200" cy="548640"/>
            <a:chOff x="0" y="0"/>
            <a:chExt cx="3657600" cy="731520"/>
          </a:xfrm>
        </p:grpSpPr>
        <p:sp>
          <p:nvSpPr>
            <p:cNvPr name="Freeform 66" id="6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3">
                <a:alphaModFix amt="0"/>
              </a:blip>
              <a:stretch>
                <a:fillRect l="0" t="-47357" r="0" b="-47357"/>
              </a:stretch>
            </a:blipFill>
          </p:spPr>
        </p:sp>
      </p:grpSp>
      <p:grpSp>
        <p:nvGrpSpPr>
          <p:cNvPr name="Group 67" id="67"/>
          <p:cNvGrpSpPr/>
          <p:nvPr/>
        </p:nvGrpSpPr>
        <p:grpSpPr>
          <a:xfrm rot="0">
            <a:off x="822960" y="5793581"/>
            <a:ext cx="2743200" cy="584359"/>
            <a:chOff x="0" y="0"/>
            <a:chExt cx="3657600" cy="779145"/>
          </a:xfrm>
        </p:grpSpPr>
        <p:sp>
          <p:nvSpPr>
            <p:cNvPr name="Freeform 68" id="68"/>
            <p:cNvSpPr/>
            <p:nvPr/>
          </p:nvSpPr>
          <p:spPr>
            <a:xfrm flipH="false" flipV="false" rot="0">
              <a:off x="0" y="0"/>
              <a:ext cx="3657600" cy="779145"/>
            </a:xfrm>
            <a:custGeom>
              <a:avLst/>
              <a:gdLst/>
              <a:ahLst/>
              <a:cxnLst/>
              <a:rect r="r" b="b" t="t" l="l"/>
              <a:pathLst>
                <a:path h="779145" w="3657600">
                  <a:moveTo>
                    <a:pt x="0" y="0"/>
                  </a:moveTo>
                  <a:lnTo>
                    <a:pt x="3657600" y="0"/>
                  </a:lnTo>
                  <a:lnTo>
                    <a:pt x="3657600" y="779145"/>
                  </a:lnTo>
                  <a:lnTo>
                    <a:pt x="0" y="779145"/>
                  </a:lnTo>
                  <a:close/>
                </a:path>
              </a:pathLst>
            </a:custGeom>
            <a:blipFill>
              <a:blip r:embed="rId4">
                <a:alphaModFix amt="0"/>
              </a:blip>
              <a:stretch>
                <a:fillRect l="0" t="-41470" r="0" b="-41470"/>
              </a:stretch>
            </a:blipFill>
          </p:spPr>
        </p:sp>
        <p:sp>
          <p:nvSpPr>
            <p:cNvPr name="TextBox 69" id="69"/>
            <p:cNvSpPr txBox="true"/>
            <p:nvPr/>
          </p:nvSpPr>
          <p:spPr>
            <a:xfrm>
              <a:off x="0" y="-47625"/>
              <a:ext cx="3657600" cy="826770"/>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Demographic:</a:t>
              </a:r>
            </a:p>
          </p:txBody>
        </p:sp>
      </p:grpSp>
      <p:grpSp>
        <p:nvGrpSpPr>
          <p:cNvPr name="Group 70" id="70"/>
          <p:cNvGrpSpPr/>
          <p:nvPr/>
        </p:nvGrpSpPr>
        <p:grpSpPr>
          <a:xfrm rot="0">
            <a:off x="3566160" y="5829300"/>
            <a:ext cx="13441680" cy="685800"/>
            <a:chOff x="0" y="0"/>
            <a:chExt cx="17922240" cy="914400"/>
          </a:xfrm>
        </p:grpSpPr>
        <p:sp>
          <p:nvSpPr>
            <p:cNvPr name="Freeform 71" id="71"/>
            <p:cNvSpPr/>
            <p:nvPr/>
          </p:nvSpPr>
          <p:spPr>
            <a:xfrm flipH="false" flipV="false" rot="0">
              <a:off x="0" y="0"/>
              <a:ext cx="17922239" cy="914400"/>
            </a:xfrm>
            <a:custGeom>
              <a:avLst/>
              <a:gdLst/>
              <a:ahLst/>
              <a:cxnLst/>
              <a:rect r="r" b="b" t="t" l="l"/>
              <a:pathLst>
                <a:path h="914400" w="17922239">
                  <a:moveTo>
                    <a:pt x="0" y="0"/>
                  </a:moveTo>
                  <a:lnTo>
                    <a:pt x="17922239" y="0"/>
                  </a:lnTo>
                  <a:lnTo>
                    <a:pt x="17922239" y="914400"/>
                  </a:lnTo>
                  <a:lnTo>
                    <a:pt x="0" y="914400"/>
                  </a:lnTo>
                  <a:close/>
                </a:path>
              </a:pathLst>
            </a:custGeom>
            <a:blipFill>
              <a:blip r:embed="rId3">
                <a:alphaModFix amt="0"/>
              </a:blip>
              <a:stretch>
                <a:fillRect l="0" t="-331641" r="0" b="-331640"/>
              </a:stretch>
            </a:blipFill>
          </p:spPr>
        </p:sp>
      </p:grpSp>
      <p:grpSp>
        <p:nvGrpSpPr>
          <p:cNvPr name="Group 72" id="72"/>
          <p:cNvGrpSpPr/>
          <p:nvPr/>
        </p:nvGrpSpPr>
        <p:grpSpPr>
          <a:xfrm rot="0">
            <a:off x="3566160" y="5793581"/>
            <a:ext cx="13441680" cy="721519"/>
            <a:chOff x="0" y="0"/>
            <a:chExt cx="17922240" cy="962025"/>
          </a:xfrm>
        </p:grpSpPr>
        <p:sp>
          <p:nvSpPr>
            <p:cNvPr name="Freeform 73" id="73"/>
            <p:cNvSpPr/>
            <p:nvPr/>
          </p:nvSpPr>
          <p:spPr>
            <a:xfrm flipH="false" flipV="false" rot="0">
              <a:off x="0" y="0"/>
              <a:ext cx="17922239" cy="962025"/>
            </a:xfrm>
            <a:custGeom>
              <a:avLst/>
              <a:gdLst/>
              <a:ahLst/>
              <a:cxnLst/>
              <a:rect r="r" b="b" t="t" l="l"/>
              <a:pathLst>
                <a:path h="962025" w="17922239">
                  <a:moveTo>
                    <a:pt x="0" y="0"/>
                  </a:moveTo>
                  <a:lnTo>
                    <a:pt x="17922239" y="0"/>
                  </a:lnTo>
                  <a:lnTo>
                    <a:pt x="17922239" y="962025"/>
                  </a:lnTo>
                  <a:lnTo>
                    <a:pt x="0" y="962025"/>
                  </a:lnTo>
                  <a:close/>
                </a:path>
              </a:pathLst>
            </a:custGeom>
            <a:blipFill>
              <a:blip r:embed="rId4">
                <a:alphaModFix amt="0"/>
              </a:blip>
              <a:stretch>
                <a:fillRect l="0" t="-313000" r="0" b="-313000"/>
              </a:stretch>
            </a:blipFill>
          </p:spPr>
        </p:sp>
        <p:sp>
          <p:nvSpPr>
            <p:cNvPr name="TextBox 74" id="74"/>
            <p:cNvSpPr txBox="true"/>
            <p:nvPr/>
          </p:nvSpPr>
          <p:spPr>
            <a:xfrm>
              <a:off x="0" y="-47625"/>
              <a:ext cx="17922240" cy="1009650"/>
            </a:xfrm>
            <a:prstGeom prst="rect">
              <a:avLst/>
            </a:prstGeom>
          </p:spPr>
          <p:txBody>
            <a:bodyPr anchor="ctr" rtlCol="false" tIns="0" lIns="0" bIns="0" rIns="0"/>
            <a:lstStyle/>
            <a:p>
              <a:pPr algn="l">
                <a:lnSpc>
                  <a:spcPts val="2340"/>
                </a:lnSpc>
              </a:pPr>
              <a:r>
                <a:rPr lang="en-US" sz="1950">
                  <a:solidFill>
                    <a:srgbClr val="44506B"/>
                  </a:solidFill>
                  <a:latin typeface="Calibri (MS)"/>
                  <a:ea typeface="Calibri (MS)"/>
                  <a:cs typeface="Calibri (MS)"/>
                  <a:sym typeface="Calibri (MS)"/>
                </a:rPr>
                <a:t>Gender, Married, Dependents, Education, Self-Employed</a:t>
              </a:r>
            </a:p>
          </p:txBody>
        </p:sp>
      </p:grpSp>
      <p:grpSp>
        <p:nvGrpSpPr>
          <p:cNvPr name="Group 75" id="75"/>
          <p:cNvGrpSpPr/>
          <p:nvPr/>
        </p:nvGrpSpPr>
        <p:grpSpPr>
          <a:xfrm rot="0">
            <a:off x="822960" y="6583680"/>
            <a:ext cx="2743200" cy="548640"/>
            <a:chOff x="0" y="0"/>
            <a:chExt cx="3657600" cy="731520"/>
          </a:xfrm>
        </p:grpSpPr>
        <p:sp>
          <p:nvSpPr>
            <p:cNvPr name="Freeform 76" id="7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3">
                <a:alphaModFix amt="0"/>
              </a:blip>
              <a:stretch>
                <a:fillRect l="0" t="-47357" r="0" b="-47357"/>
              </a:stretch>
            </a:blipFill>
          </p:spPr>
        </p:sp>
      </p:grpSp>
      <p:grpSp>
        <p:nvGrpSpPr>
          <p:cNvPr name="Group 77" id="77"/>
          <p:cNvGrpSpPr/>
          <p:nvPr/>
        </p:nvGrpSpPr>
        <p:grpSpPr>
          <a:xfrm rot="0">
            <a:off x="822960" y="6547961"/>
            <a:ext cx="2743200" cy="584359"/>
            <a:chOff x="0" y="0"/>
            <a:chExt cx="3657600" cy="779145"/>
          </a:xfrm>
        </p:grpSpPr>
        <p:sp>
          <p:nvSpPr>
            <p:cNvPr name="Freeform 78" id="78"/>
            <p:cNvSpPr/>
            <p:nvPr/>
          </p:nvSpPr>
          <p:spPr>
            <a:xfrm flipH="false" flipV="false" rot="0">
              <a:off x="0" y="0"/>
              <a:ext cx="3657600" cy="779145"/>
            </a:xfrm>
            <a:custGeom>
              <a:avLst/>
              <a:gdLst/>
              <a:ahLst/>
              <a:cxnLst/>
              <a:rect r="r" b="b" t="t" l="l"/>
              <a:pathLst>
                <a:path h="779145" w="3657600">
                  <a:moveTo>
                    <a:pt x="0" y="0"/>
                  </a:moveTo>
                  <a:lnTo>
                    <a:pt x="3657600" y="0"/>
                  </a:lnTo>
                  <a:lnTo>
                    <a:pt x="3657600" y="779145"/>
                  </a:lnTo>
                  <a:lnTo>
                    <a:pt x="0" y="779145"/>
                  </a:lnTo>
                  <a:close/>
                </a:path>
              </a:pathLst>
            </a:custGeom>
            <a:blipFill>
              <a:blip r:embed="rId4">
                <a:alphaModFix amt="0"/>
              </a:blip>
              <a:stretch>
                <a:fillRect l="0" t="-41470" r="0" b="-41470"/>
              </a:stretch>
            </a:blipFill>
          </p:spPr>
        </p:sp>
        <p:sp>
          <p:nvSpPr>
            <p:cNvPr name="TextBox 79" id="79"/>
            <p:cNvSpPr txBox="true"/>
            <p:nvPr/>
          </p:nvSpPr>
          <p:spPr>
            <a:xfrm>
              <a:off x="0" y="-47625"/>
              <a:ext cx="3657600" cy="826770"/>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Financial:</a:t>
              </a:r>
            </a:p>
          </p:txBody>
        </p:sp>
      </p:grpSp>
      <p:grpSp>
        <p:nvGrpSpPr>
          <p:cNvPr name="Group 80" id="80"/>
          <p:cNvGrpSpPr/>
          <p:nvPr/>
        </p:nvGrpSpPr>
        <p:grpSpPr>
          <a:xfrm rot="0">
            <a:off x="3566160" y="6583680"/>
            <a:ext cx="13441680" cy="685800"/>
            <a:chOff x="0" y="0"/>
            <a:chExt cx="17922240" cy="914400"/>
          </a:xfrm>
        </p:grpSpPr>
        <p:sp>
          <p:nvSpPr>
            <p:cNvPr name="Freeform 81" id="81"/>
            <p:cNvSpPr/>
            <p:nvPr/>
          </p:nvSpPr>
          <p:spPr>
            <a:xfrm flipH="false" flipV="false" rot="0">
              <a:off x="0" y="0"/>
              <a:ext cx="17922239" cy="914400"/>
            </a:xfrm>
            <a:custGeom>
              <a:avLst/>
              <a:gdLst/>
              <a:ahLst/>
              <a:cxnLst/>
              <a:rect r="r" b="b" t="t" l="l"/>
              <a:pathLst>
                <a:path h="914400" w="17922239">
                  <a:moveTo>
                    <a:pt x="0" y="0"/>
                  </a:moveTo>
                  <a:lnTo>
                    <a:pt x="17922239" y="0"/>
                  </a:lnTo>
                  <a:lnTo>
                    <a:pt x="17922239" y="914400"/>
                  </a:lnTo>
                  <a:lnTo>
                    <a:pt x="0" y="914400"/>
                  </a:lnTo>
                  <a:close/>
                </a:path>
              </a:pathLst>
            </a:custGeom>
            <a:blipFill>
              <a:blip r:embed="rId3">
                <a:alphaModFix amt="0"/>
              </a:blip>
              <a:stretch>
                <a:fillRect l="0" t="-331641" r="0" b="-331640"/>
              </a:stretch>
            </a:blipFill>
          </p:spPr>
        </p:sp>
      </p:grpSp>
      <p:grpSp>
        <p:nvGrpSpPr>
          <p:cNvPr name="Group 82" id="82"/>
          <p:cNvGrpSpPr/>
          <p:nvPr/>
        </p:nvGrpSpPr>
        <p:grpSpPr>
          <a:xfrm rot="0">
            <a:off x="3566160" y="6547961"/>
            <a:ext cx="13441680" cy="721519"/>
            <a:chOff x="0" y="0"/>
            <a:chExt cx="17922240" cy="962025"/>
          </a:xfrm>
        </p:grpSpPr>
        <p:sp>
          <p:nvSpPr>
            <p:cNvPr name="Freeform 83" id="83"/>
            <p:cNvSpPr/>
            <p:nvPr/>
          </p:nvSpPr>
          <p:spPr>
            <a:xfrm flipH="false" flipV="false" rot="0">
              <a:off x="0" y="0"/>
              <a:ext cx="17922239" cy="962025"/>
            </a:xfrm>
            <a:custGeom>
              <a:avLst/>
              <a:gdLst/>
              <a:ahLst/>
              <a:cxnLst/>
              <a:rect r="r" b="b" t="t" l="l"/>
              <a:pathLst>
                <a:path h="962025" w="17922239">
                  <a:moveTo>
                    <a:pt x="0" y="0"/>
                  </a:moveTo>
                  <a:lnTo>
                    <a:pt x="17922239" y="0"/>
                  </a:lnTo>
                  <a:lnTo>
                    <a:pt x="17922239" y="962025"/>
                  </a:lnTo>
                  <a:lnTo>
                    <a:pt x="0" y="962025"/>
                  </a:lnTo>
                  <a:close/>
                </a:path>
              </a:pathLst>
            </a:custGeom>
            <a:blipFill>
              <a:blip r:embed="rId4">
                <a:alphaModFix amt="0"/>
              </a:blip>
              <a:stretch>
                <a:fillRect l="0" t="-313000" r="0" b="-313000"/>
              </a:stretch>
            </a:blipFill>
          </p:spPr>
        </p:sp>
        <p:sp>
          <p:nvSpPr>
            <p:cNvPr name="TextBox 84" id="84"/>
            <p:cNvSpPr txBox="true"/>
            <p:nvPr/>
          </p:nvSpPr>
          <p:spPr>
            <a:xfrm>
              <a:off x="0" y="-47625"/>
              <a:ext cx="17922240" cy="1009650"/>
            </a:xfrm>
            <a:prstGeom prst="rect">
              <a:avLst/>
            </a:prstGeom>
          </p:spPr>
          <p:txBody>
            <a:bodyPr anchor="ctr" rtlCol="false" tIns="0" lIns="0" bIns="0" rIns="0"/>
            <a:lstStyle/>
            <a:p>
              <a:pPr algn="l">
                <a:lnSpc>
                  <a:spcPts val="2340"/>
                </a:lnSpc>
              </a:pPr>
              <a:r>
                <a:rPr lang="en-US" sz="1950">
                  <a:solidFill>
                    <a:srgbClr val="44506B"/>
                  </a:solidFill>
                  <a:latin typeface="Calibri (MS)"/>
                  <a:ea typeface="Calibri (MS)"/>
                  <a:cs typeface="Calibri (MS)"/>
                  <a:sym typeface="Calibri (MS)"/>
                </a:rPr>
                <a:t>Applicant Income, Co-applicant Income, Loan Amount, Loan Term, Credit History</a:t>
              </a:r>
            </a:p>
          </p:txBody>
        </p:sp>
      </p:grpSp>
      <p:grpSp>
        <p:nvGrpSpPr>
          <p:cNvPr name="Group 85" id="85"/>
          <p:cNvGrpSpPr/>
          <p:nvPr/>
        </p:nvGrpSpPr>
        <p:grpSpPr>
          <a:xfrm rot="0">
            <a:off x="822960" y="7338060"/>
            <a:ext cx="2743200" cy="548640"/>
            <a:chOff x="0" y="0"/>
            <a:chExt cx="3657600" cy="731520"/>
          </a:xfrm>
        </p:grpSpPr>
        <p:sp>
          <p:nvSpPr>
            <p:cNvPr name="Freeform 86" id="8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3">
                <a:alphaModFix amt="0"/>
              </a:blip>
              <a:stretch>
                <a:fillRect l="0" t="-47357" r="0" b="-47357"/>
              </a:stretch>
            </a:blipFill>
          </p:spPr>
        </p:sp>
      </p:grpSp>
      <p:grpSp>
        <p:nvGrpSpPr>
          <p:cNvPr name="Group 87" id="87"/>
          <p:cNvGrpSpPr/>
          <p:nvPr/>
        </p:nvGrpSpPr>
        <p:grpSpPr>
          <a:xfrm rot="0">
            <a:off x="822960" y="7302341"/>
            <a:ext cx="2743200" cy="584359"/>
            <a:chOff x="0" y="0"/>
            <a:chExt cx="3657600" cy="779145"/>
          </a:xfrm>
        </p:grpSpPr>
        <p:sp>
          <p:nvSpPr>
            <p:cNvPr name="Freeform 88" id="88"/>
            <p:cNvSpPr/>
            <p:nvPr/>
          </p:nvSpPr>
          <p:spPr>
            <a:xfrm flipH="false" flipV="false" rot="0">
              <a:off x="0" y="0"/>
              <a:ext cx="3657600" cy="779145"/>
            </a:xfrm>
            <a:custGeom>
              <a:avLst/>
              <a:gdLst/>
              <a:ahLst/>
              <a:cxnLst/>
              <a:rect r="r" b="b" t="t" l="l"/>
              <a:pathLst>
                <a:path h="779145" w="3657600">
                  <a:moveTo>
                    <a:pt x="0" y="0"/>
                  </a:moveTo>
                  <a:lnTo>
                    <a:pt x="3657600" y="0"/>
                  </a:lnTo>
                  <a:lnTo>
                    <a:pt x="3657600" y="779145"/>
                  </a:lnTo>
                  <a:lnTo>
                    <a:pt x="0" y="779145"/>
                  </a:lnTo>
                  <a:close/>
                </a:path>
              </a:pathLst>
            </a:custGeom>
            <a:blipFill>
              <a:blip r:embed="rId4">
                <a:alphaModFix amt="0"/>
              </a:blip>
              <a:stretch>
                <a:fillRect l="0" t="-41470" r="0" b="-41470"/>
              </a:stretch>
            </a:blipFill>
          </p:spPr>
        </p:sp>
        <p:sp>
          <p:nvSpPr>
            <p:cNvPr name="TextBox 89" id="89"/>
            <p:cNvSpPr txBox="true"/>
            <p:nvPr/>
          </p:nvSpPr>
          <p:spPr>
            <a:xfrm>
              <a:off x="0" y="-47625"/>
              <a:ext cx="3657600" cy="826770"/>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Property:</a:t>
              </a:r>
            </a:p>
          </p:txBody>
        </p:sp>
      </p:grpSp>
      <p:grpSp>
        <p:nvGrpSpPr>
          <p:cNvPr name="Group 90" id="90"/>
          <p:cNvGrpSpPr/>
          <p:nvPr/>
        </p:nvGrpSpPr>
        <p:grpSpPr>
          <a:xfrm rot="0">
            <a:off x="3566160" y="7338060"/>
            <a:ext cx="13441680" cy="685800"/>
            <a:chOff x="0" y="0"/>
            <a:chExt cx="17922240" cy="914400"/>
          </a:xfrm>
        </p:grpSpPr>
        <p:sp>
          <p:nvSpPr>
            <p:cNvPr name="Freeform 91" id="91"/>
            <p:cNvSpPr/>
            <p:nvPr/>
          </p:nvSpPr>
          <p:spPr>
            <a:xfrm flipH="false" flipV="false" rot="0">
              <a:off x="0" y="0"/>
              <a:ext cx="17922239" cy="914400"/>
            </a:xfrm>
            <a:custGeom>
              <a:avLst/>
              <a:gdLst/>
              <a:ahLst/>
              <a:cxnLst/>
              <a:rect r="r" b="b" t="t" l="l"/>
              <a:pathLst>
                <a:path h="914400" w="17922239">
                  <a:moveTo>
                    <a:pt x="0" y="0"/>
                  </a:moveTo>
                  <a:lnTo>
                    <a:pt x="17922239" y="0"/>
                  </a:lnTo>
                  <a:lnTo>
                    <a:pt x="17922239" y="914400"/>
                  </a:lnTo>
                  <a:lnTo>
                    <a:pt x="0" y="914400"/>
                  </a:lnTo>
                  <a:close/>
                </a:path>
              </a:pathLst>
            </a:custGeom>
            <a:blipFill>
              <a:blip r:embed="rId3">
                <a:alphaModFix amt="0"/>
              </a:blip>
              <a:stretch>
                <a:fillRect l="0" t="-331641" r="0" b="-331640"/>
              </a:stretch>
            </a:blipFill>
          </p:spPr>
        </p:sp>
      </p:grpSp>
      <p:grpSp>
        <p:nvGrpSpPr>
          <p:cNvPr name="Group 92" id="92"/>
          <p:cNvGrpSpPr/>
          <p:nvPr/>
        </p:nvGrpSpPr>
        <p:grpSpPr>
          <a:xfrm rot="0">
            <a:off x="3566160" y="7302341"/>
            <a:ext cx="13441680" cy="721519"/>
            <a:chOff x="0" y="0"/>
            <a:chExt cx="17922240" cy="962025"/>
          </a:xfrm>
        </p:grpSpPr>
        <p:sp>
          <p:nvSpPr>
            <p:cNvPr name="Freeform 93" id="93"/>
            <p:cNvSpPr/>
            <p:nvPr/>
          </p:nvSpPr>
          <p:spPr>
            <a:xfrm flipH="false" flipV="false" rot="0">
              <a:off x="0" y="0"/>
              <a:ext cx="17922239" cy="962025"/>
            </a:xfrm>
            <a:custGeom>
              <a:avLst/>
              <a:gdLst/>
              <a:ahLst/>
              <a:cxnLst/>
              <a:rect r="r" b="b" t="t" l="l"/>
              <a:pathLst>
                <a:path h="962025" w="17922239">
                  <a:moveTo>
                    <a:pt x="0" y="0"/>
                  </a:moveTo>
                  <a:lnTo>
                    <a:pt x="17922239" y="0"/>
                  </a:lnTo>
                  <a:lnTo>
                    <a:pt x="17922239" y="962025"/>
                  </a:lnTo>
                  <a:lnTo>
                    <a:pt x="0" y="962025"/>
                  </a:lnTo>
                  <a:close/>
                </a:path>
              </a:pathLst>
            </a:custGeom>
            <a:blipFill>
              <a:blip r:embed="rId4">
                <a:alphaModFix amt="0"/>
              </a:blip>
              <a:stretch>
                <a:fillRect l="0" t="-313000" r="0" b="-313000"/>
              </a:stretch>
            </a:blipFill>
          </p:spPr>
        </p:sp>
        <p:sp>
          <p:nvSpPr>
            <p:cNvPr name="TextBox 94" id="94"/>
            <p:cNvSpPr txBox="true"/>
            <p:nvPr/>
          </p:nvSpPr>
          <p:spPr>
            <a:xfrm>
              <a:off x="0" y="-47625"/>
              <a:ext cx="17922240" cy="1009650"/>
            </a:xfrm>
            <a:prstGeom prst="rect">
              <a:avLst/>
            </a:prstGeom>
          </p:spPr>
          <p:txBody>
            <a:bodyPr anchor="ctr" rtlCol="false" tIns="0" lIns="0" bIns="0" rIns="0"/>
            <a:lstStyle/>
            <a:p>
              <a:pPr algn="l">
                <a:lnSpc>
                  <a:spcPts val="2340"/>
                </a:lnSpc>
              </a:pPr>
              <a:r>
                <a:rPr lang="en-US" sz="1950">
                  <a:solidFill>
                    <a:srgbClr val="44506B"/>
                  </a:solidFill>
                  <a:latin typeface="Calibri (MS)"/>
                  <a:ea typeface="Calibri (MS)"/>
                  <a:cs typeface="Calibri (MS)"/>
                  <a:sym typeface="Calibri (MS)"/>
                </a:rPr>
                <a:t>Property Area (Urban / Semiurban / Rural)</a:t>
              </a:r>
            </a:p>
          </p:txBody>
        </p:sp>
      </p:grpSp>
      <p:grpSp>
        <p:nvGrpSpPr>
          <p:cNvPr name="Group 95" id="95"/>
          <p:cNvGrpSpPr/>
          <p:nvPr/>
        </p:nvGrpSpPr>
        <p:grpSpPr>
          <a:xfrm rot="0">
            <a:off x="685800" y="9738360"/>
            <a:ext cx="8229600" cy="411480"/>
            <a:chOff x="0" y="0"/>
            <a:chExt cx="10972800" cy="548640"/>
          </a:xfrm>
        </p:grpSpPr>
        <p:sp>
          <p:nvSpPr>
            <p:cNvPr name="Freeform 96" id="96"/>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97" id="97"/>
          <p:cNvGrpSpPr/>
          <p:nvPr/>
        </p:nvGrpSpPr>
        <p:grpSpPr>
          <a:xfrm rot="0">
            <a:off x="685800" y="9716929"/>
            <a:ext cx="8229600" cy="432911"/>
            <a:chOff x="0" y="0"/>
            <a:chExt cx="10972800" cy="577215"/>
          </a:xfrm>
        </p:grpSpPr>
        <p:sp>
          <p:nvSpPr>
            <p:cNvPr name="Freeform 98" id="98"/>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99" id="99"/>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100" id="100"/>
          <p:cNvGrpSpPr/>
          <p:nvPr/>
        </p:nvGrpSpPr>
        <p:grpSpPr>
          <a:xfrm rot="0">
            <a:off x="16870680" y="9738360"/>
            <a:ext cx="685800" cy="411480"/>
            <a:chOff x="0" y="0"/>
            <a:chExt cx="914400" cy="548640"/>
          </a:xfrm>
        </p:grpSpPr>
        <p:sp>
          <p:nvSpPr>
            <p:cNvPr name="Freeform 101" id="10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102" id="102"/>
          <p:cNvGrpSpPr/>
          <p:nvPr/>
        </p:nvGrpSpPr>
        <p:grpSpPr>
          <a:xfrm rot="0">
            <a:off x="16870680" y="9716929"/>
            <a:ext cx="685800" cy="432911"/>
            <a:chOff x="0" y="0"/>
            <a:chExt cx="914400" cy="577215"/>
          </a:xfrm>
        </p:grpSpPr>
        <p:sp>
          <p:nvSpPr>
            <p:cNvPr name="Freeform 103" id="103"/>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104" id="104"/>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METHODOLOGY</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Data Preprocessing &amp; Algorithms</a:t>
              </a:r>
            </a:p>
          </p:txBody>
        </p:sp>
      </p:grpSp>
      <p:grpSp>
        <p:nvGrpSpPr>
          <p:cNvPr name="Group 12" id="12"/>
          <p:cNvGrpSpPr/>
          <p:nvPr/>
        </p:nvGrpSpPr>
        <p:grpSpPr>
          <a:xfrm rot="0">
            <a:off x="822960" y="2537460"/>
            <a:ext cx="685800" cy="685800"/>
            <a:chOff x="0" y="0"/>
            <a:chExt cx="914400" cy="914400"/>
          </a:xfrm>
        </p:grpSpPr>
        <p:sp>
          <p:nvSpPr>
            <p:cNvPr name="Freeform 13" id="13"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grpSp>
        <p:nvGrpSpPr>
          <p:cNvPr name="Group 14" id="14"/>
          <p:cNvGrpSpPr/>
          <p:nvPr/>
        </p:nvGrpSpPr>
        <p:grpSpPr>
          <a:xfrm rot="0">
            <a:off x="1714500" y="2633472"/>
            <a:ext cx="6858000" cy="548640"/>
            <a:chOff x="0" y="0"/>
            <a:chExt cx="9144000" cy="731520"/>
          </a:xfrm>
        </p:grpSpPr>
        <p:sp>
          <p:nvSpPr>
            <p:cNvPr name="Freeform 15" id="15"/>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394" r="0" b="-193392"/>
              </a:stretch>
            </a:blipFill>
          </p:spPr>
        </p:sp>
      </p:grpSp>
      <p:grpSp>
        <p:nvGrpSpPr>
          <p:cNvPr name="Group 16" id="16"/>
          <p:cNvGrpSpPr/>
          <p:nvPr/>
        </p:nvGrpSpPr>
        <p:grpSpPr>
          <a:xfrm rot="0">
            <a:off x="1714500" y="2626328"/>
            <a:ext cx="6858000" cy="555784"/>
            <a:chOff x="0" y="0"/>
            <a:chExt cx="9144000" cy="741045"/>
          </a:xfrm>
        </p:grpSpPr>
        <p:sp>
          <p:nvSpPr>
            <p:cNvPr name="Freeform 17" id="17"/>
            <p:cNvSpPr/>
            <p:nvPr/>
          </p:nvSpPr>
          <p:spPr>
            <a:xfrm flipH="false" flipV="false" rot="0">
              <a:off x="0" y="0"/>
              <a:ext cx="9144000" cy="741045"/>
            </a:xfrm>
            <a:custGeom>
              <a:avLst/>
              <a:gdLst/>
              <a:ahLst/>
              <a:cxnLst/>
              <a:rect r="r" b="b" t="t" l="l"/>
              <a:pathLst>
                <a:path h="741045" w="9144000">
                  <a:moveTo>
                    <a:pt x="0" y="0"/>
                  </a:moveTo>
                  <a:lnTo>
                    <a:pt x="9144000" y="0"/>
                  </a:lnTo>
                  <a:lnTo>
                    <a:pt x="9144000" y="741045"/>
                  </a:lnTo>
                  <a:lnTo>
                    <a:pt x="0" y="741045"/>
                  </a:lnTo>
                  <a:close/>
                </a:path>
              </a:pathLst>
            </a:custGeom>
            <a:blipFill>
              <a:blip r:embed="rId4">
                <a:alphaModFix amt="0"/>
              </a:blip>
              <a:stretch>
                <a:fillRect l="0" t="-190432" r="0" b="-190432"/>
              </a:stretch>
            </a:blipFill>
          </p:spPr>
        </p:sp>
        <p:sp>
          <p:nvSpPr>
            <p:cNvPr name="TextBox 18" id="18"/>
            <p:cNvSpPr txBox="true"/>
            <p:nvPr/>
          </p:nvSpPr>
          <p:spPr>
            <a:xfrm>
              <a:off x="0" y="-9525"/>
              <a:ext cx="9144000" cy="750570"/>
            </a:xfrm>
            <a:prstGeom prst="rect">
              <a:avLst/>
            </a:prstGeom>
          </p:spPr>
          <p:txBody>
            <a:bodyPr anchor="ctr" rtlCol="false" tIns="0" lIns="0" bIns="0" rIns="0"/>
            <a:lstStyle/>
            <a:p>
              <a:pPr algn="l">
                <a:lnSpc>
                  <a:spcPts val="2879"/>
                </a:lnSpc>
              </a:pPr>
              <a:r>
                <a:rPr lang="en-US" sz="2400" b="true">
                  <a:solidFill>
                    <a:srgbClr val="1E2761"/>
                  </a:solidFill>
                  <a:latin typeface="Cambria Bold"/>
                  <a:ea typeface="Cambria Bold"/>
                  <a:cs typeface="Cambria Bold"/>
                  <a:sym typeface="Cambria Bold"/>
                </a:rPr>
                <a:t>Preprocessing Pipeline</a:t>
              </a:r>
            </a:p>
          </p:txBody>
        </p:sp>
      </p:grpSp>
      <p:grpSp>
        <p:nvGrpSpPr>
          <p:cNvPr name="Group 19" id="19"/>
          <p:cNvGrpSpPr/>
          <p:nvPr/>
        </p:nvGrpSpPr>
        <p:grpSpPr>
          <a:xfrm rot="0">
            <a:off x="822960" y="3429000"/>
            <a:ext cx="480060" cy="480060"/>
            <a:chOff x="0" y="0"/>
            <a:chExt cx="640080" cy="640080"/>
          </a:xfrm>
        </p:grpSpPr>
        <p:sp>
          <p:nvSpPr>
            <p:cNvPr name="Freeform 20" id="20"/>
            <p:cNvSpPr/>
            <p:nvPr/>
          </p:nvSpPr>
          <p:spPr>
            <a:xfrm flipH="false" flipV="false" rot="0">
              <a:off x="0" y="0"/>
              <a:ext cx="640080" cy="640080"/>
            </a:xfrm>
            <a:custGeom>
              <a:avLst/>
              <a:gdLst/>
              <a:ahLst/>
              <a:cxnLst/>
              <a:rect r="r" b="b" t="t" l="l"/>
              <a:pathLst>
                <a:path h="640080" w="640080">
                  <a:moveTo>
                    <a:pt x="0" y="320040"/>
                  </a:moveTo>
                  <a:cubicBezTo>
                    <a:pt x="0" y="143256"/>
                    <a:pt x="143256" y="0"/>
                    <a:pt x="320040" y="0"/>
                  </a:cubicBezTo>
                  <a:cubicBezTo>
                    <a:pt x="496824" y="0"/>
                    <a:pt x="640080" y="143256"/>
                    <a:pt x="640080" y="320040"/>
                  </a:cubicBezTo>
                  <a:cubicBezTo>
                    <a:pt x="640080" y="496824"/>
                    <a:pt x="496824" y="640080"/>
                    <a:pt x="320040" y="640080"/>
                  </a:cubicBezTo>
                  <a:cubicBezTo>
                    <a:pt x="143256" y="640080"/>
                    <a:pt x="0" y="496824"/>
                    <a:pt x="0" y="320040"/>
                  </a:cubicBezTo>
                  <a:close/>
                </a:path>
              </a:pathLst>
            </a:custGeom>
            <a:solidFill>
              <a:srgbClr val="CADCFC"/>
            </a:solidFill>
          </p:spPr>
        </p:sp>
      </p:grpSp>
      <p:grpSp>
        <p:nvGrpSpPr>
          <p:cNvPr name="Group 21" id="21"/>
          <p:cNvGrpSpPr/>
          <p:nvPr/>
        </p:nvGrpSpPr>
        <p:grpSpPr>
          <a:xfrm rot="0">
            <a:off x="822960" y="3429000"/>
            <a:ext cx="480060" cy="480060"/>
            <a:chOff x="0" y="0"/>
            <a:chExt cx="640080" cy="640080"/>
          </a:xfrm>
        </p:grpSpPr>
        <p:sp>
          <p:nvSpPr>
            <p:cNvPr name="Freeform 22" id="22"/>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close/>
                </a:path>
              </a:pathLst>
            </a:custGeom>
            <a:blipFill>
              <a:blip r:embed="rId3">
                <a:alphaModFix amt="0"/>
              </a:blip>
              <a:stretch>
                <a:fillRect l="-78392" t="0" r="-78392" b="0"/>
              </a:stretch>
            </a:blipFill>
          </p:spPr>
        </p:sp>
      </p:grpSp>
      <p:grpSp>
        <p:nvGrpSpPr>
          <p:cNvPr name="Group 23" id="23"/>
          <p:cNvGrpSpPr/>
          <p:nvPr/>
        </p:nvGrpSpPr>
        <p:grpSpPr>
          <a:xfrm rot="0">
            <a:off x="822960" y="3400425"/>
            <a:ext cx="480060" cy="508635"/>
            <a:chOff x="0" y="0"/>
            <a:chExt cx="640080" cy="678180"/>
          </a:xfrm>
        </p:grpSpPr>
        <p:sp>
          <p:nvSpPr>
            <p:cNvPr name="Freeform 24" id="24"/>
            <p:cNvSpPr/>
            <p:nvPr/>
          </p:nvSpPr>
          <p:spPr>
            <a:xfrm flipH="false" flipV="false" rot="0">
              <a:off x="0" y="0"/>
              <a:ext cx="640080" cy="678180"/>
            </a:xfrm>
            <a:custGeom>
              <a:avLst/>
              <a:gdLst/>
              <a:ahLst/>
              <a:cxnLst/>
              <a:rect r="r" b="b" t="t" l="l"/>
              <a:pathLst>
                <a:path h="678180" w="640080">
                  <a:moveTo>
                    <a:pt x="0" y="0"/>
                  </a:moveTo>
                  <a:lnTo>
                    <a:pt x="640080" y="0"/>
                  </a:lnTo>
                  <a:lnTo>
                    <a:pt x="640080" y="678180"/>
                  </a:lnTo>
                  <a:lnTo>
                    <a:pt x="0" y="678180"/>
                  </a:lnTo>
                  <a:close/>
                </a:path>
              </a:pathLst>
            </a:custGeom>
            <a:blipFill>
              <a:blip r:embed="rId4">
                <a:alphaModFix amt="0"/>
              </a:blip>
              <a:stretch>
                <a:fillRect l="-85940" t="0" r="-85940" b="0"/>
              </a:stretch>
            </a:blipFill>
          </p:spPr>
        </p:sp>
        <p:sp>
          <p:nvSpPr>
            <p:cNvPr name="TextBox 25" id="25"/>
            <p:cNvSpPr txBox="true"/>
            <p:nvPr/>
          </p:nvSpPr>
          <p:spPr>
            <a:xfrm>
              <a:off x="0" y="-38100"/>
              <a:ext cx="640080" cy="71628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1</a:t>
              </a:r>
            </a:p>
          </p:txBody>
        </p:sp>
      </p:grpSp>
      <p:grpSp>
        <p:nvGrpSpPr>
          <p:cNvPr name="Group 26" id="26"/>
          <p:cNvGrpSpPr/>
          <p:nvPr/>
        </p:nvGrpSpPr>
        <p:grpSpPr>
          <a:xfrm rot="0">
            <a:off x="1508760" y="3360420"/>
            <a:ext cx="15224760" cy="754380"/>
            <a:chOff x="0" y="0"/>
            <a:chExt cx="20299680" cy="1005840"/>
          </a:xfrm>
        </p:grpSpPr>
        <p:sp>
          <p:nvSpPr>
            <p:cNvPr name="Freeform 27" id="27"/>
            <p:cNvSpPr/>
            <p:nvPr/>
          </p:nvSpPr>
          <p:spPr>
            <a:xfrm flipH="false" flipV="false" rot="0">
              <a:off x="0" y="0"/>
              <a:ext cx="20299680" cy="1005840"/>
            </a:xfrm>
            <a:custGeom>
              <a:avLst/>
              <a:gdLst/>
              <a:ahLst/>
              <a:cxnLst/>
              <a:rect r="r" b="b" t="t" l="l"/>
              <a:pathLst>
                <a:path h="1005840" w="20299680">
                  <a:moveTo>
                    <a:pt x="0" y="0"/>
                  </a:moveTo>
                  <a:lnTo>
                    <a:pt x="20299680" y="0"/>
                  </a:lnTo>
                  <a:lnTo>
                    <a:pt x="20299680" y="1005840"/>
                  </a:lnTo>
                  <a:lnTo>
                    <a:pt x="0" y="1005840"/>
                  </a:lnTo>
                  <a:close/>
                </a:path>
              </a:pathLst>
            </a:custGeom>
            <a:blipFill>
              <a:blip r:embed="rId3">
                <a:alphaModFix amt="0"/>
              </a:blip>
              <a:stretch>
                <a:fillRect l="0" t="-342969" r="0" b="-342970"/>
              </a:stretch>
            </a:blipFill>
          </p:spPr>
        </p:sp>
      </p:grpSp>
      <p:grpSp>
        <p:nvGrpSpPr>
          <p:cNvPr name="Group 28" id="28"/>
          <p:cNvGrpSpPr/>
          <p:nvPr/>
        </p:nvGrpSpPr>
        <p:grpSpPr>
          <a:xfrm rot="0">
            <a:off x="1508760" y="3324701"/>
            <a:ext cx="15224760" cy="790099"/>
            <a:chOff x="0" y="0"/>
            <a:chExt cx="20299680" cy="1053465"/>
          </a:xfrm>
        </p:grpSpPr>
        <p:sp>
          <p:nvSpPr>
            <p:cNvPr name="Freeform 29" id="29"/>
            <p:cNvSpPr/>
            <p:nvPr/>
          </p:nvSpPr>
          <p:spPr>
            <a:xfrm flipH="false" flipV="false" rot="0">
              <a:off x="0" y="0"/>
              <a:ext cx="20299680" cy="1053465"/>
            </a:xfrm>
            <a:custGeom>
              <a:avLst/>
              <a:gdLst/>
              <a:ahLst/>
              <a:cxnLst/>
              <a:rect r="r" b="b" t="t" l="l"/>
              <a:pathLst>
                <a:path h="1053465" w="20299680">
                  <a:moveTo>
                    <a:pt x="0" y="0"/>
                  </a:moveTo>
                  <a:lnTo>
                    <a:pt x="20299680" y="0"/>
                  </a:lnTo>
                  <a:lnTo>
                    <a:pt x="20299680" y="1053465"/>
                  </a:lnTo>
                  <a:lnTo>
                    <a:pt x="0" y="1053465"/>
                  </a:lnTo>
                  <a:close/>
                </a:path>
              </a:pathLst>
            </a:custGeom>
            <a:blipFill>
              <a:blip r:embed="rId4">
                <a:alphaModFix amt="0"/>
              </a:blip>
              <a:stretch>
                <a:fillRect l="0" t="-325465" r="0" b="-325465"/>
              </a:stretch>
            </a:blipFill>
          </p:spPr>
        </p:sp>
        <p:sp>
          <p:nvSpPr>
            <p:cNvPr name="TextBox 30" id="30"/>
            <p:cNvSpPr txBox="true"/>
            <p:nvPr/>
          </p:nvSpPr>
          <p:spPr>
            <a:xfrm>
              <a:off x="0" y="-47625"/>
              <a:ext cx="20299680" cy="1101090"/>
            </a:xfrm>
            <a:prstGeom prst="rect">
              <a:avLst/>
            </a:prstGeom>
          </p:spPr>
          <p:txBody>
            <a:bodyPr anchor="ctr" rtlCol="false" tIns="0" lIns="0" bIns="0" rIns="0"/>
            <a:lstStyle/>
            <a:p>
              <a:pPr algn="l">
                <a:lnSpc>
                  <a:spcPts val="2340"/>
                </a:lnSpc>
              </a:pPr>
              <a:r>
                <a:rPr lang="en-US" sz="1950">
                  <a:solidFill>
                    <a:srgbClr val="44506B"/>
                  </a:solidFill>
                  <a:latin typeface="Calibri (MS)"/>
                  <a:ea typeface="Calibri (MS)"/>
                  <a:cs typeface="Calibri (MS)"/>
                  <a:sym typeface="Calibri (MS)"/>
                </a:rPr>
                <a:t>Missing values: mode imputation for categorical columns, median for LoanAmount (robust to outliers)</a:t>
              </a:r>
            </a:p>
          </p:txBody>
        </p:sp>
      </p:grpSp>
      <p:grpSp>
        <p:nvGrpSpPr>
          <p:cNvPr name="Group 31" id="31"/>
          <p:cNvGrpSpPr/>
          <p:nvPr/>
        </p:nvGrpSpPr>
        <p:grpSpPr>
          <a:xfrm rot="0">
            <a:off x="822960" y="4320540"/>
            <a:ext cx="480060" cy="480060"/>
            <a:chOff x="0" y="0"/>
            <a:chExt cx="640080" cy="640080"/>
          </a:xfrm>
        </p:grpSpPr>
        <p:sp>
          <p:nvSpPr>
            <p:cNvPr name="Freeform 32" id="32"/>
            <p:cNvSpPr/>
            <p:nvPr/>
          </p:nvSpPr>
          <p:spPr>
            <a:xfrm flipH="false" flipV="false" rot="0">
              <a:off x="0" y="0"/>
              <a:ext cx="640080" cy="640080"/>
            </a:xfrm>
            <a:custGeom>
              <a:avLst/>
              <a:gdLst/>
              <a:ahLst/>
              <a:cxnLst/>
              <a:rect r="r" b="b" t="t" l="l"/>
              <a:pathLst>
                <a:path h="640080" w="640080">
                  <a:moveTo>
                    <a:pt x="0" y="320040"/>
                  </a:moveTo>
                  <a:cubicBezTo>
                    <a:pt x="0" y="143256"/>
                    <a:pt x="143256" y="0"/>
                    <a:pt x="320040" y="0"/>
                  </a:cubicBezTo>
                  <a:cubicBezTo>
                    <a:pt x="496824" y="0"/>
                    <a:pt x="640080" y="143256"/>
                    <a:pt x="640080" y="320040"/>
                  </a:cubicBezTo>
                  <a:cubicBezTo>
                    <a:pt x="640080" y="496824"/>
                    <a:pt x="496824" y="640080"/>
                    <a:pt x="320040" y="640080"/>
                  </a:cubicBezTo>
                  <a:cubicBezTo>
                    <a:pt x="143256" y="640080"/>
                    <a:pt x="0" y="496824"/>
                    <a:pt x="0" y="320040"/>
                  </a:cubicBezTo>
                  <a:close/>
                </a:path>
              </a:pathLst>
            </a:custGeom>
            <a:solidFill>
              <a:srgbClr val="CADCFC"/>
            </a:solidFill>
          </p:spPr>
        </p:sp>
      </p:grpSp>
      <p:grpSp>
        <p:nvGrpSpPr>
          <p:cNvPr name="Group 33" id="33"/>
          <p:cNvGrpSpPr/>
          <p:nvPr/>
        </p:nvGrpSpPr>
        <p:grpSpPr>
          <a:xfrm rot="0">
            <a:off x="822960" y="4320540"/>
            <a:ext cx="480060" cy="480060"/>
            <a:chOff x="0" y="0"/>
            <a:chExt cx="640080" cy="640080"/>
          </a:xfrm>
        </p:grpSpPr>
        <p:sp>
          <p:nvSpPr>
            <p:cNvPr name="Freeform 34" id="34"/>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close/>
                </a:path>
              </a:pathLst>
            </a:custGeom>
            <a:blipFill>
              <a:blip r:embed="rId3">
                <a:alphaModFix amt="0"/>
              </a:blip>
              <a:stretch>
                <a:fillRect l="-78392" t="0" r="-78392" b="0"/>
              </a:stretch>
            </a:blipFill>
          </p:spPr>
        </p:sp>
      </p:grpSp>
      <p:grpSp>
        <p:nvGrpSpPr>
          <p:cNvPr name="Group 35" id="35"/>
          <p:cNvGrpSpPr/>
          <p:nvPr/>
        </p:nvGrpSpPr>
        <p:grpSpPr>
          <a:xfrm rot="0">
            <a:off x="822960" y="4291965"/>
            <a:ext cx="480060" cy="508635"/>
            <a:chOff x="0" y="0"/>
            <a:chExt cx="640080" cy="678180"/>
          </a:xfrm>
        </p:grpSpPr>
        <p:sp>
          <p:nvSpPr>
            <p:cNvPr name="Freeform 36" id="36"/>
            <p:cNvSpPr/>
            <p:nvPr/>
          </p:nvSpPr>
          <p:spPr>
            <a:xfrm flipH="false" flipV="false" rot="0">
              <a:off x="0" y="0"/>
              <a:ext cx="640080" cy="678180"/>
            </a:xfrm>
            <a:custGeom>
              <a:avLst/>
              <a:gdLst/>
              <a:ahLst/>
              <a:cxnLst/>
              <a:rect r="r" b="b" t="t" l="l"/>
              <a:pathLst>
                <a:path h="678180" w="640080">
                  <a:moveTo>
                    <a:pt x="0" y="0"/>
                  </a:moveTo>
                  <a:lnTo>
                    <a:pt x="640080" y="0"/>
                  </a:lnTo>
                  <a:lnTo>
                    <a:pt x="640080" y="678180"/>
                  </a:lnTo>
                  <a:lnTo>
                    <a:pt x="0" y="678180"/>
                  </a:lnTo>
                  <a:close/>
                </a:path>
              </a:pathLst>
            </a:custGeom>
            <a:blipFill>
              <a:blip r:embed="rId4">
                <a:alphaModFix amt="0"/>
              </a:blip>
              <a:stretch>
                <a:fillRect l="-85940" t="0" r="-85940" b="0"/>
              </a:stretch>
            </a:blipFill>
          </p:spPr>
        </p:sp>
        <p:sp>
          <p:nvSpPr>
            <p:cNvPr name="TextBox 37" id="37"/>
            <p:cNvSpPr txBox="true"/>
            <p:nvPr/>
          </p:nvSpPr>
          <p:spPr>
            <a:xfrm>
              <a:off x="0" y="-38100"/>
              <a:ext cx="640080" cy="71628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2</a:t>
              </a:r>
            </a:p>
          </p:txBody>
        </p:sp>
      </p:grpSp>
      <p:grpSp>
        <p:nvGrpSpPr>
          <p:cNvPr name="Group 38" id="38"/>
          <p:cNvGrpSpPr/>
          <p:nvPr/>
        </p:nvGrpSpPr>
        <p:grpSpPr>
          <a:xfrm rot="0">
            <a:off x="1508760" y="4251960"/>
            <a:ext cx="15224760" cy="754380"/>
            <a:chOff x="0" y="0"/>
            <a:chExt cx="20299680" cy="1005840"/>
          </a:xfrm>
        </p:grpSpPr>
        <p:sp>
          <p:nvSpPr>
            <p:cNvPr name="Freeform 39" id="39"/>
            <p:cNvSpPr/>
            <p:nvPr/>
          </p:nvSpPr>
          <p:spPr>
            <a:xfrm flipH="false" flipV="false" rot="0">
              <a:off x="0" y="0"/>
              <a:ext cx="20299680" cy="1005840"/>
            </a:xfrm>
            <a:custGeom>
              <a:avLst/>
              <a:gdLst/>
              <a:ahLst/>
              <a:cxnLst/>
              <a:rect r="r" b="b" t="t" l="l"/>
              <a:pathLst>
                <a:path h="1005840" w="20299680">
                  <a:moveTo>
                    <a:pt x="0" y="0"/>
                  </a:moveTo>
                  <a:lnTo>
                    <a:pt x="20299680" y="0"/>
                  </a:lnTo>
                  <a:lnTo>
                    <a:pt x="20299680" y="1005840"/>
                  </a:lnTo>
                  <a:lnTo>
                    <a:pt x="0" y="1005840"/>
                  </a:lnTo>
                  <a:close/>
                </a:path>
              </a:pathLst>
            </a:custGeom>
            <a:blipFill>
              <a:blip r:embed="rId3">
                <a:alphaModFix amt="0"/>
              </a:blip>
              <a:stretch>
                <a:fillRect l="0" t="-342969" r="0" b="-342970"/>
              </a:stretch>
            </a:blipFill>
          </p:spPr>
        </p:sp>
      </p:grpSp>
      <p:grpSp>
        <p:nvGrpSpPr>
          <p:cNvPr name="Group 40" id="40"/>
          <p:cNvGrpSpPr/>
          <p:nvPr/>
        </p:nvGrpSpPr>
        <p:grpSpPr>
          <a:xfrm rot="0">
            <a:off x="1508760" y="4216241"/>
            <a:ext cx="15224760" cy="790099"/>
            <a:chOff x="0" y="0"/>
            <a:chExt cx="20299680" cy="1053465"/>
          </a:xfrm>
        </p:grpSpPr>
        <p:sp>
          <p:nvSpPr>
            <p:cNvPr name="Freeform 41" id="41"/>
            <p:cNvSpPr/>
            <p:nvPr/>
          </p:nvSpPr>
          <p:spPr>
            <a:xfrm flipH="false" flipV="false" rot="0">
              <a:off x="0" y="0"/>
              <a:ext cx="20299680" cy="1053465"/>
            </a:xfrm>
            <a:custGeom>
              <a:avLst/>
              <a:gdLst/>
              <a:ahLst/>
              <a:cxnLst/>
              <a:rect r="r" b="b" t="t" l="l"/>
              <a:pathLst>
                <a:path h="1053465" w="20299680">
                  <a:moveTo>
                    <a:pt x="0" y="0"/>
                  </a:moveTo>
                  <a:lnTo>
                    <a:pt x="20299680" y="0"/>
                  </a:lnTo>
                  <a:lnTo>
                    <a:pt x="20299680" y="1053465"/>
                  </a:lnTo>
                  <a:lnTo>
                    <a:pt x="0" y="1053465"/>
                  </a:lnTo>
                  <a:close/>
                </a:path>
              </a:pathLst>
            </a:custGeom>
            <a:blipFill>
              <a:blip r:embed="rId4">
                <a:alphaModFix amt="0"/>
              </a:blip>
              <a:stretch>
                <a:fillRect l="0" t="-325465" r="0" b="-325465"/>
              </a:stretch>
            </a:blipFill>
          </p:spPr>
        </p:sp>
        <p:sp>
          <p:nvSpPr>
            <p:cNvPr name="TextBox 42" id="42"/>
            <p:cNvSpPr txBox="true"/>
            <p:nvPr/>
          </p:nvSpPr>
          <p:spPr>
            <a:xfrm>
              <a:off x="0" y="-47625"/>
              <a:ext cx="20299680" cy="1101090"/>
            </a:xfrm>
            <a:prstGeom prst="rect">
              <a:avLst/>
            </a:prstGeom>
          </p:spPr>
          <p:txBody>
            <a:bodyPr anchor="ctr" rtlCol="false" tIns="0" lIns="0" bIns="0" rIns="0"/>
            <a:lstStyle/>
            <a:p>
              <a:pPr algn="l">
                <a:lnSpc>
                  <a:spcPts val="2340"/>
                </a:lnSpc>
              </a:pPr>
              <a:r>
                <a:rPr lang="en-US" sz="1950">
                  <a:solidFill>
                    <a:srgbClr val="44506B"/>
                  </a:solidFill>
                  <a:latin typeface="Calibri (MS)"/>
                  <a:ea typeface="Calibri (MS)"/>
                  <a:cs typeface="Calibri (MS)"/>
                  <a:sym typeface="Calibri (MS)"/>
                </a:rPr>
                <a:t>Label encoding: converted all categorical variables to numeric form</a:t>
              </a:r>
            </a:p>
          </p:txBody>
        </p:sp>
      </p:grpSp>
      <p:grpSp>
        <p:nvGrpSpPr>
          <p:cNvPr name="Group 43" id="43"/>
          <p:cNvGrpSpPr/>
          <p:nvPr/>
        </p:nvGrpSpPr>
        <p:grpSpPr>
          <a:xfrm rot="0">
            <a:off x="822960" y="5212080"/>
            <a:ext cx="480060" cy="480060"/>
            <a:chOff x="0" y="0"/>
            <a:chExt cx="640080" cy="640080"/>
          </a:xfrm>
        </p:grpSpPr>
        <p:sp>
          <p:nvSpPr>
            <p:cNvPr name="Freeform 44" id="44"/>
            <p:cNvSpPr/>
            <p:nvPr/>
          </p:nvSpPr>
          <p:spPr>
            <a:xfrm flipH="false" flipV="false" rot="0">
              <a:off x="0" y="0"/>
              <a:ext cx="640080" cy="640080"/>
            </a:xfrm>
            <a:custGeom>
              <a:avLst/>
              <a:gdLst/>
              <a:ahLst/>
              <a:cxnLst/>
              <a:rect r="r" b="b" t="t" l="l"/>
              <a:pathLst>
                <a:path h="640080" w="640080">
                  <a:moveTo>
                    <a:pt x="0" y="320040"/>
                  </a:moveTo>
                  <a:cubicBezTo>
                    <a:pt x="0" y="143256"/>
                    <a:pt x="143256" y="0"/>
                    <a:pt x="320040" y="0"/>
                  </a:cubicBezTo>
                  <a:cubicBezTo>
                    <a:pt x="496824" y="0"/>
                    <a:pt x="640080" y="143256"/>
                    <a:pt x="640080" y="320040"/>
                  </a:cubicBezTo>
                  <a:cubicBezTo>
                    <a:pt x="640080" y="496824"/>
                    <a:pt x="496824" y="640080"/>
                    <a:pt x="320040" y="640080"/>
                  </a:cubicBezTo>
                  <a:cubicBezTo>
                    <a:pt x="143256" y="640080"/>
                    <a:pt x="0" y="496824"/>
                    <a:pt x="0" y="320040"/>
                  </a:cubicBezTo>
                  <a:close/>
                </a:path>
              </a:pathLst>
            </a:custGeom>
            <a:solidFill>
              <a:srgbClr val="CADCFC"/>
            </a:solidFill>
          </p:spPr>
        </p:sp>
      </p:grpSp>
      <p:grpSp>
        <p:nvGrpSpPr>
          <p:cNvPr name="Group 45" id="45"/>
          <p:cNvGrpSpPr/>
          <p:nvPr/>
        </p:nvGrpSpPr>
        <p:grpSpPr>
          <a:xfrm rot="0">
            <a:off x="822960" y="5212080"/>
            <a:ext cx="480060" cy="480060"/>
            <a:chOff x="0" y="0"/>
            <a:chExt cx="640080" cy="640080"/>
          </a:xfrm>
        </p:grpSpPr>
        <p:sp>
          <p:nvSpPr>
            <p:cNvPr name="Freeform 46" id="46"/>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close/>
                </a:path>
              </a:pathLst>
            </a:custGeom>
            <a:blipFill>
              <a:blip r:embed="rId3">
                <a:alphaModFix amt="0"/>
              </a:blip>
              <a:stretch>
                <a:fillRect l="-78392" t="0" r="-78392" b="0"/>
              </a:stretch>
            </a:blipFill>
          </p:spPr>
        </p:sp>
      </p:grpSp>
      <p:grpSp>
        <p:nvGrpSpPr>
          <p:cNvPr name="Group 47" id="47"/>
          <p:cNvGrpSpPr/>
          <p:nvPr/>
        </p:nvGrpSpPr>
        <p:grpSpPr>
          <a:xfrm rot="0">
            <a:off x="822960" y="5183505"/>
            <a:ext cx="480060" cy="508635"/>
            <a:chOff x="0" y="0"/>
            <a:chExt cx="640080" cy="678180"/>
          </a:xfrm>
        </p:grpSpPr>
        <p:sp>
          <p:nvSpPr>
            <p:cNvPr name="Freeform 48" id="48"/>
            <p:cNvSpPr/>
            <p:nvPr/>
          </p:nvSpPr>
          <p:spPr>
            <a:xfrm flipH="false" flipV="false" rot="0">
              <a:off x="0" y="0"/>
              <a:ext cx="640080" cy="678180"/>
            </a:xfrm>
            <a:custGeom>
              <a:avLst/>
              <a:gdLst/>
              <a:ahLst/>
              <a:cxnLst/>
              <a:rect r="r" b="b" t="t" l="l"/>
              <a:pathLst>
                <a:path h="678180" w="640080">
                  <a:moveTo>
                    <a:pt x="0" y="0"/>
                  </a:moveTo>
                  <a:lnTo>
                    <a:pt x="640080" y="0"/>
                  </a:lnTo>
                  <a:lnTo>
                    <a:pt x="640080" y="678180"/>
                  </a:lnTo>
                  <a:lnTo>
                    <a:pt x="0" y="678180"/>
                  </a:lnTo>
                  <a:close/>
                </a:path>
              </a:pathLst>
            </a:custGeom>
            <a:blipFill>
              <a:blip r:embed="rId4">
                <a:alphaModFix amt="0"/>
              </a:blip>
              <a:stretch>
                <a:fillRect l="-85940" t="0" r="-85940" b="0"/>
              </a:stretch>
            </a:blipFill>
          </p:spPr>
        </p:sp>
        <p:sp>
          <p:nvSpPr>
            <p:cNvPr name="TextBox 49" id="49"/>
            <p:cNvSpPr txBox="true"/>
            <p:nvPr/>
          </p:nvSpPr>
          <p:spPr>
            <a:xfrm>
              <a:off x="0" y="-38100"/>
              <a:ext cx="640080" cy="716280"/>
            </a:xfrm>
            <a:prstGeom prst="rect">
              <a:avLst/>
            </a:prstGeom>
          </p:spPr>
          <p:txBody>
            <a:bodyPr anchor="ctr" rtlCol="false" tIns="0" lIns="0" bIns="0" rIns="0"/>
            <a:lstStyle/>
            <a:p>
              <a:pPr algn="ctr">
                <a:lnSpc>
                  <a:spcPts val="2160"/>
                </a:lnSpc>
              </a:pPr>
              <a:r>
                <a:rPr lang="en-US" sz="1800" b="true">
                  <a:solidFill>
                    <a:srgbClr val="1E2761"/>
                  </a:solidFill>
                  <a:latin typeface="Calibri (MS) Bold"/>
                  <a:ea typeface="Calibri (MS) Bold"/>
                  <a:cs typeface="Calibri (MS) Bold"/>
                  <a:sym typeface="Calibri (MS) Bold"/>
                </a:rPr>
                <a:t>3</a:t>
              </a:r>
            </a:p>
          </p:txBody>
        </p:sp>
      </p:grpSp>
      <p:grpSp>
        <p:nvGrpSpPr>
          <p:cNvPr name="Group 50" id="50"/>
          <p:cNvGrpSpPr/>
          <p:nvPr/>
        </p:nvGrpSpPr>
        <p:grpSpPr>
          <a:xfrm rot="0">
            <a:off x="1508760" y="5143500"/>
            <a:ext cx="15224760" cy="754380"/>
            <a:chOff x="0" y="0"/>
            <a:chExt cx="20299680" cy="1005840"/>
          </a:xfrm>
        </p:grpSpPr>
        <p:sp>
          <p:nvSpPr>
            <p:cNvPr name="Freeform 51" id="51"/>
            <p:cNvSpPr/>
            <p:nvPr/>
          </p:nvSpPr>
          <p:spPr>
            <a:xfrm flipH="false" flipV="false" rot="0">
              <a:off x="0" y="0"/>
              <a:ext cx="20299680" cy="1005840"/>
            </a:xfrm>
            <a:custGeom>
              <a:avLst/>
              <a:gdLst/>
              <a:ahLst/>
              <a:cxnLst/>
              <a:rect r="r" b="b" t="t" l="l"/>
              <a:pathLst>
                <a:path h="1005840" w="20299680">
                  <a:moveTo>
                    <a:pt x="0" y="0"/>
                  </a:moveTo>
                  <a:lnTo>
                    <a:pt x="20299680" y="0"/>
                  </a:lnTo>
                  <a:lnTo>
                    <a:pt x="20299680" y="1005840"/>
                  </a:lnTo>
                  <a:lnTo>
                    <a:pt x="0" y="1005840"/>
                  </a:lnTo>
                  <a:close/>
                </a:path>
              </a:pathLst>
            </a:custGeom>
            <a:blipFill>
              <a:blip r:embed="rId3">
                <a:alphaModFix amt="0"/>
              </a:blip>
              <a:stretch>
                <a:fillRect l="0" t="-342969" r="0" b="-342970"/>
              </a:stretch>
            </a:blipFill>
          </p:spPr>
        </p:sp>
      </p:grpSp>
      <p:grpSp>
        <p:nvGrpSpPr>
          <p:cNvPr name="Group 52" id="52"/>
          <p:cNvGrpSpPr/>
          <p:nvPr/>
        </p:nvGrpSpPr>
        <p:grpSpPr>
          <a:xfrm rot="0">
            <a:off x="1508760" y="5107781"/>
            <a:ext cx="15224760" cy="790099"/>
            <a:chOff x="0" y="0"/>
            <a:chExt cx="20299680" cy="1053465"/>
          </a:xfrm>
        </p:grpSpPr>
        <p:sp>
          <p:nvSpPr>
            <p:cNvPr name="Freeform 53" id="53"/>
            <p:cNvSpPr/>
            <p:nvPr/>
          </p:nvSpPr>
          <p:spPr>
            <a:xfrm flipH="false" flipV="false" rot="0">
              <a:off x="0" y="0"/>
              <a:ext cx="20299680" cy="1053465"/>
            </a:xfrm>
            <a:custGeom>
              <a:avLst/>
              <a:gdLst/>
              <a:ahLst/>
              <a:cxnLst/>
              <a:rect r="r" b="b" t="t" l="l"/>
              <a:pathLst>
                <a:path h="1053465" w="20299680">
                  <a:moveTo>
                    <a:pt x="0" y="0"/>
                  </a:moveTo>
                  <a:lnTo>
                    <a:pt x="20299680" y="0"/>
                  </a:lnTo>
                  <a:lnTo>
                    <a:pt x="20299680" y="1053465"/>
                  </a:lnTo>
                  <a:lnTo>
                    <a:pt x="0" y="1053465"/>
                  </a:lnTo>
                  <a:close/>
                </a:path>
              </a:pathLst>
            </a:custGeom>
            <a:blipFill>
              <a:blip r:embed="rId4">
                <a:alphaModFix amt="0"/>
              </a:blip>
              <a:stretch>
                <a:fillRect l="0" t="-325465" r="0" b="-325465"/>
              </a:stretch>
            </a:blipFill>
          </p:spPr>
        </p:sp>
        <p:sp>
          <p:nvSpPr>
            <p:cNvPr name="TextBox 54" id="54"/>
            <p:cNvSpPr txBox="true"/>
            <p:nvPr/>
          </p:nvSpPr>
          <p:spPr>
            <a:xfrm>
              <a:off x="0" y="-47625"/>
              <a:ext cx="20299680" cy="1101090"/>
            </a:xfrm>
            <a:prstGeom prst="rect">
              <a:avLst/>
            </a:prstGeom>
          </p:spPr>
          <p:txBody>
            <a:bodyPr anchor="ctr" rtlCol="false" tIns="0" lIns="0" bIns="0" rIns="0"/>
            <a:lstStyle/>
            <a:p>
              <a:pPr algn="l">
                <a:lnSpc>
                  <a:spcPts val="2340"/>
                </a:lnSpc>
              </a:pPr>
              <a:r>
                <a:rPr lang="en-US" sz="1950">
                  <a:solidFill>
                    <a:srgbClr val="44506B"/>
                  </a:solidFill>
                  <a:latin typeface="Calibri (MS)"/>
                  <a:ea typeface="Calibri (MS)"/>
                  <a:cs typeface="Calibri (MS)"/>
                  <a:sym typeface="Calibri (MS)"/>
                </a:rPr>
                <a:t>Train-test split: 80/20 split → 491 training, 123 test samples (random_state = 42)</a:t>
              </a:r>
            </a:p>
          </p:txBody>
        </p:sp>
      </p:grpSp>
      <p:grpSp>
        <p:nvGrpSpPr>
          <p:cNvPr name="Group 55" id="55"/>
          <p:cNvGrpSpPr/>
          <p:nvPr/>
        </p:nvGrpSpPr>
        <p:grpSpPr>
          <a:xfrm rot="0">
            <a:off x="806291" y="6292691"/>
            <a:ext cx="16629698" cy="33338"/>
            <a:chOff x="0" y="0"/>
            <a:chExt cx="22172930" cy="44450"/>
          </a:xfrm>
        </p:grpSpPr>
        <p:sp>
          <p:nvSpPr>
            <p:cNvPr name="Freeform 56" id="56"/>
            <p:cNvSpPr/>
            <p:nvPr/>
          </p:nvSpPr>
          <p:spPr>
            <a:xfrm flipH="false" flipV="false" rot="0">
              <a:off x="0" y="0"/>
              <a:ext cx="22172930" cy="44450"/>
            </a:xfrm>
            <a:custGeom>
              <a:avLst/>
              <a:gdLst/>
              <a:ahLst/>
              <a:cxnLst/>
              <a:rect r="r" b="b" t="t" l="l"/>
              <a:pathLst>
                <a:path h="44450" w="22172930">
                  <a:moveTo>
                    <a:pt x="0" y="0"/>
                  </a:moveTo>
                  <a:lnTo>
                    <a:pt x="22172930" y="44450"/>
                  </a:lnTo>
                </a:path>
              </a:pathLst>
            </a:custGeom>
            <a:blipFill>
              <a:blip r:embed="rId3">
                <a:alphaModFix amt="0"/>
              </a:blip>
              <a:stretch>
                <a:fillRect l="0" t="-9662942" r="0" b="-9662914"/>
              </a:stretch>
            </a:blipFill>
            <a:ln w="19050" cap="sq">
              <a:solidFill>
                <a:srgbClr val="CADCFC"/>
              </a:solidFill>
              <a:prstDash val="solid"/>
              <a:miter/>
            </a:ln>
          </p:spPr>
        </p:sp>
      </p:grpSp>
      <p:grpSp>
        <p:nvGrpSpPr>
          <p:cNvPr name="Group 57" id="57"/>
          <p:cNvGrpSpPr/>
          <p:nvPr/>
        </p:nvGrpSpPr>
        <p:grpSpPr>
          <a:xfrm rot="0">
            <a:off x="822960" y="6652260"/>
            <a:ext cx="685800" cy="685800"/>
            <a:chOff x="0" y="0"/>
            <a:chExt cx="914400" cy="914400"/>
          </a:xfrm>
        </p:grpSpPr>
        <p:sp>
          <p:nvSpPr>
            <p:cNvPr name="Freeform 58" id="58"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6"/>
              <a:stretch>
                <a:fillRect l="0" t="0" r="0" b="0"/>
              </a:stretch>
            </a:blipFill>
          </p:spPr>
        </p:sp>
      </p:grpSp>
      <p:grpSp>
        <p:nvGrpSpPr>
          <p:cNvPr name="Group 59" id="59"/>
          <p:cNvGrpSpPr/>
          <p:nvPr/>
        </p:nvGrpSpPr>
        <p:grpSpPr>
          <a:xfrm rot="0">
            <a:off x="1714500" y="6748272"/>
            <a:ext cx="8229600" cy="548640"/>
            <a:chOff x="0" y="0"/>
            <a:chExt cx="10972800" cy="731520"/>
          </a:xfrm>
        </p:grpSpPr>
        <p:sp>
          <p:nvSpPr>
            <p:cNvPr name="Freeform 60" id="60"/>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072" r="0" b="-242071"/>
              </a:stretch>
            </a:blipFill>
          </p:spPr>
        </p:sp>
      </p:grpSp>
      <p:grpSp>
        <p:nvGrpSpPr>
          <p:cNvPr name="Group 61" id="61"/>
          <p:cNvGrpSpPr/>
          <p:nvPr/>
        </p:nvGrpSpPr>
        <p:grpSpPr>
          <a:xfrm rot="0">
            <a:off x="1714500" y="6741128"/>
            <a:ext cx="8229600" cy="555784"/>
            <a:chOff x="0" y="0"/>
            <a:chExt cx="10972800" cy="741045"/>
          </a:xfrm>
        </p:grpSpPr>
        <p:sp>
          <p:nvSpPr>
            <p:cNvPr name="Freeform 62" id="62"/>
            <p:cNvSpPr/>
            <p:nvPr/>
          </p:nvSpPr>
          <p:spPr>
            <a:xfrm flipH="false" flipV="false" rot="0">
              <a:off x="0" y="0"/>
              <a:ext cx="10972800" cy="741045"/>
            </a:xfrm>
            <a:custGeom>
              <a:avLst/>
              <a:gdLst/>
              <a:ahLst/>
              <a:cxnLst/>
              <a:rect r="r" b="b" t="t" l="l"/>
              <a:pathLst>
                <a:path h="741045" w="10972800">
                  <a:moveTo>
                    <a:pt x="0" y="0"/>
                  </a:moveTo>
                  <a:lnTo>
                    <a:pt x="10972800" y="0"/>
                  </a:lnTo>
                  <a:lnTo>
                    <a:pt x="10972800" y="741045"/>
                  </a:lnTo>
                  <a:lnTo>
                    <a:pt x="0" y="741045"/>
                  </a:lnTo>
                  <a:close/>
                </a:path>
              </a:pathLst>
            </a:custGeom>
            <a:blipFill>
              <a:blip r:embed="rId4">
                <a:alphaModFix amt="0"/>
              </a:blip>
              <a:stretch>
                <a:fillRect l="0" t="-238518" r="0" b="-238518"/>
              </a:stretch>
            </a:blipFill>
          </p:spPr>
        </p:sp>
        <p:sp>
          <p:nvSpPr>
            <p:cNvPr name="TextBox 63" id="63"/>
            <p:cNvSpPr txBox="true"/>
            <p:nvPr/>
          </p:nvSpPr>
          <p:spPr>
            <a:xfrm>
              <a:off x="0" y="-9525"/>
              <a:ext cx="10972800" cy="750570"/>
            </a:xfrm>
            <a:prstGeom prst="rect">
              <a:avLst/>
            </a:prstGeom>
          </p:spPr>
          <p:txBody>
            <a:bodyPr anchor="ctr" rtlCol="false" tIns="0" lIns="0" bIns="0" rIns="0"/>
            <a:lstStyle/>
            <a:p>
              <a:pPr algn="l">
                <a:lnSpc>
                  <a:spcPts val="2879"/>
                </a:lnSpc>
              </a:pPr>
              <a:r>
                <a:rPr lang="en-US" sz="2400" b="true">
                  <a:solidFill>
                    <a:srgbClr val="1E2761"/>
                  </a:solidFill>
                  <a:latin typeface="Cambria Bold"/>
                  <a:ea typeface="Cambria Bold"/>
                  <a:cs typeface="Cambria Bold"/>
                  <a:sym typeface="Cambria Bold"/>
                </a:rPr>
                <a:t>Three Algorithms Compared</a:t>
              </a:r>
            </a:p>
          </p:txBody>
        </p:sp>
      </p:grpSp>
      <p:grpSp>
        <p:nvGrpSpPr>
          <p:cNvPr name="Group 64" id="64"/>
          <p:cNvGrpSpPr/>
          <p:nvPr/>
        </p:nvGrpSpPr>
        <p:grpSpPr>
          <a:xfrm rot="0">
            <a:off x="822960" y="7475220"/>
            <a:ext cx="5349240" cy="1851660"/>
            <a:chOff x="0" y="0"/>
            <a:chExt cx="7132320" cy="2468880"/>
          </a:xfrm>
        </p:grpSpPr>
        <p:sp>
          <p:nvSpPr>
            <p:cNvPr name="Freeform 65" id="65"/>
            <p:cNvSpPr/>
            <p:nvPr/>
          </p:nvSpPr>
          <p:spPr>
            <a:xfrm flipH="false" flipV="false" rot="0">
              <a:off x="0" y="0"/>
              <a:ext cx="7132320" cy="2468880"/>
            </a:xfrm>
            <a:custGeom>
              <a:avLst/>
              <a:gdLst/>
              <a:ahLst/>
              <a:cxnLst/>
              <a:rect r="r" b="b" t="t" l="l"/>
              <a:pathLst>
                <a:path h="2468880" w="7132320">
                  <a:moveTo>
                    <a:pt x="0" y="146304"/>
                  </a:moveTo>
                  <a:cubicBezTo>
                    <a:pt x="0" y="65532"/>
                    <a:pt x="65532" y="0"/>
                    <a:pt x="146304" y="0"/>
                  </a:cubicBezTo>
                  <a:lnTo>
                    <a:pt x="6986016" y="0"/>
                  </a:lnTo>
                  <a:cubicBezTo>
                    <a:pt x="7066788" y="0"/>
                    <a:pt x="7132320" y="65532"/>
                    <a:pt x="7132320" y="146304"/>
                  </a:cubicBezTo>
                  <a:lnTo>
                    <a:pt x="7132320" y="2322576"/>
                  </a:lnTo>
                  <a:cubicBezTo>
                    <a:pt x="7132320" y="2403348"/>
                    <a:pt x="7066788" y="2468880"/>
                    <a:pt x="6986016" y="2468880"/>
                  </a:cubicBezTo>
                  <a:lnTo>
                    <a:pt x="146304" y="2468880"/>
                  </a:lnTo>
                  <a:cubicBezTo>
                    <a:pt x="65532" y="2468880"/>
                    <a:pt x="0" y="2403348"/>
                    <a:pt x="0" y="2322576"/>
                  </a:cubicBezTo>
                  <a:close/>
                </a:path>
              </a:pathLst>
            </a:custGeom>
            <a:solidFill>
              <a:srgbClr val="F7F9FC"/>
            </a:solidFill>
          </p:spPr>
        </p:sp>
      </p:grpSp>
      <p:grpSp>
        <p:nvGrpSpPr>
          <p:cNvPr name="Group 66" id="66"/>
          <p:cNvGrpSpPr/>
          <p:nvPr/>
        </p:nvGrpSpPr>
        <p:grpSpPr>
          <a:xfrm rot="0">
            <a:off x="1097280" y="7612380"/>
            <a:ext cx="4800600" cy="548640"/>
            <a:chOff x="0" y="0"/>
            <a:chExt cx="6400800" cy="731520"/>
          </a:xfrm>
        </p:grpSpPr>
        <p:sp>
          <p:nvSpPr>
            <p:cNvPr name="Freeform 67" id="67"/>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375" r="0" b="-120376"/>
              </a:stretch>
            </a:blipFill>
          </p:spPr>
        </p:sp>
      </p:grpSp>
      <p:grpSp>
        <p:nvGrpSpPr>
          <p:cNvPr name="Group 68" id="68"/>
          <p:cNvGrpSpPr/>
          <p:nvPr/>
        </p:nvGrpSpPr>
        <p:grpSpPr>
          <a:xfrm rot="0">
            <a:off x="1097280" y="7576661"/>
            <a:ext cx="4800600" cy="584359"/>
            <a:chOff x="0" y="0"/>
            <a:chExt cx="6400800" cy="779145"/>
          </a:xfrm>
        </p:grpSpPr>
        <p:sp>
          <p:nvSpPr>
            <p:cNvPr name="Freeform 69" id="69"/>
            <p:cNvSpPr/>
            <p:nvPr/>
          </p:nvSpPr>
          <p:spPr>
            <a:xfrm flipH="false" flipV="false" rot="0">
              <a:off x="0" y="0"/>
              <a:ext cx="6400800" cy="779145"/>
            </a:xfrm>
            <a:custGeom>
              <a:avLst/>
              <a:gdLst/>
              <a:ahLst/>
              <a:cxnLst/>
              <a:rect r="r" b="b" t="t" l="l"/>
              <a:pathLst>
                <a:path h="779145" w="6400800">
                  <a:moveTo>
                    <a:pt x="0" y="0"/>
                  </a:moveTo>
                  <a:lnTo>
                    <a:pt x="6400800" y="0"/>
                  </a:lnTo>
                  <a:lnTo>
                    <a:pt x="6400800" y="779145"/>
                  </a:lnTo>
                  <a:lnTo>
                    <a:pt x="0" y="779145"/>
                  </a:lnTo>
                  <a:close/>
                </a:path>
              </a:pathLst>
            </a:custGeom>
            <a:blipFill>
              <a:blip r:embed="rId4">
                <a:alphaModFix amt="0"/>
              </a:blip>
              <a:stretch>
                <a:fillRect l="0" t="-110072" r="0" b="-110072"/>
              </a:stretch>
            </a:blipFill>
          </p:spPr>
        </p:sp>
        <p:sp>
          <p:nvSpPr>
            <p:cNvPr name="TextBox 70" id="70"/>
            <p:cNvSpPr txBox="true"/>
            <p:nvPr/>
          </p:nvSpPr>
          <p:spPr>
            <a:xfrm>
              <a:off x="0" y="-47625"/>
              <a:ext cx="6400800" cy="82677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Logistic Regression</a:t>
              </a:r>
            </a:p>
          </p:txBody>
        </p:sp>
      </p:grpSp>
      <p:grpSp>
        <p:nvGrpSpPr>
          <p:cNvPr name="Group 71" id="71"/>
          <p:cNvGrpSpPr/>
          <p:nvPr/>
        </p:nvGrpSpPr>
        <p:grpSpPr>
          <a:xfrm rot="0">
            <a:off x="1097280" y="8161020"/>
            <a:ext cx="4800600" cy="1028700"/>
            <a:chOff x="0" y="0"/>
            <a:chExt cx="6400800" cy="1371600"/>
          </a:xfrm>
        </p:grpSpPr>
        <p:sp>
          <p:nvSpPr>
            <p:cNvPr name="Freeform 72" id="72"/>
            <p:cNvSpPr/>
            <p:nvPr/>
          </p:nvSpPr>
          <p:spPr>
            <a:xfrm flipH="false" flipV="false" rot="0">
              <a:off x="0" y="0"/>
              <a:ext cx="6400800" cy="1371600"/>
            </a:xfrm>
            <a:custGeom>
              <a:avLst/>
              <a:gdLst/>
              <a:ahLst/>
              <a:cxnLst/>
              <a:rect r="r" b="b" t="t" l="l"/>
              <a:pathLst>
                <a:path h="1371600" w="6400800">
                  <a:moveTo>
                    <a:pt x="0" y="0"/>
                  </a:moveTo>
                  <a:lnTo>
                    <a:pt x="6400800" y="0"/>
                  </a:lnTo>
                  <a:lnTo>
                    <a:pt x="6400800" y="1371600"/>
                  </a:lnTo>
                  <a:lnTo>
                    <a:pt x="0" y="1371600"/>
                  </a:lnTo>
                  <a:close/>
                </a:path>
              </a:pathLst>
            </a:custGeom>
            <a:blipFill>
              <a:blip r:embed="rId3">
                <a:alphaModFix amt="0"/>
              </a:blip>
              <a:stretch>
                <a:fillRect l="0" t="-40866" r="0" b="-40867"/>
              </a:stretch>
            </a:blipFill>
          </p:spPr>
        </p:sp>
      </p:grpSp>
      <p:grpSp>
        <p:nvGrpSpPr>
          <p:cNvPr name="Group 73" id="73"/>
          <p:cNvGrpSpPr/>
          <p:nvPr/>
        </p:nvGrpSpPr>
        <p:grpSpPr>
          <a:xfrm rot="0">
            <a:off x="1097280" y="8132445"/>
            <a:ext cx="4800600" cy="1057275"/>
            <a:chOff x="0" y="0"/>
            <a:chExt cx="6400800" cy="1409700"/>
          </a:xfrm>
        </p:grpSpPr>
        <p:sp>
          <p:nvSpPr>
            <p:cNvPr name="Freeform 74" id="74"/>
            <p:cNvSpPr/>
            <p:nvPr/>
          </p:nvSpPr>
          <p:spPr>
            <a:xfrm flipH="false" flipV="false" rot="0">
              <a:off x="0" y="0"/>
              <a:ext cx="6400800" cy="1409700"/>
            </a:xfrm>
            <a:custGeom>
              <a:avLst/>
              <a:gdLst/>
              <a:ahLst/>
              <a:cxnLst/>
              <a:rect r="r" b="b" t="t" l="l"/>
              <a:pathLst>
                <a:path h="1409700" w="6400800">
                  <a:moveTo>
                    <a:pt x="0" y="0"/>
                  </a:moveTo>
                  <a:lnTo>
                    <a:pt x="6400800" y="0"/>
                  </a:lnTo>
                  <a:lnTo>
                    <a:pt x="6400800" y="1409700"/>
                  </a:lnTo>
                  <a:lnTo>
                    <a:pt x="0" y="1409700"/>
                  </a:lnTo>
                  <a:close/>
                </a:path>
              </a:pathLst>
            </a:custGeom>
            <a:blipFill>
              <a:blip r:embed="rId4">
                <a:alphaModFix amt="0"/>
              </a:blip>
              <a:stretch>
                <a:fillRect l="0" t="-38472" r="0" b="-38472"/>
              </a:stretch>
            </a:blipFill>
          </p:spPr>
        </p:sp>
        <p:sp>
          <p:nvSpPr>
            <p:cNvPr name="TextBox 75" id="75"/>
            <p:cNvSpPr txBox="true"/>
            <p:nvPr/>
          </p:nvSpPr>
          <p:spPr>
            <a:xfrm>
              <a:off x="0" y="-38100"/>
              <a:ext cx="6400800" cy="144780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Sigmoid-based probability model; efficient &amp; interpretable</a:t>
              </a:r>
            </a:p>
          </p:txBody>
        </p:sp>
      </p:grpSp>
      <p:grpSp>
        <p:nvGrpSpPr>
          <p:cNvPr name="Group 76" id="76"/>
          <p:cNvGrpSpPr/>
          <p:nvPr/>
        </p:nvGrpSpPr>
        <p:grpSpPr>
          <a:xfrm rot="0">
            <a:off x="6515100" y="7475220"/>
            <a:ext cx="5349240" cy="1851660"/>
            <a:chOff x="0" y="0"/>
            <a:chExt cx="7132320" cy="2468880"/>
          </a:xfrm>
        </p:grpSpPr>
        <p:sp>
          <p:nvSpPr>
            <p:cNvPr name="Freeform 77" id="77"/>
            <p:cNvSpPr/>
            <p:nvPr/>
          </p:nvSpPr>
          <p:spPr>
            <a:xfrm flipH="false" flipV="false" rot="0">
              <a:off x="0" y="0"/>
              <a:ext cx="7132320" cy="2468880"/>
            </a:xfrm>
            <a:custGeom>
              <a:avLst/>
              <a:gdLst/>
              <a:ahLst/>
              <a:cxnLst/>
              <a:rect r="r" b="b" t="t" l="l"/>
              <a:pathLst>
                <a:path h="2468880" w="7132320">
                  <a:moveTo>
                    <a:pt x="0" y="146304"/>
                  </a:moveTo>
                  <a:cubicBezTo>
                    <a:pt x="0" y="65532"/>
                    <a:pt x="65532" y="0"/>
                    <a:pt x="146304" y="0"/>
                  </a:cubicBezTo>
                  <a:lnTo>
                    <a:pt x="6986016" y="0"/>
                  </a:lnTo>
                  <a:cubicBezTo>
                    <a:pt x="7066788" y="0"/>
                    <a:pt x="7132320" y="65532"/>
                    <a:pt x="7132320" y="146304"/>
                  </a:cubicBezTo>
                  <a:lnTo>
                    <a:pt x="7132320" y="2322576"/>
                  </a:lnTo>
                  <a:cubicBezTo>
                    <a:pt x="7132320" y="2403348"/>
                    <a:pt x="7066788" y="2468880"/>
                    <a:pt x="6986016" y="2468880"/>
                  </a:cubicBezTo>
                  <a:lnTo>
                    <a:pt x="146304" y="2468880"/>
                  </a:lnTo>
                  <a:cubicBezTo>
                    <a:pt x="65532" y="2468880"/>
                    <a:pt x="0" y="2403348"/>
                    <a:pt x="0" y="2322576"/>
                  </a:cubicBezTo>
                  <a:close/>
                </a:path>
              </a:pathLst>
            </a:custGeom>
            <a:solidFill>
              <a:srgbClr val="F7F9FC"/>
            </a:solidFill>
          </p:spPr>
        </p:sp>
      </p:grpSp>
      <p:grpSp>
        <p:nvGrpSpPr>
          <p:cNvPr name="Group 78" id="78"/>
          <p:cNvGrpSpPr/>
          <p:nvPr/>
        </p:nvGrpSpPr>
        <p:grpSpPr>
          <a:xfrm rot="0">
            <a:off x="6789420" y="7612380"/>
            <a:ext cx="4800600" cy="548640"/>
            <a:chOff x="0" y="0"/>
            <a:chExt cx="6400800" cy="731520"/>
          </a:xfrm>
        </p:grpSpPr>
        <p:sp>
          <p:nvSpPr>
            <p:cNvPr name="Freeform 79" id="79"/>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375" r="0" b="-120376"/>
              </a:stretch>
            </a:blipFill>
          </p:spPr>
        </p:sp>
      </p:grpSp>
      <p:grpSp>
        <p:nvGrpSpPr>
          <p:cNvPr name="Group 80" id="80"/>
          <p:cNvGrpSpPr/>
          <p:nvPr/>
        </p:nvGrpSpPr>
        <p:grpSpPr>
          <a:xfrm rot="0">
            <a:off x="6789420" y="7576661"/>
            <a:ext cx="4800600" cy="584359"/>
            <a:chOff x="0" y="0"/>
            <a:chExt cx="6400800" cy="779145"/>
          </a:xfrm>
        </p:grpSpPr>
        <p:sp>
          <p:nvSpPr>
            <p:cNvPr name="Freeform 81" id="81"/>
            <p:cNvSpPr/>
            <p:nvPr/>
          </p:nvSpPr>
          <p:spPr>
            <a:xfrm flipH="false" flipV="false" rot="0">
              <a:off x="0" y="0"/>
              <a:ext cx="6400800" cy="779145"/>
            </a:xfrm>
            <a:custGeom>
              <a:avLst/>
              <a:gdLst/>
              <a:ahLst/>
              <a:cxnLst/>
              <a:rect r="r" b="b" t="t" l="l"/>
              <a:pathLst>
                <a:path h="779145" w="6400800">
                  <a:moveTo>
                    <a:pt x="0" y="0"/>
                  </a:moveTo>
                  <a:lnTo>
                    <a:pt x="6400800" y="0"/>
                  </a:lnTo>
                  <a:lnTo>
                    <a:pt x="6400800" y="779145"/>
                  </a:lnTo>
                  <a:lnTo>
                    <a:pt x="0" y="779145"/>
                  </a:lnTo>
                  <a:close/>
                </a:path>
              </a:pathLst>
            </a:custGeom>
            <a:blipFill>
              <a:blip r:embed="rId4">
                <a:alphaModFix amt="0"/>
              </a:blip>
              <a:stretch>
                <a:fillRect l="0" t="-110072" r="0" b="-110072"/>
              </a:stretch>
            </a:blipFill>
          </p:spPr>
        </p:sp>
        <p:sp>
          <p:nvSpPr>
            <p:cNvPr name="TextBox 82" id="82"/>
            <p:cNvSpPr txBox="true"/>
            <p:nvPr/>
          </p:nvSpPr>
          <p:spPr>
            <a:xfrm>
              <a:off x="0" y="-47625"/>
              <a:ext cx="6400800" cy="82677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Random Forest</a:t>
              </a:r>
            </a:p>
          </p:txBody>
        </p:sp>
      </p:grpSp>
      <p:grpSp>
        <p:nvGrpSpPr>
          <p:cNvPr name="Group 83" id="83"/>
          <p:cNvGrpSpPr/>
          <p:nvPr/>
        </p:nvGrpSpPr>
        <p:grpSpPr>
          <a:xfrm rot="0">
            <a:off x="6789420" y="8161020"/>
            <a:ext cx="4800600" cy="1028700"/>
            <a:chOff x="0" y="0"/>
            <a:chExt cx="6400800" cy="1371600"/>
          </a:xfrm>
        </p:grpSpPr>
        <p:sp>
          <p:nvSpPr>
            <p:cNvPr name="Freeform 84" id="84"/>
            <p:cNvSpPr/>
            <p:nvPr/>
          </p:nvSpPr>
          <p:spPr>
            <a:xfrm flipH="false" flipV="false" rot="0">
              <a:off x="0" y="0"/>
              <a:ext cx="6400800" cy="1371600"/>
            </a:xfrm>
            <a:custGeom>
              <a:avLst/>
              <a:gdLst/>
              <a:ahLst/>
              <a:cxnLst/>
              <a:rect r="r" b="b" t="t" l="l"/>
              <a:pathLst>
                <a:path h="1371600" w="6400800">
                  <a:moveTo>
                    <a:pt x="0" y="0"/>
                  </a:moveTo>
                  <a:lnTo>
                    <a:pt x="6400800" y="0"/>
                  </a:lnTo>
                  <a:lnTo>
                    <a:pt x="6400800" y="1371600"/>
                  </a:lnTo>
                  <a:lnTo>
                    <a:pt x="0" y="1371600"/>
                  </a:lnTo>
                  <a:close/>
                </a:path>
              </a:pathLst>
            </a:custGeom>
            <a:blipFill>
              <a:blip r:embed="rId3">
                <a:alphaModFix amt="0"/>
              </a:blip>
              <a:stretch>
                <a:fillRect l="0" t="-40866" r="0" b="-40867"/>
              </a:stretch>
            </a:blipFill>
          </p:spPr>
        </p:sp>
      </p:grpSp>
      <p:grpSp>
        <p:nvGrpSpPr>
          <p:cNvPr name="Group 85" id="85"/>
          <p:cNvGrpSpPr/>
          <p:nvPr/>
        </p:nvGrpSpPr>
        <p:grpSpPr>
          <a:xfrm rot="0">
            <a:off x="6789420" y="8132445"/>
            <a:ext cx="4800600" cy="1057275"/>
            <a:chOff x="0" y="0"/>
            <a:chExt cx="6400800" cy="1409700"/>
          </a:xfrm>
        </p:grpSpPr>
        <p:sp>
          <p:nvSpPr>
            <p:cNvPr name="Freeform 86" id="86"/>
            <p:cNvSpPr/>
            <p:nvPr/>
          </p:nvSpPr>
          <p:spPr>
            <a:xfrm flipH="false" flipV="false" rot="0">
              <a:off x="0" y="0"/>
              <a:ext cx="6400800" cy="1409700"/>
            </a:xfrm>
            <a:custGeom>
              <a:avLst/>
              <a:gdLst/>
              <a:ahLst/>
              <a:cxnLst/>
              <a:rect r="r" b="b" t="t" l="l"/>
              <a:pathLst>
                <a:path h="1409700" w="6400800">
                  <a:moveTo>
                    <a:pt x="0" y="0"/>
                  </a:moveTo>
                  <a:lnTo>
                    <a:pt x="6400800" y="0"/>
                  </a:lnTo>
                  <a:lnTo>
                    <a:pt x="6400800" y="1409700"/>
                  </a:lnTo>
                  <a:lnTo>
                    <a:pt x="0" y="1409700"/>
                  </a:lnTo>
                  <a:close/>
                </a:path>
              </a:pathLst>
            </a:custGeom>
            <a:blipFill>
              <a:blip r:embed="rId4">
                <a:alphaModFix amt="0"/>
              </a:blip>
              <a:stretch>
                <a:fillRect l="0" t="-38472" r="0" b="-38472"/>
              </a:stretch>
            </a:blipFill>
          </p:spPr>
        </p:sp>
        <p:sp>
          <p:nvSpPr>
            <p:cNvPr name="TextBox 87" id="87"/>
            <p:cNvSpPr txBox="true"/>
            <p:nvPr/>
          </p:nvSpPr>
          <p:spPr>
            <a:xfrm>
              <a:off x="0" y="-38100"/>
              <a:ext cx="6400800" cy="144780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Ensemble of decision trees; robust to overfitting</a:t>
              </a:r>
            </a:p>
          </p:txBody>
        </p:sp>
      </p:grpSp>
      <p:grpSp>
        <p:nvGrpSpPr>
          <p:cNvPr name="Group 88" id="88"/>
          <p:cNvGrpSpPr/>
          <p:nvPr/>
        </p:nvGrpSpPr>
        <p:grpSpPr>
          <a:xfrm rot="0">
            <a:off x="12207240" y="7475220"/>
            <a:ext cx="5349240" cy="1851660"/>
            <a:chOff x="0" y="0"/>
            <a:chExt cx="7132320" cy="2468880"/>
          </a:xfrm>
        </p:grpSpPr>
        <p:sp>
          <p:nvSpPr>
            <p:cNvPr name="Freeform 89" id="89"/>
            <p:cNvSpPr/>
            <p:nvPr/>
          </p:nvSpPr>
          <p:spPr>
            <a:xfrm flipH="false" flipV="false" rot="0">
              <a:off x="0" y="0"/>
              <a:ext cx="7132320" cy="2468880"/>
            </a:xfrm>
            <a:custGeom>
              <a:avLst/>
              <a:gdLst/>
              <a:ahLst/>
              <a:cxnLst/>
              <a:rect r="r" b="b" t="t" l="l"/>
              <a:pathLst>
                <a:path h="2468880" w="7132320">
                  <a:moveTo>
                    <a:pt x="0" y="146304"/>
                  </a:moveTo>
                  <a:cubicBezTo>
                    <a:pt x="0" y="65532"/>
                    <a:pt x="65532" y="0"/>
                    <a:pt x="146304" y="0"/>
                  </a:cubicBezTo>
                  <a:lnTo>
                    <a:pt x="6986016" y="0"/>
                  </a:lnTo>
                  <a:cubicBezTo>
                    <a:pt x="7066788" y="0"/>
                    <a:pt x="7132320" y="65532"/>
                    <a:pt x="7132320" y="146304"/>
                  </a:cubicBezTo>
                  <a:lnTo>
                    <a:pt x="7132320" y="2322576"/>
                  </a:lnTo>
                  <a:cubicBezTo>
                    <a:pt x="7132320" y="2403348"/>
                    <a:pt x="7066788" y="2468880"/>
                    <a:pt x="6986016" y="2468880"/>
                  </a:cubicBezTo>
                  <a:lnTo>
                    <a:pt x="146304" y="2468880"/>
                  </a:lnTo>
                  <a:cubicBezTo>
                    <a:pt x="65532" y="2468880"/>
                    <a:pt x="0" y="2403348"/>
                    <a:pt x="0" y="2322576"/>
                  </a:cubicBezTo>
                  <a:close/>
                </a:path>
              </a:pathLst>
            </a:custGeom>
            <a:solidFill>
              <a:srgbClr val="F7F9FC"/>
            </a:solidFill>
          </p:spPr>
        </p:sp>
      </p:grpSp>
      <p:grpSp>
        <p:nvGrpSpPr>
          <p:cNvPr name="Group 90" id="90"/>
          <p:cNvGrpSpPr/>
          <p:nvPr/>
        </p:nvGrpSpPr>
        <p:grpSpPr>
          <a:xfrm rot="0">
            <a:off x="12481560" y="7612380"/>
            <a:ext cx="4800600" cy="548640"/>
            <a:chOff x="0" y="0"/>
            <a:chExt cx="6400800" cy="731520"/>
          </a:xfrm>
        </p:grpSpPr>
        <p:sp>
          <p:nvSpPr>
            <p:cNvPr name="Freeform 91" id="91"/>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375" r="0" b="-120376"/>
              </a:stretch>
            </a:blipFill>
          </p:spPr>
        </p:sp>
      </p:grpSp>
      <p:grpSp>
        <p:nvGrpSpPr>
          <p:cNvPr name="Group 92" id="92"/>
          <p:cNvGrpSpPr/>
          <p:nvPr/>
        </p:nvGrpSpPr>
        <p:grpSpPr>
          <a:xfrm rot="0">
            <a:off x="12481560" y="7576661"/>
            <a:ext cx="4800600" cy="584359"/>
            <a:chOff x="0" y="0"/>
            <a:chExt cx="6400800" cy="779145"/>
          </a:xfrm>
        </p:grpSpPr>
        <p:sp>
          <p:nvSpPr>
            <p:cNvPr name="Freeform 93" id="93"/>
            <p:cNvSpPr/>
            <p:nvPr/>
          </p:nvSpPr>
          <p:spPr>
            <a:xfrm flipH="false" flipV="false" rot="0">
              <a:off x="0" y="0"/>
              <a:ext cx="6400800" cy="779145"/>
            </a:xfrm>
            <a:custGeom>
              <a:avLst/>
              <a:gdLst/>
              <a:ahLst/>
              <a:cxnLst/>
              <a:rect r="r" b="b" t="t" l="l"/>
              <a:pathLst>
                <a:path h="779145" w="6400800">
                  <a:moveTo>
                    <a:pt x="0" y="0"/>
                  </a:moveTo>
                  <a:lnTo>
                    <a:pt x="6400800" y="0"/>
                  </a:lnTo>
                  <a:lnTo>
                    <a:pt x="6400800" y="779145"/>
                  </a:lnTo>
                  <a:lnTo>
                    <a:pt x="0" y="779145"/>
                  </a:lnTo>
                  <a:close/>
                </a:path>
              </a:pathLst>
            </a:custGeom>
            <a:blipFill>
              <a:blip r:embed="rId4">
                <a:alphaModFix amt="0"/>
              </a:blip>
              <a:stretch>
                <a:fillRect l="0" t="-110072" r="0" b="-110072"/>
              </a:stretch>
            </a:blipFill>
          </p:spPr>
        </p:sp>
        <p:sp>
          <p:nvSpPr>
            <p:cNvPr name="TextBox 94" id="94"/>
            <p:cNvSpPr txBox="true"/>
            <p:nvPr/>
          </p:nvSpPr>
          <p:spPr>
            <a:xfrm>
              <a:off x="0" y="-47625"/>
              <a:ext cx="6400800" cy="82677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XGBoost</a:t>
              </a:r>
            </a:p>
          </p:txBody>
        </p:sp>
      </p:grpSp>
      <p:grpSp>
        <p:nvGrpSpPr>
          <p:cNvPr name="Group 95" id="95"/>
          <p:cNvGrpSpPr/>
          <p:nvPr/>
        </p:nvGrpSpPr>
        <p:grpSpPr>
          <a:xfrm rot="0">
            <a:off x="12481560" y="8161020"/>
            <a:ext cx="4800600" cy="1028700"/>
            <a:chOff x="0" y="0"/>
            <a:chExt cx="6400800" cy="1371600"/>
          </a:xfrm>
        </p:grpSpPr>
        <p:sp>
          <p:nvSpPr>
            <p:cNvPr name="Freeform 96" id="96"/>
            <p:cNvSpPr/>
            <p:nvPr/>
          </p:nvSpPr>
          <p:spPr>
            <a:xfrm flipH="false" flipV="false" rot="0">
              <a:off x="0" y="0"/>
              <a:ext cx="6400800" cy="1371600"/>
            </a:xfrm>
            <a:custGeom>
              <a:avLst/>
              <a:gdLst/>
              <a:ahLst/>
              <a:cxnLst/>
              <a:rect r="r" b="b" t="t" l="l"/>
              <a:pathLst>
                <a:path h="1371600" w="6400800">
                  <a:moveTo>
                    <a:pt x="0" y="0"/>
                  </a:moveTo>
                  <a:lnTo>
                    <a:pt x="6400800" y="0"/>
                  </a:lnTo>
                  <a:lnTo>
                    <a:pt x="6400800" y="1371600"/>
                  </a:lnTo>
                  <a:lnTo>
                    <a:pt x="0" y="1371600"/>
                  </a:lnTo>
                  <a:close/>
                </a:path>
              </a:pathLst>
            </a:custGeom>
            <a:blipFill>
              <a:blip r:embed="rId3">
                <a:alphaModFix amt="0"/>
              </a:blip>
              <a:stretch>
                <a:fillRect l="0" t="-40866" r="0" b="-40867"/>
              </a:stretch>
            </a:blipFill>
          </p:spPr>
        </p:sp>
      </p:grpSp>
      <p:grpSp>
        <p:nvGrpSpPr>
          <p:cNvPr name="Group 97" id="97"/>
          <p:cNvGrpSpPr/>
          <p:nvPr/>
        </p:nvGrpSpPr>
        <p:grpSpPr>
          <a:xfrm rot="0">
            <a:off x="12481560" y="8132445"/>
            <a:ext cx="4800600" cy="1057275"/>
            <a:chOff x="0" y="0"/>
            <a:chExt cx="6400800" cy="1409700"/>
          </a:xfrm>
        </p:grpSpPr>
        <p:sp>
          <p:nvSpPr>
            <p:cNvPr name="Freeform 98" id="98"/>
            <p:cNvSpPr/>
            <p:nvPr/>
          </p:nvSpPr>
          <p:spPr>
            <a:xfrm flipH="false" flipV="false" rot="0">
              <a:off x="0" y="0"/>
              <a:ext cx="6400800" cy="1409700"/>
            </a:xfrm>
            <a:custGeom>
              <a:avLst/>
              <a:gdLst/>
              <a:ahLst/>
              <a:cxnLst/>
              <a:rect r="r" b="b" t="t" l="l"/>
              <a:pathLst>
                <a:path h="1409700" w="6400800">
                  <a:moveTo>
                    <a:pt x="0" y="0"/>
                  </a:moveTo>
                  <a:lnTo>
                    <a:pt x="6400800" y="0"/>
                  </a:lnTo>
                  <a:lnTo>
                    <a:pt x="6400800" y="1409700"/>
                  </a:lnTo>
                  <a:lnTo>
                    <a:pt x="0" y="1409700"/>
                  </a:lnTo>
                  <a:close/>
                </a:path>
              </a:pathLst>
            </a:custGeom>
            <a:blipFill>
              <a:blip r:embed="rId4">
                <a:alphaModFix amt="0"/>
              </a:blip>
              <a:stretch>
                <a:fillRect l="0" t="-38472" r="0" b="-38472"/>
              </a:stretch>
            </a:blipFill>
          </p:spPr>
        </p:sp>
        <p:sp>
          <p:nvSpPr>
            <p:cNvPr name="TextBox 99" id="99"/>
            <p:cNvSpPr txBox="true"/>
            <p:nvPr/>
          </p:nvSpPr>
          <p:spPr>
            <a:xfrm>
              <a:off x="0" y="-38100"/>
              <a:ext cx="6400800" cy="144780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Sequential boosted trees with regularization</a:t>
              </a:r>
            </a:p>
          </p:txBody>
        </p:sp>
      </p:grpSp>
      <p:grpSp>
        <p:nvGrpSpPr>
          <p:cNvPr name="Group 100" id="100"/>
          <p:cNvGrpSpPr/>
          <p:nvPr/>
        </p:nvGrpSpPr>
        <p:grpSpPr>
          <a:xfrm rot="0">
            <a:off x="685800" y="9738360"/>
            <a:ext cx="8229600" cy="411480"/>
            <a:chOff x="0" y="0"/>
            <a:chExt cx="10972800" cy="548640"/>
          </a:xfrm>
        </p:grpSpPr>
        <p:sp>
          <p:nvSpPr>
            <p:cNvPr name="Freeform 101" id="10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102" id="102"/>
          <p:cNvGrpSpPr/>
          <p:nvPr/>
        </p:nvGrpSpPr>
        <p:grpSpPr>
          <a:xfrm rot="0">
            <a:off x="685800" y="9716929"/>
            <a:ext cx="8229600" cy="432911"/>
            <a:chOff x="0" y="0"/>
            <a:chExt cx="10972800" cy="577215"/>
          </a:xfrm>
        </p:grpSpPr>
        <p:sp>
          <p:nvSpPr>
            <p:cNvPr name="Freeform 103" id="103"/>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104" id="104"/>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105" id="105"/>
          <p:cNvGrpSpPr/>
          <p:nvPr/>
        </p:nvGrpSpPr>
        <p:grpSpPr>
          <a:xfrm rot="0">
            <a:off x="16870680" y="9738360"/>
            <a:ext cx="685800" cy="411480"/>
            <a:chOff x="0" y="0"/>
            <a:chExt cx="914400" cy="548640"/>
          </a:xfrm>
        </p:grpSpPr>
        <p:sp>
          <p:nvSpPr>
            <p:cNvPr name="Freeform 106" id="10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107" id="107"/>
          <p:cNvGrpSpPr/>
          <p:nvPr/>
        </p:nvGrpSpPr>
        <p:grpSpPr>
          <a:xfrm rot="0">
            <a:off x="16870680" y="9716929"/>
            <a:ext cx="685800" cy="432911"/>
            <a:chOff x="0" y="0"/>
            <a:chExt cx="914400" cy="577215"/>
          </a:xfrm>
        </p:grpSpPr>
        <p:sp>
          <p:nvSpPr>
            <p:cNvPr name="Freeform 108" id="108"/>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109" id="109"/>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IMPLEMENTATION</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Exploratory Data Analysis — Key Insights</a:t>
              </a:r>
            </a:p>
          </p:txBody>
        </p:sp>
      </p:grpSp>
      <p:grpSp>
        <p:nvGrpSpPr>
          <p:cNvPr name="Group 12" id="12"/>
          <p:cNvGrpSpPr/>
          <p:nvPr/>
        </p:nvGrpSpPr>
        <p:grpSpPr>
          <a:xfrm rot="0">
            <a:off x="233172" y="2016252"/>
            <a:ext cx="7077456" cy="6117336"/>
            <a:chOff x="0" y="0"/>
            <a:chExt cx="9436608" cy="8156448"/>
          </a:xfrm>
        </p:grpSpPr>
        <p:sp>
          <p:nvSpPr>
            <p:cNvPr name="Freeform 13" id="13"/>
            <p:cNvSpPr/>
            <p:nvPr/>
          </p:nvSpPr>
          <p:spPr>
            <a:xfrm flipH="false" flipV="false" rot="0">
              <a:off x="0" y="0"/>
              <a:ext cx="9436608" cy="8156448"/>
            </a:xfrm>
            <a:custGeom>
              <a:avLst/>
              <a:gdLst/>
              <a:ahLst/>
              <a:cxnLst/>
              <a:rect r="r" b="b" t="t" l="l"/>
              <a:pathLst>
                <a:path h="8156448" w="9436608">
                  <a:moveTo>
                    <a:pt x="0" y="0"/>
                  </a:moveTo>
                  <a:lnTo>
                    <a:pt x="9436608" y="0"/>
                  </a:lnTo>
                  <a:lnTo>
                    <a:pt x="9436608" y="8156448"/>
                  </a:lnTo>
                  <a:lnTo>
                    <a:pt x="0" y="8156448"/>
                  </a:lnTo>
                  <a:lnTo>
                    <a:pt x="0" y="0"/>
                  </a:lnTo>
                  <a:close/>
                </a:path>
              </a:pathLst>
            </a:custGeom>
            <a:blipFill>
              <a:blip r:embed="rId5"/>
              <a:stretch>
                <a:fillRect l="-16" t="0" r="-16" b="0"/>
              </a:stretch>
            </a:blipFill>
          </p:spPr>
        </p:sp>
      </p:grpSp>
      <p:grpSp>
        <p:nvGrpSpPr>
          <p:cNvPr name="Group 14" id="14"/>
          <p:cNvGrpSpPr/>
          <p:nvPr/>
        </p:nvGrpSpPr>
        <p:grpSpPr>
          <a:xfrm rot="0">
            <a:off x="7269480" y="2606040"/>
            <a:ext cx="521208" cy="521208"/>
            <a:chOff x="0" y="0"/>
            <a:chExt cx="694944" cy="694944"/>
          </a:xfrm>
        </p:grpSpPr>
        <p:sp>
          <p:nvSpPr>
            <p:cNvPr name="Freeform 15" id="15"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6"/>
              <a:stretch>
                <a:fillRect l="0" t="0" r="0" b="0"/>
              </a:stretch>
            </a:blipFill>
          </p:spPr>
        </p:sp>
      </p:grpSp>
      <p:grpSp>
        <p:nvGrpSpPr>
          <p:cNvPr name="Group 16" id="16"/>
          <p:cNvGrpSpPr/>
          <p:nvPr/>
        </p:nvGrpSpPr>
        <p:grpSpPr>
          <a:xfrm rot="0">
            <a:off x="8023860" y="2564892"/>
            <a:ext cx="9052560" cy="480060"/>
            <a:chOff x="0" y="0"/>
            <a:chExt cx="12070080" cy="640080"/>
          </a:xfrm>
        </p:grpSpPr>
        <p:sp>
          <p:nvSpPr>
            <p:cNvPr name="Freeform 17" id="17"/>
            <p:cNvSpPr/>
            <p:nvPr/>
          </p:nvSpPr>
          <p:spPr>
            <a:xfrm flipH="false" flipV="false" rot="0">
              <a:off x="0" y="0"/>
              <a:ext cx="12070080" cy="640080"/>
            </a:xfrm>
            <a:custGeom>
              <a:avLst/>
              <a:gdLst/>
              <a:ahLst/>
              <a:cxnLst/>
              <a:rect r="r" b="b" t="t" l="l"/>
              <a:pathLst>
                <a:path h="640080" w="12070080">
                  <a:moveTo>
                    <a:pt x="0" y="0"/>
                  </a:moveTo>
                  <a:lnTo>
                    <a:pt x="12070080" y="0"/>
                  </a:lnTo>
                  <a:lnTo>
                    <a:pt x="12070080" y="640080"/>
                  </a:lnTo>
                  <a:lnTo>
                    <a:pt x="0" y="640080"/>
                  </a:lnTo>
                  <a:close/>
                </a:path>
              </a:pathLst>
            </a:custGeom>
            <a:blipFill>
              <a:blip r:embed="rId3">
                <a:alphaModFix amt="0"/>
              </a:blip>
              <a:stretch>
                <a:fillRect l="0" t="-317176" r="0" b="-317176"/>
              </a:stretch>
            </a:blipFill>
          </p:spPr>
        </p:sp>
      </p:grpSp>
      <p:grpSp>
        <p:nvGrpSpPr>
          <p:cNvPr name="Group 18" id="18"/>
          <p:cNvGrpSpPr/>
          <p:nvPr/>
        </p:nvGrpSpPr>
        <p:grpSpPr>
          <a:xfrm rot="0">
            <a:off x="8023860" y="2529173"/>
            <a:ext cx="9052560" cy="515779"/>
            <a:chOff x="0" y="0"/>
            <a:chExt cx="12070080" cy="687705"/>
          </a:xfrm>
        </p:grpSpPr>
        <p:sp>
          <p:nvSpPr>
            <p:cNvPr name="Freeform 19" id="19"/>
            <p:cNvSpPr/>
            <p:nvPr/>
          </p:nvSpPr>
          <p:spPr>
            <a:xfrm flipH="false" flipV="false" rot="0">
              <a:off x="0" y="0"/>
              <a:ext cx="12070080" cy="687705"/>
            </a:xfrm>
            <a:custGeom>
              <a:avLst/>
              <a:gdLst/>
              <a:ahLst/>
              <a:cxnLst/>
              <a:rect r="r" b="b" t="t" l="l"/>
              <a:pathLst>
                <a:path h="687705" w="12070080">
                  <a:moveTo>
                    <a:pt x="0" y="0"/>
                  </a:moveTo>
                  <a:lnTo>
                    <a:pt x="12070080" y="0"/>
                  </a:lnTo>
                  <a:lnTo>
                    <a:pt x="12070080" y="687705"/>
                  </a:lnTo>
                  <a:lnTo>
                    <a:pt x="0" y="687705"/>
                  </a:lnTo>
                  <a:close/>
                </a:path>
              </a:pathLst>
            </a:custGeom>
            <a:blipFill>
              <a:blip r:embed="rId4">
                <a:alphaModFix amt="0"/>
              </a:blip>
              <a:stretch>
                <a:fillRect l="0" t="-291986" r="0" b="-291986"/>
              </a:stretch>
            </a:blipFill>
          </p:spPr>
        </p:sp>
        <p:sp>
          <p:nvSpPr>
            <p:cNvPr name="TextBox 20" id="20"/>
            <p:cNvSpPr txBox="true"/>
            <p:nvPr/>
          </p:nvSpPr>
          <p:spPr>
            <a:xfrm>
              <a:off x="0" y="-47625"/>
              <a:ext cx="12070080" cy="73533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Credit History Dominates</a:t>
              </a:r>
            </a:p>
          </p:txBody>
        </p:sp>
      </p:grpSp>
      <p:grpSp>
        <p:nvGrpSpPr>
          <p:cNvPr name="Group 21" id="21"/>
          <p:cNvGrpSpPr/>
          <p:nvPr/>
        </p:nvGrpSpPr>
        <p:grpSpPr>
          <a:xfrm rot="0">
            <a:off x="8023860" y="3044952"/>
            <a:ext cx="9052560" cy="754380"/>
            <a:chOff x="0" y="0"/>
            <a:chExt cx="12070080" cy="1005840"/>
          </a:xfrm>
        </p:grpSpPr>
        <p:sp>
          <p:nvSpPr>
            <p:cNvPr name="Freeform 22" id="22"/>
            <p:cNvSpPr/>
            <p:nvPr/>
          </p:nvSpPr>
          <p:spPr>
            <a:xfrm flipH="false" flipV="false" rot="0">
              <a:off x="0" y="0"/>
              <a:ext cx="12070080" cy="1005840"/>
            </a:xfrm>
            <a:custGeom>
              <a:avLst/>
              <a:gdLst/>
              <a:ahLst/>
              <a:cxnLst/>
              <a:rect r="r" b="b" t="t" l="l"/>
              <a:pathLst>
                <a:path h="1005840" w="12070080">
                  <a:moveTo>
                    <a:pt x="0" y="0"/>
                  </a:moveTo>
                  <a:lnTo>
                    <a:pt x="12070080" y="0"/>
                  </a:lnTo>
                  <a:lnTo>
                    <a:pt x="12070080" y="1005840"/>
                  </a:lnTo>
                  <a:lnTo>
                    <a:pt x="0" y="1005840"/>
                  </a:lnTo>
                  <a:close/>
                </a:path>
              </a:pathLst>
            </a:custGeom>
            <a:blipFill>
              <a:blip r:embed="rId3">
                <a:alphaModFix amt="0"/>
              </a:blip>
              <a:stretch>
                <a:fillRect l="0" t="-183657" r="0" b="-183657"/>
              </a:stretch>
            </a:blipFill>
          </p:spPr>
        </p:sp>
      </p:grpSp>
      <p:grpSp>
        <p:nvGrpSpPr>
          <p:cNvPr name="Group 23" id="23"/>
          <p:cNvGrpSpPr/>
          <p:nvPr/>
        </p:nvGrpSpPr>
        <p:grpSpPr>
          <a:xfrm rot="0">
            <a:off x="8023860" y="3016377"/>
            <a:ext cx="9052560" cy="782955"/>
            <a:chOff x="0" y="0"/>
            <a:chExt cx="12070080" cy="1043940"/>
          </a:xfrm>
        </p:grpSpPr>
        <p:sp>
          <p:nvSpPr>
            <p:cNvPr name="Freeform 24" id="24"/>
            <p:cNvSpPr/>
            <p:nvPr/>
          </p:nvSpPr>
          <p:spPr>
            <a:xfrm flipH="false" flipV="false" rot="0">
              <a:off x="0" y="0"/>
              <a:ext cx="12070080" cy="1043940"/>
            </a:xfrm>
            <a:custGeom>
              <a:avLst/>
              <a:gdLst/>
              <a:ahLst/>
              <a:cxnLst/>
              <a:rect r="r" b="b" t="t" l="l"/>
              <a:pathLst>
                <a:path h="1043940" w="12070080">
                  <a:moveTo>
                    <a:pt x="0" y="0"/>
                  </a:moveTo>
                  <a:lnTo>
                    <a:pt x="12070080" y="0"/>
                  </a:lnTo>
                  <a:lnTo>
                    <a:pt x="12070080" y="1043940"/>
                  </a:lnTo>
                  <a:lnTo>
                    <a:pt x="0" y="1043940"/>
                  </a:lnTo>
                  <a:close/>
                </a:path>
              </a:pathLst>
            </a:custGeom>
            <a:blipFill>
              <a:blip r:embed="rId4">
                <a:alphaModFix amt="0"/>
              </a:blip>
              <a:stretch>
                <a:fillRect l="0" t="-175286" r="0" b="-175286"/>
              </a:stretch>
            </a:blipFill>
          </p:spPr>
        </p:sp>
        <p:sp>
          <p:nvSpPr>
            <p:cNvPr name="TextBox 25" id="25"/>
            <p:cNvSpPr txBox="true"/>
            <p:nvPr/>
          </p:nvSpPr>
          <p:spPr>
            <a:xfrm>
              <a:off x="0" y="-38100"/>
              <a:ext cx="12070080" cy="1082040"/>
            </a:xfrm>
            <a:prstGeom prst="rect">
              <a:avLst/>
            </a:prstGeom>
          </p:spPr>
          <p:txBody>
            <a:bodyPr anchor="ctr" rtlCol="false" tIns="0" lIns="0" bIns="0" rIns="0"/>
            <a:lstStyle/>
            <a:p>
              <a:pPr algn="l">
                <a:lnSpc>
                  <a:spcPts val="2160"/>
                </a:lnSpc>
              </a:pPr>
              <a:r>
                <a:rPr lang="en-US" sz="1800">
                  <a:solidFill>
                    <a:srgbClr val="44506B"/>
                  </a:solidFill>
                  <a:latin typeface="Calibri (MS)"/>
                  <a:ea typeface="Calibri (MS)"/>
                  <a:cs typeface="Calibri (MS)"/>
                  <a:sym typeface="Calibri (MS)"/>
                </a:rPr>
                <a:t>Strongest correlation with approval — 0.54; good-credit applicants show 79%+ approval rate</a:t>
              </a:r>
            </a:p>
          </p:txBody>
        </p:sp>
      </p:grpSp>
      <p:grpSp>
        <p:nvGrpSpPr>
          <p:cNvPr name="Group 26" id="26"/>
          <p:cNvGrpSpPr/>
          <p:nvPr/>
        </p:nvGrpSpPr>
        <p:grpSpPr>
          <a:xfrm rot="0">
            <a:off x="7269480" y="3950208"/>
            <a:ext cx="521208" cy="521208"/>
            <a:chOff x="0" y="0"/>
            <a:chExt cx="694944" cy="694944"/>
          </a:xfrm>
        </p:grpSpPr>
        <p:sp>
          <p:nvSpPr>
            <p:cNvPr name="Freeform 27" id="27"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6"/>
              <a:stretch>
                <a:fillRect l="0" t="0" r="0" b="0"/>
              </a:stretch>
            </a:blipFill>
          </p:spPr>
        </p:sp>
      </p:grpSp>
      <p:grpSp>
        <p:nvGrpSpPr>
          <p:cNvPr name="Group 28" id="28"/>
          <p:cNvGrpSpPr/>
          <p:nvPr/>
        </p:nvGrpSpPr>
        <p:grpSpPr>
          <a:xfrm rot="0">
            <a:off x="8023860" y="3909060"/>
            <a:ext cx="9052560" cy="480060"/>
            <a:chOff x="0" y="0"/>
            <a:chExt cx="12070080" cy="640080"/>
          </a:xfrm>
        </p:grpSpPr>
        <p:sp>
          <p:nvSpPr>
            <p:cNvPr name="Freeform 29" id="29"/>
            <p:cNvSpPr/>
            <p:nvPr/>
          </p:nvSpPr>
          <p:spPr>
            <a:xfrm flipH="false" flipV="false" rot="0">
              <a:off x="0" y="0"/>
              <a:ext cx="12070080" cy="640080"/>
            </a:xfrm>
            <a:custGeom>
              <a:avLst/>
              <a:gdLst/>
              <a:ahLst/>
              <a:cxnLst/>
              <a:rect r="r" b="b" t="t" l="l"/>
              <a:pathLst>
                <a:path h="640080" w="12070080">
                  <a:moveTo>
                    <a:pt x="0" y="0"/>
                  </a:moveTo>
                  <a:lnTo>
                    <a:pt x="12070080" y="0"/>
                  </a:lnTo>
                  <a:lnTo>
                    <a:pt x="12070080" y="640080"/>
                  </a:lnTo>
                  <a:lnTo>
                    <a:pt x="0" y="640080"/>
                  </a:lnTo>
                  <a:close/>
                </a:path>
              </a:pathLst>
            </a:custGeom>
            <a:blipFill>
              <a:blip r:embed="rId3">
                <a:alphaModFix amt="0"/>
              </a:blip>
              <a:stretch>
                <a:fillRect l="0" t="-317176" r="0" b="-317176"/>
              </a:stretch>
            </a:blipFill>
          </p:spPr>
        </p:sp>
      </p:grpSp>
      <p:grpSp>
        <p:nvGrpSpPr>
          <p:cNvPr name="Group 30" id="30"/>
          <p:cNvGrpSpPr/>
          <p:nvPr/>
        </p:nvGrpSpPr>
        <p:grpSpPr>
          <a:xfrm rot="0">
            <a:off x="8023860" y="3873341"/>
            <a:ext cx="9052560" cy="515779"/>
            <a:chOff x="0" y="0"/>
            <a:chExt cx="12070080" cy="687705"/>
          </a:xfrm>
        </p:grpSpPr>
        <p:sp>
          <p:nvSpPr>
            <p:cNvPr name="Freeform 31" id="31"/>
            <p:cNvSpPr/>
            <p:nvPr/>
          </p:nvSpPr>
          <p:spPr>
            <a:xfrm flipH="false" flipV="false" rot="0">
              <a:off x="0" y="0"/>
              <a:ext cx="12070080" cy="687705"/>
            </a:xfrm>
            <a:custGeom>
              <a:avLst/>
              <a:gdLst/>
              <a:ahLst/>
              <a:cxnLst/>
              <a:rect r="r" b="b" t="t" l="l"/>
              <a:pathLst>
                <a:path h="687705" w="12070080">
                  <a:moveTo>
                    <a:pt x="0" y="0"/>
                  </a:moveTo>
                  <a:lnTo>
                    <a:pt x="12070080" y="0"/>
                  </a:lnTo>
                  <a:lnTo>
                    <a:pt x="12070080" y="687705"/>
                  </a:lnTo>
                  <a:lnTo>
                    <a:pt x="0" y="687705"/>
                  </a:lnTo>
                  <a:close/>
                </a:path>
              </a:pathLst>
            </a:custGeom>
            <a:blipFill>
              <a:blip r:embed="rId4">
                <a:alphaModFix amt="0"/>
              </a:blip>
              <a:stretch>
                <a:fillRect l="0" t="-291986" r="0" b="-291986"/>
              </a:stretch>
            </a:blipFill>
          </p:spPr>
        </p:sp>
        <p:sp>
          <p:nvSpPr>
            <p:cNvPr name="TextBox 32" id="32"/>
            <p:cNvSpPr txBox="true"/>
            <p:nvPr/>
          </p:nvSpPr>
          <p:spPr>
            <a:xfrm>
              <a:off x="0" y="-47625"/>
              <a:ext cx="12070080" cy="73533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Education Matters</a:t>
              </a:r>
            </a:p>
          </p:txBody>
        </p:sp>
      </p:grpSp>
      <p:grpSp>
        <p:nvGrpSpPr>
          <p:cNvPr name="Group 33" id="33"/>
          <p:cNvGrpSpPr/>
          <p:nvPr/>
        </p:nvGrpSpPr>
        <p:grpSpPr>
          <a:xfrm rot="0">
            <a:off x="8023860" y="4389120"/>
            <a:ext cx="9052560" cy="754380"/>
            <a:chOff x="0" y="0"/>
            <a:chExt cx="12070080" cy="1005840"/>
          </a:xfrm>
        </p:grpSpPr>
        <p:sp>
          <p:nvSpPr>
            <p:cNvPr name="Freeform 34" id="34"/>
            <p:cNvSpPr/>
            <p:nvPr/>
          </p:nvSpPr>
          <p:spPr>
            <a:xfrm flipH="false" flipV="false" rot="0">
              <a:off x="0" y="0"/>
              <a:ext cx="12070080" cy="1005840"/>
            </a:xfrm>
            <a:custGeom>
              <a:avLst/>
              <a:gdLst/>
              <a:ahLst/>
              <a:cxnLst/>
              <a:rect r="r" b="b" t="t" l="l"/>
              <a:pathLst>
                <a:path h="1005840" w="12070080">
                  <a:moveTo>
                    <a:pt x="0" y="0"/>
                  </a:moveTo>
                  <a:lnTo>
                    <a:pt x="12070080" y="0"/>
                  </a:lnTo>
                  <a:lnTo>
                    <a:pt x="12070080" y="1005840"/>
                  </a:lnTo>
                  <a:lnTo>
                    <a:pt x="0" y="1005840"/>
                  </a:lnTo>
                  <a:close/>
                </a:path>
              </a:pathLst>
            </a:custGeom>
            <a:blipFill>
              <a:blip r:embed="rId3">
                <a:alphaModFix amt="0"/>
              </a:blip>
              <a:stretch>
                <a:fillRect l="0" t="-183657" r="0" b="-183657"/>
              </a:stretch>
            </a:blipFill>
          </p:spPr>
        </p:sp>
      </p:grpSp>
      <p:grpSp>
        <p:nvGrpSpPr>
          <p:cNvPr name="Group 35" id="35"/>
          <p:cNvGrpSpPr/>
          <p:nvPr/>
        </p:nvGrpSpPr>
        <p:grpSpPr>
          <a:xfrm rot="0">
            <a:off x="8023860" y="4360545"/>
            <a:ext cx="9052560" cy="782955"/>
            <a:chOff x="0" y="0"/>
            <a:chExt cx="12070080" cy="1043940"/>
          </a:xfrm>
        </p:grpSpPr>
        <p:sp>
          <p:nvSpPr>
            <p:cNvPr name="Freeform 36" id="36"/>
            <p:cNvSpPr/>
            <p:nvPr/>
          </p:nvSpPr>
          <p:spPr>
            <a:xfrm flipH="false" flipV="false" rot="0">
              <a:off x="0" y="0"/>
              <a:ext cx="12070080" cy="1043940"/>
            </a:xfrm>
            <a:custGeom>
              <a:avLst/>
              <a:gdLst/>
              <a:ahLst/>
              <a:cxnLst/>
              <a:rect r="r" b="b" t="t" l="l"/>
              <a:pathLst>
                <a:path h="1043940" w="12070080">
                  <a:moveTo>
                    <a:pt x="0" y="0"/>
                  </a:moveTo>
                  <a:lnTo>
                    <a:pt x="12070080" y="0"/>
                  </a:lnTo>
                  <a:lnTo>
                    <a:pt x="12070080" y="1043940"/>
                  </a:lnTo>
                  <a:lnTo>
                    <a:pt x="0" y="1043940"/>
                  </a:lnTo>
                  <a:close/>
                </a:path>
              </a:pathLst>
            </a:custGeom>
            <a:blipFill>
              <a:blip r:embed="rId4">
                <a:alphaModFix amt="0"/>
              </a:blip>
              <a:stretch>
                <a:fillRect l="0" t="-175286" r="0" b="-175286"/>
              </a:stretch>
            </a:blipFill>
          </p:spPr>
        </p:sp>
        <p:sp>
          <p:nvSpPr>
            <p:cNvPr name="TextBox 37" id="37"/>
            <p:cNvSpPr txBox="true"/>
            <p:nvPr/>
          </p:nvSpPr>
          <p:spPr>
            <a:xfrm>
              <a:off x="0" y="-38100"/>
              <a:ext cx="12070080" cy="1082040"/>
            </a:xfrm>
            <a:prstGeom prst="rect">
              <a:avLst/>
            </a:prstGeom>
          </p:spPr>
          <p:txBody>
            <a:bodyPr anchor="ctr" rtlCol="false" tIns="0" lIns="0" bIns="0" rIns="0"/>
            <a:lstStyle/>
            <a:p>
              <a:pPr algn="l">
                <a:lnSpc>
                  <a:spcPts val="2160"/>
                </a:lnSpc>
              </a:pPr>
              <a:r>
                <a:rPr lang="en-US" sz="1800">
                  <a:solidFill>
                    <a:srgbClr val="44506B"/>
                  </a:solidFill>
                  <a:latin typeface="Calibri (MS)"/>
                  <a:ea typeface="Calibri (MS)"/>
                  <a:cs typeface="Calibri (MS)"/>
                  <a:sym typeface="Calibri (MS)"/>
                </a:rPr>
                <a:t>Graduate applicants show meaningfully higher approval rates than non-graduates</a:t>
              </a:r>
            </a:p>
          </p:txBody>
        </p:sp>
      </p:grpSp>
      <p:grpSp>
        <p:nvGrpSpPr>
          <p:cNvPr name="Group 38" id="38"/>
          <p:cNvGrpSpPr/>
          <p:nvPr/>
        </p:nvGrpSpPr>
        <p:grpSpPr>
          <a:xfrm rot="0">
            <a:off x="7269480" y="5294376"/>
            <a:ext cx="521208" cy="521208"/>
            <a:chOff x="0" y="0"/>
            <a:chExt cx="694944" cy="694944"/>
          </a:xfrm>
        </p:grpSpPr>
        <p:sp>
          <p:nvSpPr>
            <p:cNvPr name="Freeform 39" id="39"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6"/>
              <a:stretch>
                <a:fillRect l="0" t="0" r="0" b="0"/>
              </a:stretch>
            </a:blipFill>
          </p:spPr>
        </p:sp>
      </p:grpSp>
      <p:grpSp>
        <p:nvGrpSpPr>
          <p:cNvPr name="Group 40" id="40"/>
          <p:cNvGrpSpPr/>
          <p:nvPr/>
        </p:nvGrpSpPr>
        <p:grpSpPr>
          <a:xfrm rot="0">
            <a:off x="8023860" y="5253228"/>
            <a:ext cx="9052560" cy="480060"/>
            <a:chOff x="0" y="0"/>
            <a:chExt cx="12070080" cy="640080"/>
          </a:xfrm>
        </p:grpSpPr>
        <p:sp>
          <p:nvSpPr>
            <p:cNvPr name="Freeform 41" id="41"/>
            <p:cNvSpPr/>
            <p:nvPr/>
          </p:nvSpPr>
          <p:spPr>
            <a:xfrm flipH="false" flipV="false" rot="0">
              <a:off x="0" y="0"/>
              <a:ext cx="12070080" cy="640080"/>
            </a:xfrm>
            <a:custGeom>
              <a:avLst/>
              <a:gdLst/>
              <a:ahLst/>
              <a:cxnLst/>
              <a:rect r="r" b="b" t="t" l="l"/>
              <a:pathLst>
                <a:path h="640080" w="12070080">
                  <a:moveTo>
                    <a:pt x="0" y="0"/>
                  </a:moveTo>
                  <a:lnTo>
                    <a:pt x="12070080" y="0"/>
                  </a:lnTo>
                  <a:lnTo>
                    <a:pt x="12070080" y="640080"/>
                  </a:lnTo>
                  <a:lnTo>
                    <a:pt x="0" y="640080"/>
                  </a:lnTo>
                  <a:close/>
                </a:path>
              </a:pathLst>
            </a:custGeom>
            <a:blipFill>
              <a:blip r:embed="rId3">
                <a:alphaModFix amt="0"/>
              </a:blip>
              <a:stretch>
                <a:fillRect l="0" t="-317176" r="0" b="-317176"/>
              </a:stretch>
            </a:blipFill>
          </p:spPr>
        </p:sp>
      </p:grpSp>
      <p:grpSp>
        <p:nvGrpSpPr>
          <p:cNvPr name="Group 42" id="42"/>
          <p:cNvGrpSpPr/>
          <p:nvPr/>
        </p:nvGrpSpPr>
        <p:grpSpPr>
          <a:xfrm rot="0">
            <a:off x="8023860" y="5217509"/>
            <a:ext cx="9052560" cy="515779"/>
            <a:chOff x="0" y="0"/>
            <a:chExt cx="12070080" cy="687705"/>
          </a:xfrm>
        </p:grpSpPr>
        <p:sp>
          <p:nvSpPr>
            <p:cNvPr name="Freeform 43" id="43"/>
            <p:cNvSpPr/>
            <p:nvPr/>
          </p:nvSpPr>
          <p:spPr>
            <a:xfrm flipH="false" flipV="false" rot="0">
              <a:off x="0" y="0"/>
              <a:ext cx="12070080" cy="687705"/>
            </a:xfrm>
            <a:custGeom>
              <a:avLst/>
              <a:gdLst/>
              <a:ahLst/>
              <a:cxnLst/>
              <a:rect r="r" b="b" t="t" l="l"/>
              <a:pathLst>
                <a:path h="687705" w="12070080">
                  <a:moveTo>
                    <a:pt x="0" y="0"/>
                  </a:moveTo>
                  <a:lnTo>
                    <a:pt x="12070080" y="0"/>
                  </a:lnTo>
                  <a:lnTo>
                    <a:pt x="12070080" y="687705"/>
                  </a:lnTo>
                  <a:lnTo>
                    <a:pt x="0" y="687705"/>
                  </a:lnTo>
                  <a:close/>
                </a:path>
              </a:pathLst>
            </a:custGeom>
            <a:blipFill>
              <a:blip r:embed="rId4">
                <a:alphaModFix amt="0"/>
              </a:blip>
              <a:stretch>
                <a:fillRect l="0" t="-291986" r="0" b="-291986"/>
              </a:stretch>
            </a:blipFill>
          </p:spPr>
        </p:sp>
        <p:sp>
          <p:nvSpPr>
            <p:cNvPr name="TextBox 44" id="44"/>
            <p:cNvSpPr txBox="true"/>
            <p:nvPr/>
          </p:nvSpPr>
          <p:spPr>
            <a:xfrm>
              <a:off x="0" y="-47625"/>
              <a:ext cx="12070080" cy="73533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Property Area</a:t>
              </a:r>
            </a:p>
          </p:txBody>
        </p:sp>
      </p:grpSp>
      <p:grpSp>
        <p:nvGrpSpPr>
          <p:cNvPr name="Group 45" id="45"/>
          <p:cNvGrpSpPr/>
          <p:nvPr/>
        </p:nvGrpSpPr>
        <p:grpSpPr>
          <a:xfrm rot="0">
            <a:off x="8023860" y="5733288"/>
            <a:ext cx="9052560" cy="754380"/>
            <a:chOff x="0" y="0"/>
            <a:chExt cx="12070080" cy="1005840"/>
          </a:xfrm>
        </p:grpSpPr>
        <p:sp>
          <p:nvSpPr>
            <p:cNvPr name="Freeform 46" id="46"/>
            <p:cNvSpPr/>
            <p:nvPr/>
          </p:nvSpPr>
          <p:spPr>
            <a:xfrm flipH="false" flipV="false" rot="0">
              <a:off x="0" y="0"/>
              <a:ext cx="12070080" cy="1005840"/>
            </a:xfrm>
            <a:custGeom>
              <a:avLst/>
              <a:gdLst/>
              <a:ahLst/>
              <a:cxnLst/>
              <a:rect r="r" b="b" t="t" l="l"/>
              <a:pathLst>
                <a:path h="1005840" w="12070080">
                  <a:moveTo>
                    <a:pt x="0" y="0"/>
                  </a:moveTo>
                  <a:lnTo>
                    <a:pt x="12070080" y="0"/>
                  </a:lnTo>
                  <a:lnTo>
                    <a:pt x="12070080" y="1005840"/>
                  </a:lnTo>
                  <a:lnTo>
                    <a:pt x="0" y="1005840"/>
                  </a:lnTo>
                  <a:close/>
                </a:path>
              </a:pathLst>
            </a:custGeom>
            <a:blipFill>
              <a:blip r:embed="rId3">
                <a:alphaModFix amt="0"/>
              </a:blip>
              <a:stretch>
                <a:fillRect l="0" t="-183657" r="0" b="-183657"/>
              </a:stretch>
            </a:blipFill>
          </p:spPr>
        </p:sp>
      </p:grpSp>
      <p:grpSp>
        <p:nvGrpSpPr>
          <p:cNvPr name="Group 47" id="47"/>
          <p:cNvGrpSpPr/>
          <p:nvPr/>
        </p:nvGrpSpPr>
        <p:grpSpPr>
          <a:xfrm rot="0">
            <a:off x="8023860" y="5704713"/>
            <a:ext cx="9052560" cy="782955"/>
            <a:chOff x="0" y="0"/>
            <a:chExt cx="12070080" cy="1043940"/>
          </a:xfrm>
        </p:grpSpPr>
        <p:sp>
          <p:nvSpPr>
            <p:cNvPr name="Freeform 48" id="48"/>
            <p:cNvSpPr/>
            <p:nvPr/>
          </p:nvSpPr>
          <p:spPr>
            <a:xfrm flipH="false" flipV="false" rot="0">
              <a:off x="0" y="0"/>
              <a:ext cx="12070080" cy="1043940"/>
            </a:xfrm>
            <a:custGeom>
              <a:avLst/>
              <a:gdLst/>
              <a:ahLst/>
              <a:cxnLst/>
              <a:rect r="r" b="b" t="t" l="l"/>
              <a:pathLst>
                <a:path h="1043940" w="12070080">
                  <a:moveTo>
                    <a:pt x="0" y="0"/>
                  </a:moveTo>
                  <a:lnTo>
                    <a:pt x="12070080" y="0"/>
                  </a:lnTo>
                  <a:lnTo>
                    <a:pt x="12070080" y="1043940"/>
                  </a:lnTo>
                  <a:lnTo>
                    <a:pt x="0" y="1043940"/>
                  </a:lnTo>
                  <a:close/>
                </a:path>
              </a:pathLst>
            </a:custGeom>
            <a:blipFill>
              <a:blip r:embed="rId4">
                <a:alphaModFix amt="0"/>
              </a:blip>
              <a:stretch>
                <a:fillRect l="0" t="-175286" r="0" b="-175286"/>
              </a:stretch>
            </a:blipFill>
          </p:spPr>
        </p:sp>
        <p:sp>
          <p:nvSpPr>
            <p:cNvPr name="TextBox 49" id="49"/>
            <p:cNvSpPr txBox="true"/>
            <p:nvPr/>
          </p:nvSpPr>
          <p:spPr>
            <a:xfrm>
              <a:off x="0" y="-38100"/>
              <a:ext cx="12070080" cy="1082040"/>
            </a:xfrm>
            <a:prstGeom prst="rect">
              <a:avLst/>
            </a:prstGeom>
          </p:spPr>
          <p:txBody>
            <a:bodyPr anchor="ctr" rtlCol="false" tIns="0" lIns="0" bIns="0" rIns="0"/>
            <a:lstStyle/>
            <a:p>
              <a:pPr algn="l">
                <a:lnSpc>
                  <a:spcPts val="2160"/>
                </a:lnSpc>
              </a:pPr>
              <a:r>
                <a:rPr lang="en-US" sz="1800">
                  <a:solidFill>
                    <a:srgbClr val="44506B"/>
                  </a:solidFill>
                  <a:latin typeface="Calibri (MS)"/>
                  <a:ea typeface="Calibri (MS)"/>
                  <a:cs typeface="Calibri (MS)"/>
                  <a:sym typeface="Calibri (MS)"/>
                </a:rPr>
                <a:t>Semiurban applicants show slightly higher approval rates</a:t>
              </a:r>
            </a:p>
          </p:txBody>
        </p:sp>
      </p:grpSp>
      <p:grpSp>
        <p:nvGrpSpPr>
          <p:cNvPr name="Group 50" id="50"/>
          <p:cNvGrpSpPr/>
          <p:nvPr/>
        </p:nvGrpSpPr>
        <p:grpSpPr>
          <a:xfrm rot="0">
            <a:off x="7269480" y="6638544"/>
            <a:ext cx="521208" cy="521208"/>
            <a:chOff x="0" y="0"/>
            <a:chExt cx="694944" cy="694944"/>
          </a:xfrm>
        </p:grpSpPr>
        <p:sp>
          <p:nvSpPr>
            <p:cNvPr name="Freeform 51" id="51"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6"/>
              <a:stretch>
                <a:fillRect l="0" t="0" r="0" b="0"/>
              </a:stretch>
            </a:blipFill>
          </p:spPr>
        </p:sp>
      </p:grpSp>
      <p:grpSp>
        <p:nvGrpSpPr>
          <p:cNvPr name="Group 52" id="52"/>
          <p:cNvGrpSpPr/>
          <p:nvPr/>
        </p:nvGrpSpPr>
        <p:grpSpPr>
          <a:xfrm rot="0">
            <a:off x="8023860" y="6597396"/>
            <a:ext cx="9052560" cy="480060"/>
            <a:chOff x="0" y="0"/>
            <a:chExt cx="12070080" cy="640080"/>
          </a:xfrm>
        </p:grpSpPr>
        <p:sp>
          <p:nvSpPr>
            <p:cNvPr name="Freeform 53" id="53"/>
            <p:cNvSpPr/>
            <p:nvPr/>
          </p:nvSpPr>
          <p:spPr>
            <a:xfrm flipH="false" flipV="false" rot="0">
              <a:off x="0" y="0"/>
              <a:ext cx="12070080" cy="640080"/>
            </a:xfrm>
            <a:custGeom>
              <a:avLst/>
              <a:gdLst/>
              <a:ahLst/>
              <a:cxnLst/>
              <a:rect r="r" b="b" t="t" l="l"/>
              <a:pathLst>
                <a:path h="640080" w="12070080">
                  <a:moveTo>
                    <a:pt x="0" y="0"/>
                  </a:moveTo>
                  <a:lnTo>
                    <a:pt x="12070080" y="0"/>
                  </a:lnTo>
                  <a:lnTo>
                    <a:pt x="12070080" y="640080"/>
                  </a:lnTo>
                  <a:lnTo>
                    <a:pt x="0" y="640080"/>
                  </a:lnTo>
                  <a:close/>
                </a:path>
              </a:pathLst>
            </a:custGeom>
            <a:blipFill>
              <a:blip r:embed="rId3">
                <a:alphaModFix amt="0"/>
              </a:blip>
              <a:stretch>
                <a:fillRect l="0" t="-317176" r="0" b="-317176"/>
              </a:stretch>
            </a:blipFill>
          </p:spPr>
        </p:sp>
      </p:grpSp>
      <p:grpSp>
        <p:nvGrpSpPr>
          <p:cNvPr name="Group 54" id="54"/>
          <p:cNvGrpSpPr/>
          <p:nvPr/>
        </p:nvGrpSpPr>
        <p:grpSpPr>
          <a:xfrm rot="0">
            <a:off x="8023860" y="6561677"/>
            <a:ext cx="9052560" cy="515779"/>
            <a:chOff x="0" y="0"/>
            <a:chExt cx="12070080" cy="687705"/>
          </a:xfrm>
        </p:grpSpPr>
        <p:sp>
          <p:nvSpPr>
            <p:cNvPr name="Freeform 55" id="55"/>
            <p:cNvSpPr/>
            <p:nvPr/>
          </p:nvSpPr>
          <p:spPr>
            <a:xfrm flipH="false" flipV="false" rot="0">
              <a:off x="0" y="0"/>
              <a:ext cx="12070080" cy="687705"/>
            </a:xfrm>
            <a:custGeom>
              <a:avLst/>
              <a:gdLst/>
              <a:ahLst/>
              <a:cxnLst/>
              <a:rect r="r" b="b" t="t" l="l"/>
              <a:pathLst>
                <a:path h="687705" w="12070080">
                  <a:moveTo>
                    <a:pt x="0" y="0"/>
                  </a:moveTo>
                  <a:lnTo>
                    <a:pt x="12070080" y="0"/>
                  </a:lnTo>
                  <a:lnTo>
                    <a:pt x="12070080" y="687705"/>
                  </a:lnTo>
                  <a:lnTo>
                    <a:pt x="0" y="687705"/>
                  </a:lnTo>
                  <a:close/>
                </a:path>
              </a:pathLst>
            </a:custGeom>
            <a:blipFill>
              <a:blip r:embed="rId4">
                <a:alphaModFix amt="0"/>
              </a:blip>
              <a:stretch>
                <a:fillRect l="0" t="-291986" r="0" b="-291986"/>
              </a:stretch>
            </a:blipFill>
          </p:spPr>
        </p:sp>
        <p:sp>
          <p:nvSpPr>
            <p:cNvPr name="TextBox 56" id="56"/>
            <p:cNvSpPr txBox="true"/>
            <p:nvPr/>
          </p:nvSpPr>
          <p:spPr>
            <a:xfrm>
              <a:off x="0" y="-47625"/>
              <a:ext cx="12070080" cy="73533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Income Distribution</a:t>
              </a:r>
            </a:p>
          </p:txBody>
        </p:sp>
      </p:grpSp>
      <p:grpSp>
        <p:nvGrpSpPr>
          <p:cNvPr name="Group 57" id="57"/>
          <p:cNvGrpSpPr/>
          <p:nvPr/>
        </p:nvGrpSpPr>
        <p:grpSpPr>
          <a:xfrm rot="0">
            <a:off x="8023860" y="7077456"/>
            <a:ext cx="9052560" cy="754380"/>
            <a:chOff x="0" y="0"/>
            <a:chExt cx="12070080" cy="1005840"/>
          </a:xfrm>
        </p:grpSpPr>
        <p:sp>
          <p:nvSpPr>
            <p:cNvPr name="Freeform 58" id="58"/>
            <p:cNvSpPr/>
            <p:nvPr/>
          </p:nvSpPr>
          <p:spPr>
            <a:xfrm flipH="false" flipV="false" rot="0">
              <a:off x="0" y="0"/>
              <a:ext cx="12070080" cy="1005840"/>
            </a:xfrm>
            <a:custGeom>
              <a:avLst/>
              <a:gdLst/>
              <a:ahLst/>
              <a:cxnLst/>
              <a:rect r="r" b="b" t="t" l="l"/>
              <a:pathLst>
                <a:path h="1005840" w="12070080">
                  <a:moveTo>
                    <a:pt x="0" y="0"/>
                  </a:moveTo>
                  <a:lnTo>
                    <a:pt x="12070080" y="0"/>
                  </a:lnTo>
                  <a:lnTo>
                    <a:pt x="12070080" y="1005840"/>
                  </a:lnTo>
                  <a:lnTo>
                    <a:pt x="0" y="1005840"/>
                  </a:lnTo>
                  <a:close/>
                </a:path>
              </a:pathLst>
            </a:custGeom>
            <a:blipFill>
              <a:blip r:embed="rId3">
                <a:alphaModFix amt="0"/>
              </a:blip>
              <a:stretch>
                <a:fillRect l="0" t="-183657" r="0" b="-183657"/>
              </a:stretch>
            </a:blipFill>
          </p:spPr>
        </p:sp>
      </p:grpSp>
      <p:grpSp>
        <p:nvGrpSpPr>
          <p:cNvPr name="Group 59" id="59"/>
          <p:cNvGrpSpPr/>
          <p:nvPr/>
        </p:nvGrpSpPr>
        <p:grpSpPr>
          <a:xfrm rot="0">
            <a:off x="8023860" y="7048881"/>
            <a:ext cx="9052560" cy="782955"/>
            <a:chOff x="0" y="0"/>
            <a:chExt cx="12070080" cy="1043940"/>
          </a:xfrm>
        </p:grpSpPr>
        <p:sp>
          <p:nvSpPr>
            <p:cNvPr name="Freeform 60" id="60"/>
            <p:cNvSpPr/>
            <p:nvPr/>
          </p:nvSpPr>
          <p:spPr>
            <a:xfrm flipH="false" flipV="false" rot="0">
              <a:off x="0" y="0"/>
              <a:ext cx="12070080" cy="1043940"/>
            </a:xfrm>
            <a:custGeom>
              <a:avLst/>
              <a:gdLst/>
              <a:ahLst/>
              <a:cxnLst/>
              <a:rect r="r" b="b" t="t" l="l"/>
              <a:pathLst>
                <a:path h="1043940" w="12070080">
                  <a:moveTo>
                    <a:pt x="0" y="0"/>
                  </a:moveTo>
                  <a:lnTo>
                    <a:pt x="12070080" y="0"/>
                  </a:lnTo>
                  <a:lnTo>
                    <a:pt x="12070080" y="1043940"/>
                  </a:lnTo>
                  <a:lnTo>
                    <a:pt x="0" y="1043940"/>
                  </a:lnTo>
                  <a:close/>
                </a:path>
              </a:pathLst>
            </a:custGeom>
            <a:blipFill>
              <a:blip r:embed="rId4">
                <a:alphaModFix amt="0"/>
              </a:blip>
              <a:stretch>
                <a:fillRect l="0" t="-175286" r="0" b="-175286"/>
              </a:stretch>
            </a:blipFill>
          </p:spPr>
        </p:sp>
        <p:sp>
          <p:nvSpPr>
            <p:cNvPr name="TextBox 61" id="61"/>
            <p:cNvSpPr txBox="true"/>
            <p:nvPr/>
          </p:nvSpPr>
          <p:spPr>
            <a:xfrm>
              <a:off x="0" y="-38100"/>
              <a:ext cx="12070080" cy="1082040"/>
            </a:xfrm>
            <a:prstGeom prst="rect">
              <a:avLst/>
            </a:prstGeom>
          </p:spPr>
          <p:txBody>
            <a:bodyPr anchor="ctr" rtlCol="false" tIns="0" lIns="0" bIns="0" rIns="0"/>
            <a:lstStyle/>
            <a:p>
              <a:pPr algn="l">
                <a:lnSpc>
                  <a:spcPts val="2160"/>
                </a:lnSpc>
              </a:pPr>
              <a:r>
                <a:rPr lang="en-US" sz="1800">
                  <a:solidFill>
                    <a:srgbClr val="44506B"/>
                  </a:solidFill>
                  <a:latin typeface="Calibri (MS)"/>
                  <a:ea typeface="Calibri (MS)"/>
                  <a:cs typeface="Calibri (MS)"/>
                  <a:sym typeface="Calibri (MS)"/>
                </a:rPr>
                <a:t>Applicant income and loan amount are right-skewed; most applicants earn under ₹10,000/month</a:t>
              </a:r>
            </a:p>
          </p:txBody>
        </p:sp>
      </p:grpSp>
      <p:grpSp>
        <p:nvGrpSpPr>
          <p:cNvPr name="Group 62" id="62"/>
          <p:cNvGrpSpPr/>
          <p:nvPr/>
        </p:nvGrpSpPr>
        <p:grpSpPr>
          <a:xfrm rot="0">
            <a:off x="685800" y="9738360"/>
            <a:ext cx="8229600" cy="411480"/>
            <a:chOff x="0" y="0"/>
            <a:chExt cx="10972800" cy="548640"/>
          </a:xfrm>
        </p:grpSpPr>
        <p:sp>
          <p:nvSpPr>
            <p:cNvPr name="Freeform 63" id="6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64" id="64"/>
          <p:cNvGrpSpPr/>
          <p:nvPr/>
        </p:nvGrpSpPr>
        <p:grpSpPr>
          <a:xfrm rot="0">
            <a:off x="685800" y="9716929"/>
            <a:ext cx="8229600" cy="432911"/>
            <a:chOff x="0" y="0"/>
            <a:chExt cx="10972800" cy="577215"/>
          </a:xfrm>
        </p:grpSpPr>
        <p:sp>
          <p:nvSpPr>
            <p:cNvPr name="Freeform 65" id="65"/>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66" id="66"/>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67" id="67"/>
          <p:cNvGrpSpPr/>
          <p:nvPr/>
        </p:nvGrpSpPr>
        <p:grpSpPr>
          <a:xfrm rot="0">
            <a:off x="16870680" y="9738360"/>
            <a:ext cx="685800" cy="411480"/>
            <a:chOff x="0" y="0"/>
            <a:chExt cx="914400" cy="548640"/>
          </a:xfrm>
        </p:grpSpPr>
        <p:sp>
          <p:nvSpPr>
            <p:cNvPr name="Freeform 68" id="6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69" id="69"/>
          <p:cNvGrpSpPr/>
          <p:nvPr/>
        </p:nvGrpSpPr>
        <p:grpSpPr>
          <a:xfrm rot="0">
            <a:off x="16870680" y="9716929"/>
            <a:ext cx="685800" cy="432911"/>
            <a:chOff x="0" y="0"/>
            <a:chExt cx="914400" cy="577215"/>
          </a:xfrm>
        </p:grpSpPr>
        <p:sp>
          <p:nvSpPr>
            <p:cNvPr name="Freeform 70" id="70"/>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71" id="71"/>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RESULTS</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Model Performance Comparison</a:t>
              </a:r>
            </a:p>
          </p:txBody>
        </p:sp>
      </p:grpSp>
      <p:graphicFrame>
        <p:nvGraphicFramePr>
          <p:cNvPr name="Table 12" id="12"/>
          <p:cNvGraphicFramePr>
            <a:graphicFrameLocks noGrp="true"/>
          </p:cNvGraphicFramePr>
          <p:nvPr/>
        </p:nvGraphicFramePr>
        <p:xfrm>
          <a:off x="822960" y="2674620"/>
          <a:ext cx="9639300" cy="2946400"/>
        </p:xfrm>
        <a:graphic>
          <a:graphicData uri="http://schemas.openxmlformats.org/drawingml/2006/table">
            <a:tbl>
              <a:tblPr/>
              <a:tblGrid>
                <a:gridCol w="3370451"/>
                <a:gridCol w="1567212"/>
                <a:gridCol w="1567212"/>
                <a:gridCol w="1567212"/>
                <a:gridCol w="1567212"/>
              </a:tblGrid>
              <a:tr h="736600">
                <a:tc>
                  <a:txBody>
                    <a:bodyPr anchor="t" rtlCol="false"/>
                    <a:lstStyle/>
                    <a:p>
                      <a:pPr algn="ctr">
                        <a:lnSpc>
                          <a:spcPts val="2340"/>
                        </a:lnSpc>
                        <a:defRPr/>
                      </a:pPr>
                      <a:r>
                        <a:rPr lang="en-US" sz="1950" b="true">
                          <a:solidFill>
                            <a:srgbClr val="FFFFFF"/>
                          </a:solidFill>
                          <a:latin typeface="Calibri (MS) Bold"/>
                          <a:ea typeface="Calibri (MS) Bold"/>
                          <a:cs typeface="Calibri (MS) Bold"/>
                          <a:sym typeface="Calibri (MS) Bold"/>
                        </a:rPr>
                        <a:t>Model</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340"/>
                        </a:lnSpc>
                        <a:defRPr/>
                      </a:pPr>
                      <a:r>
                        <a:rPr lang="en-US" sz="1950" b="true">
                          <a:solidFill>
                            <a:srgbClr val="FFFFFF"/>
                          </a:solidFill>
                          <a:latin typeface="Calibri (MS) Bold"/>
                          <a:ea typeface="Calibri (MS) Bold"/>
                          <a:cs typeface="Calibri (MS) Bold"/>
                          <a:sym typeface="Calibri (MS) Bold"/>
                        </a:rPr>
                        <a:t>Accuracy</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340"/>
                        </a:lnSpc>
                        <a:defRPr/>
                      </a:pPr>
                      <a:r>
                        <a:rPr lang="en-US" sz="1950" b="true">
                          <a:solidFill>
                            <a:srgbClr val="FFFFFF"/>
                          </a:solidFill>
                          <a:latin typeface="Calibri (MS) Bold"/>
                          <a:ea typeface="Calibri (MS) Bold"/>
                          <a:cs typeface="Calibri (MS) Bold"/>
                          <a:sym typeface="Calibri (MS) Bold"/>
                        </a:rPr>
                        <a:t>Precision</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340"/>
                        </a:lnSpc>
                        <a:defRPr/>
                      </a:pPr>
                      <a:r>
                        <a:rPr lang="en-US" sz="1950" b="true">
                          <a:solidFill>
                            <a:srgbClr val="FFFFFF"/>
                          </a:solidFill>
                          <a:latin typeface="Calibri (MS) Bold"/>
                          <a:ea typeface="Calibri (MS) Bold"/>
                          <a:cs typeface="Calibri (MS) Bold"/>
                          <a:sym typeface="Calibri (MS) Bold"/>
                        </a:rPr>
                        <a:t>Recall</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340"/>
                        </a:lnSpc>
                        <a:defRPr/>
                      </a:pPr>
                      <a:r>
                        <a:rPr lang="en-US" sz="1950" b="true">
                          <a:solidFill>
                            <a:srgbClr val="FFFFFF"/>
                          </a:solidFill>
                          <a:latin typeface="Calibri (MS) Bold"/>
                          <a:ea typeface="Calibri (MS) Bold"/>
                          <a:cs typeface="Calibri (MS) Bold"/>
                          <a:sym typeface="Calibri (MS) Bold"/>
                        </a:rPr>
                        <a:t>F1 Score</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r>
              <a:tr h="736600">
                <a:tc>
                  <a:txBody>
                    <a:bodyPr anchor="t" rtlCol="false"/>
                    <a:lstStyle/>
                    <a:p>
                      <a:pPr algn="l">
                        <a:lnSpc>
                          <a:spcPts val="2340"/>
                        </a:lnSpc>
                        <a:defRPr/>
                      </a:pPr>
                      <a:r>
                        <a:rPr lang="en-US" sz="1950" b="true">
                          <a:solidFill>
                            <a:srgbClr val="1E2761"/>
                          </a:solidFill>
                          <a:latin typeface="Calibri (MS) Bold"/>
                          <a:ea typeface="Calibri (MS) Bold"/>
                          <a:cs typeface="Calibri (MS) Bold"/>
                          <a:sym typeface="Calibri (MS) Bold"/>
                        </a:rPr>
                        <a:t>Logistic Regression</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340"/>
                        </a:lnSpc>
                        <a:defRPr/>
                      </a:pPr>
                      <a:r>
                        <a:rPr lang="en-US" sz="1950" b="true">
                          <a:solidFill>
                            <a:srgbClr val="1E2761"/>
                          </a:solidFill>
                          <a:latin typeface="Calibri (MS) Bold"/>
                          <a:ea typeface="Calibri (MS) Bold"/>
                          <a:cs typeface="Calibri (MS) Bold"/>
                          <a:sym typeface="Calibri (MS) Bold"/>
                        </a:rPr>
                        <a:t>78.86%</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340"/>
                        </a:lnSpc>
                        <a:defRPr/>
                      </a:pPr>
                      <a:r>
                        <a:rPr lang="en-US" sz="1950" b="true">
                          <a:solidFill>
                            <a:srgbClr val="1E2761"/>
                          </a:solidFill>
                          <a:latin typeface="Calibri (MS) Bold"/>
                          <a:ea typeface="Calibri (MS) Bold"/>
                          <a:cs typeface="Calibri (MS) Bold"/>
                          <a:sym typeface="Calibri (MS) Bold"/>
                        </a:rPr>
                        <a:t>0.83</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340"/>
                        </a:lnSpc>
                        <a:defRPr/>
                      </a:pPr>
                      <a:r>
                        <a:rPr lang="en-US" sz="1950" b="true">
                          <a:solidFill>
                            <a:srgbClr val="1E2761"/>
                          </a:solidFill>
                          <a:latin typeface="Calibri (MS) Bold"/>
                          <a:ea typeface="Calibri (MS) Bold"/>
                          <a:cs typeface="Calibri (MS) Bold"/>
                          <a:sym typeface="Calibri (MS) Bold"/>
                        </a:rPr>
                        <a:t>0.79</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340"/>
                        </a:lnSpc>
                        <a:defRPr/>
                      </a:pPr>
                      <a:r>
                        <a:rPr lang="en-US" sz="1950" b="true">
                          <a:solidFill>
                            <a:srgbClr val="1E2761"/>
                          </a:solidFill>
                          <a:latin typeface="Calibri (MS) Bold"/>
                          <a:ea typeface="Calibri (MS) Bold"/>
                          <a:cs typeface="Calibri (MS) Bold"/>
                          <a:sym typeface="Calibri (MS) Bold"/>
                        </a:rPr>
                        <a:t>0.76</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r>
              <a:tr h="736600">
                <a:tc>
                  <a:txBody>
                    <a:bodyPr anchor="t" rtlCol="false"/>
                    <a:lstStyle/>
                    <a:p>
                      <a:pPr algn="l">
                        <a:lnSpc>
                          <a:spcPts val="2340"/>
                        </a:lnSpc>
                        <a:defRPr/>
                      </a:pPr>
                      <a:r>
                        <a:rPr lang="en-US" sz="1950">
                          <a:solidFill>
                            <a:srgbClr val="44506B"/>
                          </a:solidFill>
                          <a:latin typeface="Calibri (MS)"/>
                          <a:ea typeface="Calibri (MS)"/>
                          <a:cs typeface="Calibri (MS)"/>
                          <a:sym typeface="Calibri (MS)"/>
                        </a:rPr>
                        <a:t>Random Forest</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75.60%</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0.80</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0.76</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0.73</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r>
              <a:tr h="736600">
                <a:tc>
                  <a:txBody>
                    <a:bodyPr anchor="t" rtlCol="false"/>
                    <a:lstStyle/>
                    <a:p>
                      <a:pPr algn="l">
                        <a:lnSpc>
                          <a:spcPts val="2340"/>
                        </a:lnSpc>
                        <a:defRPr/>
                      </a:pPr>
                      <a:r>
                        <a:rPr lang="en-US" sz="1950">
                          <a:solidFill>
                            <a:srgbClr val="44506B"/>
                          </a:solidFill>
                          <a:latin typeface="Calibri (MS)"/>
                          <a:ea typeface="Calibri (MS)"/>
                          <a:cs typeface="Calibri (MS)"/>
                          <a:sym typeface="Calibri (MS)"/>
                        </a:rPr>
                        <a:t>XGBoost</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73.98%</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0.78</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0.74</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340"/>
                        </a:lnSpc>
                        <a:defRPr/>
                      </a:pPr>
                      <a:r>
                        <a:rPr lang="en-US" sz="1950">
                          <a:solidFill>
                            <a:srgbClr val="44506B"/>
                          </a:solidFill>
                          <a:latin typeface="Calibri (MS)"/>
                          <a:ea typeface="Calibri (MS)"/>
                          <a:cs typeface="Calibri (MS)"/>
                          <a:sym typeface="Calibri (MS)"/>
                        </a:rPr>
                        <a:t>0.71</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r>
            </a:tbl>
          </a:graphicData>
        </a:graphic>
      </p:graphicFrame>
      <p:grpSp>
        <p:nvGrpSpPr>
          <p:cNvPr name="Group 13" id="13"/>
          <p:cNvGrpSpPr/>
          <p:nvPr/>
        </p:nvGrpSpPr>
        <p:grpSpPr>
          <a:xfrm rot="0">
            <a:off x="822960" y="5554980"/>
            <a:ext cx="9738360" cy="822960"/>
            <a:chOff x="0" y="0"/>
            <a:chExt cx="12984480" cy="1097280"/>
          </a:xfrm>
        </p:grpSpPr>
        <p:sp>
          <p:nvSpPr>
            <p:cNvPr name="Freeform 14" id="14"/>
            <p:cNvSpPr/>
            <p:nvPr/>
          </p:nvSpPr>
          <p:spPr>
            <a:xfrm flipH="false" flipV="false" rot="0">
              <a:off x="0" y="0"/>
              <a:ext cx="12984480" cy="1097280"/>
            </a:xfrm>
            <a:custGeom>
              <a:avLst/>
              <a:gdLst/>
              <a:ahLst/>
              <a:cxnLst/>
              <a:rect r="r" b="b" t="t" l="l"/>
              <a:pathLst>
                <a:path h="1097280" w="12984480">
                  <a:moveTo>
                    <a:pt x="0" y="0"/>
                  </a:moveTo>
                  <a:lnTo>
                    <a:pt x="12984480" y="0"/>
                  </a:lnTo>
                  <a:lnTo>
                    <a:pt x="12984480" y="1097280"/>
                  </a:lnTo>
                  <a:lnTo>
                    <a:pt x="0" y="1097280"/>
                  </a:lnTo>
                  <a:close/>
                </a:path>
              </a:pathLst>
            </a:custGeom>
            <a:blipFill>
              <a:blip r:embed="rId3">
                <a:alphaModFix amt="0"/>
              </a:blip>
              <a:stretch>
                <a:fillRect l="0" t="-180412" r="0" b="-180413"/>
              </a:stretch>
            </a:blipFill>
          </p:spPr>
        </p:sp>
      </p:grpSp>
      <p:grpSp>
        <p:nvGrpSpPr>
          <p:cNvPr name="Group 15" id="15"/>
          <p:cNvGrpSpPr/>
          <p:nvPr/>
        </p:nvGrpSpPr>
        <p:grpSpPr>
          <a:xfrm rot="0">
            <a:off x="822960" y="5526405"/>
            <a:ext cx="9738360" cy="851535"/>
            <a:chOff x="0" y="0"/>
            <a:chExt cx="12984480" cy="1135380"/>
          </a:xfrm>
        </p:grpSpPr>
        <p:sp>
          <p:nvSpPr>
            <p:cNvPr name="Freeform 16" id="16"/>
            <p:cNvSpPr/>
            <p:nvPr/>
          </p:nvSpPr>
          <p:spPr>
            <a:xfrm flipH="false" flipV="false" rot="0">
              <a:off x="0" y="0"/>
              <a:ext cx="12984480" cy="1135380"/>
            </a:xfrm>
            <a:custGeom>
              <a:avLst/>
              <a:gdLst/>
              <a:ahLst/>
              <a:cxnLst/>
              <a:rect r="r" b="b" t="t" l="l"/>
              <a:pathLst>
                <a:path h="1135380" w="12984480">
                  <a:moveTo>
                    <a:pt x="0" y="0"/>
                  </a:moveTo>
                  <a:lnTo>
                    <a:pt x="12984480" y="0"/>
                  </a:lnTo>
                  <a:lnTo>
                    <a:pt x="12984480" y="1135380"/>
                  </a:lnTo>
                  <a:lnTo>
                    <a:pt x="0" y="1135380"/>
                  </a:lnTo>
                  <a:close/>
                </a:path>
              </a:pathLst>
            </a:custGeom>
            <a:blipFill>
              <a:blip r:embed="rId4">
                <a:alphaModFix amt="0"/>
              </a:blip>
              <a:stretch>
                <a:fillRect l="0" t="-172835" r="0" b="-172835"/>
              </a:stretch>
            </a:blipFill>
          </p:spPr>
        </p:sp>
        <p:sp>
          <p:nvSpPr>
            <p:cNvPr name="TextBox 17" id="17"/>
            <p:cNvSpPr txBox="true"/>
            <p:nvPr/>
          </p:nvSpPr>
          <p:spPr>
            <a:xfrm>
              <a:off x="0" y="-38100"/>
              <a:ext cx="12984480" cy="1173480"/>
            </a:xfrm>
            <a:prstGeom prst="rect">
              <a:avLst/>
            </a:prstGeom>
          </p:spPr>
          <p:txBody>
            <a:bodyPr anchor="ctr" rtlCol="false" tIns="0" lIns="0" bIns="0" rIns="0"/>
            <a:lstStyle/>
            <a:p>
              <a:pPr algn="l">
                <a:lnSpc>
                  <a:spcPts val="2160"/>
                </a:lnSpc>
              </a:pPr>
              <a:r>
                <a:rPr lang="en-US" sz="1800" i="true">
                  <a:solidFill>
                    <a:srgbClr val="6E7B96"/>
                  </a:solidFill>
                  <a:latin typeface="Calibri (MS) Italics"/>
                  <a:ea typeface="Calibri (MS) Italics"/>
                  <a:cs typeface="Calibri (MS) Italics"/>
                  <a:sym typeface="Calibri (MS) Italics"/>
                </a:rPr>
                <a:t>Logistic Regression achieved the best overall performance — evaluated on a held-out test set of 123 samples.</a:t>
              </a:r>
            </a:p>
          </p:txBody>
        </p:sp>
      </p:grpSp>
      <p:grpSp>
        <p:nvGrpSpPr>
          <p:cNvPr name="Group 18" id="18"/>
          <p:cNvGrpSpPr/>
          <p:nvPr/>
        </p:nvGrpSpPr>
        <p:grpSpPr>
          <a:xfrm rot="0">
            <a:off x="10328148" y="2029968"/>
            <a:ext cx="7735824" cy="7324344"/>
            <a:chOff x="0" y="0"/>
            <a:chExt cx="10314432" cy="9765792"/>
          </a:xfrm>
        </p:grpSpPr>
        <p:sp>
          <p:nvSpPr>
            <p:cNvPr name="Freeform 19" id="19"/>
            <p:cNvSpPr/>
            <p:nvPr/>
          </p:nvSpPr>
          <p:spPr>
            <a:xfrm flipH="false" flipV="false" rot="0">
              <a:off x="0" y="0"/>
              <a:ext cx="10314432" cy="9765792"/>
            </a:xfrm>
            <a:custGeom>
              <a:avLst/>
              <a:gdLst/>
              <a:ahLst/>
              <a:cxnLst/>
              <a:rect r="r" b="b" t="t" l="l"/>
              <a:pathLst>
                <a:path h="9765792" w="10314432">
                  <a:moveTo>
                    <a:pt x="0" y="0"/>
                  </a:moveTo>
                  <a:lnTo>
                    <a:pt x="10314432" y="0"/>
                  </a:lnTo>
                  <a:lnTo>
                    <a:pt x="10314432" y="9765792"/>
                  </a:lnTo>
                  <a:lnTo>
                    <a:pt x="0" y="9765792"/>
                  </a:lnTo>
                  <a:lnTo>
                    <a:pt x="0" y="0"/>
                  </a:lnTo>
                  <a:close/>
                </a:path>
              </a:pathLst>
            </a:custGeom>
            <a:blipFill>
              <a:blip r:embed="rId5"/>
              <a:stretch>
                <a:fillRect l="0" t="-12" r="0" b="-12"/>
              </a:stretch>
            </a:blipFill>
          </p:spPr>
        </p:sp>
      </p:grpSp>
      <p:grpSp>
        <p:nvGrpSpPr>
          <p:cNvPr name="Group 20" id="20"/>
          <p:cNvGrpSpPr/>
          <p:nvPr/>
        </p:nvGrpSpPr>
        <p:grpSpPr>
          <a:xfrm rot="0">
            <a:off x="685800" y="9738360"/>
            <a:ext cx="8229600" cy="411480"/>
            <a:chOff x="0" y="0"/>
            <a:chExt cx="10972800" cy="548640"/>
          </a:xfrm>
        </p:grpSpPr>
        <p:sp>
          <p:nvSpPr>
            <p:cNvPr name="Freeform 21" id="2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22" id="22"/>
          <p:cNvGrpSpPr/>
          <p:nvPr/>
        </p:nvGrpSpPr>
        <p:grpSpPr>
          <a:xfrm rot="0">
            <a:off x="685800" y="9716929"/>
            <a:ext cx="8229600" cy="432911"/>
            <a:chOff x="0" y="0"/>
            <a:chExt cx="10972800" cy="577215"/>
          </a:xfrm>
        </p:grpSpPr>
        <p:sp>
          <p:nvSpPr>
            <p:cNvPr name="Freeform 23" id="23"/>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24" id="24"/>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25" id="25"/>
          <p:cNvGrpSpPr/>
          <p:nvPr/>
        </p:nvGrpSpPr>
        <p:grpSpPr>
          <a:xfrm rot="0">
            <a:off x="16870680" y="9738360"/>
            <a:ext cx="685800" cy="411480"/>
            <a:chOff x="0" y="0"/>
            <a:chExt cx="914400" cy="548640"/>
          </a:xfrm>
        </p:grpSpPr>
        <p:sp>
          <p:nvSpPr>
            <p:cNvPr name="Freeform 26" id="2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27" id="27"/>
          <p:cNvGrpSpPr/>
          <p:nvPr/>
        </p:nvGrpSpPr>
        <p:grpSpPr>
          <a:xfrm rot="0">
            <a:off x="16870680" y="9716929"/>
            <a:ext cx="685800" cy="432911"/>
            <a:chOff x="0" y="0"/>
            <a:chExt cx="914400" cy="577215"/>
          </a:xfrm>
        </p:grpSpPr>
        <p:sp>
          <p:nvSpPr>
            <p:cNvPr name="Freeform 28" id="28"/>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29" id="29"/>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RESULTS</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Why the Simpler Model Won</a:t>
              </a:r>
            </a:p>
          </p:txBody>
        </p:sp>
      </p:grpSp>
      <p:grpSp>
        <p:nvGrpSpPr>
          <p:cNvPr name="Group 12" id="12"/>
          <p:cNvGrpSpPr/>
          <p:nvPr/>
        </p:nvGrpSpPr>
        <p:grpSpPr>
          <a:xfrm rot="0">
            <a:off x="822960" y="2606040"/>
            <a:ext cx="8092440" cy="6309360"/>
            <a:chOff x="0" y="0"/>
            <a:chExt cx="10789920" cy="8412480"/>
          </a:xfrm>
        </p:grpSpPr>
        <p:sp>
          <p:nvSpPr>
            <p:cNvPr name="Freeform 13" id="13"/>
            <p:cNvSpPr/>
            <p:nvPr/>
          </p:nvSpPr>
          <p:spPr>
            <a:xfrm flipH="false" flipV="false" rot="0">
              <a:off x="0" y="0"/>
              <a:ext cx="10789920" cy="8412480"/>
            </a:xfrm>
            <a:custGeom>
              <a:avLst/>
              <a:gdLst/>
              <a:ahLst/>
              <a:cxnLst/>
              <a:rect r="r" b="b" t="t" l="l"/>
              <a:pathLst>
                <a:path h="8412480" w="10789920">
                  <a:moveTo>
                    <a:pt x="0" y="182880"/>
                  </a:moveTo>
                  <a:cubicBezTo>
                    <a:pt x="0" y="81915"/>
                    <a:pt x="81915" y="0"/>
                    <a:pt x="182880" y="0"/>
                  </a:cubicBezTo>
                  <a:lnTo>
                    <a:pt x="10607040" y="0"/>
                  </a:lnTo>
                  <a:cubicBezTo>
                    <a:pt x="10708005" y="0"/>
                    <a:pt x="10789920" y="81915"/>
                    <a:pt x="10789920" y="182880"/>
                  </a:cubicBezTo>
                  <a:lnTo>
                    <a:pt x="10789920" y="8229600"/>
                  </a:lnTo>
                  <a:cubicBezTo>
                    <a:pt x="10789920" y="8330565"/>
                    <a:pt x="10708005" y="8412480"/>
                    <a:pt x="10607040" y="8412480"/>
                  </a:cubicBezTo>
                  <a:lnTo>
                    <a:pt x="182880" y="8412480"/>
                  </a:lnTo>
                  <a:cubicBezTo>
                    <a:pt x="81915" y="8412480"/>
                    <a:pt x="0" y="8330565"/>
                    <a:pt x="0" y="8229600"/>
                  </a:cubicBezTo>
                  <a:close/>
                </a:path>
              </a:pathLst>
            </a:custGeom>
            <a:solidFill>
              <a:srgbClr val="F7F9FC"/>
            </a:solidFill>
          </p:spPr>
        </p:sp>
      </p:grpSp>
      <p:grpSp>
        <p:nvGrpSpPr>
          <p:cNvPr name="Group 14" id="14"/>
          <p:cNvGrpSpPr/>
          <p:nvPr/>
        </p:nvGrpSpPr>
        <p:grpSpPr>
          <a:xfrm rot="0">
            <a:off x="1303020" y="3017520"/>
            <a:ext cx="685800" cy="685800"/>
            <a:chOff x="0" y="0"/>
            <a:chExt cx="914400" cy="914400"/>
          </a:xfrm>
        </p:grpSpPr>
        <p:sp>
          <p:nvSpPr>
            <p:cNvPr name="Freeform 15" id="15"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grpSp>
        <p:nvGrpSpPr>
          <p:cNvPr name="Group 16" id="16"/>
          <p:cNvGrpSpPr/>
          <p:nvPr/>
        </p:nvGrpSpPr>
        <p:grpSpPr>
          <a:xfrm rot="0">
            <a:off x="2194560" y="3127248"/>
            <a:ext cx="6309360" cy="548640"/>
            <a:chOff x="0" y="0"/>
            <a:chExt cx="8412480" cy="731520"/>
          </a:xfrm>
        </p:grpSpPr>
        <p:sp>
          <p:nvSpPr>
            <p:cNvPr name="Freeform 17" id="17"/>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blipFill>
              <a:blip r:embed="rId3">
                <a:alphaModFix amt="0"/>
              </a:blip>
              <a:stretch>
                <a:fillRect l="0" t="-173921" r="0" b="-173921"/>
              </a:stretch>
            </a:blipFill>
          </p:spPr>
        </p:sp>
      </p:grpSp>
      <p:grpSp>
        <p:nvGrpSpPr>
          <p:cNvPr name="Group 18" id="18"/>
          <p:cNvGrpSpPr/>
          <p:nvPr/>
        </p:nvGrpSpPr>
        <p:grpSpPr>
          <a:xfrm rot="0">
            <a:off x="2194560" y="3120104"/>
            <a:ext cx="6309360" cy="555784"/>
            <a:chOff x="0" y="0"/>
            <a:chExt cx="8412480" cy="741045"/>
          </a:xfrm>
        </p:grpSpPr>
        <p:sp>
          <p:nvSpPr>
            <p:cNvPr name="Freeform 19" id="19"/>
            <p:cNvSpPr/>
            <p:nvPr/>
          </p:nvSpPr>
          <p:spPr>
            <a:xfrm flipH="false" flipV="false" rot="0">
              <a:off x="0" y="0"/>
              <a:ext cx="8412480" cy="741045"/>
            </a:xfrm>
            <a:custGeom>
              <a:avLst/>
              <a:gdLst/>
              <a:ahLst/>
              <a:cxnLst/>
              <a:rect r="r" b="b" t="t" l="l"/>
              <a:pathLst>
                <a:path h="741045" w="8412480">
                  <a:moveTo>
                    <a:pt x="0" y="0"/>
                  </a:moveTo>
                  <a:lnTo>
                    <a:pt x="8412480" y="0"/>
                  </a:lnTo>
                  <a:lnTo>
                    <a:pt x="8412480" y="741045"/>
                  </a:lnTo>
                  <a:lnTo>
                    <a:pt x="0" y="741045"/>
                  </a:lnTo>
                  <a:close/>
                </a:path>
              </a:pathLst>
            </a:custGeom>
            <a:blipFill>
              <a:blip r:embed="rId4">
                <a:alphaModFix amt="0"/>
              </a:blip>
              <a:stretch>
                <a:fillRect l="0" t="-171197" r="0" b="-171197"/>
              </a:stretch>
            </a:blipFill>
          </p:spPr>
        </p:sp>
        <p:sp>
          <p:nvSpPr>
            <p:cNvPr name="TextBox 20" id="20"/>
            <p:cNvSpPr txBox="true"/>
            <p:nvPr/>
          </p:nvSpPr>
          <p:spPr>
            <a:xfrm>
              <a:off x="0" y="-9525"/>
              <a:ext cx="8412480" cy="750570"/>
            </a:xfrm>
            <a:prstGeom prst="rect">
              <a:avLst/>
            </a:prstGeom>
          </p:spPr>
          <p:txBody>
            <a:bodyPr anchor="ctr" rtlCol="false" tIns="0" lIns="0" bIns="0" rIns="0"/>
            <a:lstStyle/>
            <a:p>
              <a:pPr algn="l">
                <a:lnSpc>
                  <a:spcPts val="2879"/>
                </a:lnSpc>
              </a:pPr>
              <a:r>
                <a:rPr lang="en-US" sz="2400" b="true">
                  <a:solidFill>
                    <a:srgbClr val="1E2761"/>
                  </a:solidFill>
                  <a:latin typeface="Cambria Bold"/>
                  <a:ea typeface="Cambria Bold"/>
                  <a:cs typeface="Cambria Bold"/>
                  <a:sym typeface="Cambria Bold"/>
                </a:rPr>
                <a:t>Comparative Analysis</a:t>
              </a:r>
            </a:p>
          </p:txBody>
        </p:sp>
      </p:grpSp>
      <p:grpSp>
        <p:nvGrpSpPr>
          <p:cNvPr name="Group 21" id="21"/>
          <p:cNvGrpSpPr/>
          <p:nvPr/>
        </p:nvGrpSpPr>
        <p:grpSpPr>
          <a:xfrm rot="0">
            <a:off x="1303020" y="4046220"/>
            <a:ext cx="7200900" cy="822960"/>
            <a:chOff x="0" y="0"/>
            <a:chExt cx="9601200" cy="1097280"/>
          </a:xfrm>
        </p:grpSpPr>
        <p:sp>
          <p:nvSpPr>
            <p:cNvPr name="Freeform 22" id="22"/>
            <p:cNvSpPr/>
            <p:nvPr/>
          </p:nvSpPr>
          <p:spPr>
            <a:xfrm flipH="false" flipV="false" rot="0">
              <a:off x="0" y="0"/>
              <a:ext cx="9601200" cy="1097280"/>
            </a:xfrm>
            <a:custGeom>
              <a:avLst/>
              <a:gdLst/>
              <a:ahLst/>
              <a:cxnLst/>
              <a:rect r="r" b="b" t="t" l="l"/>
              <a:pathLst>
                <a:path h="1097280" w="9601200">
                  <a:moveTo>
                    <a:pt x="0" y="0"/>
                  </a:moveTo>
                  <a:lnTo>
                    <a:pt x="9601200" y="0"/>
                  </a:lnTo>
                  <a:lnTo>
                    <a:pt x="9601200" y="1097280"/>
                  </a:lnTo>
                  <a:lnTo>
                    <a:pt x="0" y="1097280"/>
                  </a:lnTo>
                  <a:close/>
                </a:path>
              </a:pathLst>
            </a:custGeom>
            <a:blipFill>
              <a:blip r:embed="rId3">
                <a:alphaModFix amt="0"/>
              </a:blip>
              <a:stretch>
                <a:fillRect l="0" t="-120374" r="0" b="-120376"/>
              </a:stretch>
            </a:blipFill>
          </p:spPr>
        </p:sp>
      </p:grpSp>
      <p:grpSp>
        <p:nvGrpSpPr>
          <p:cNvPr name="Group 23" id="23"/>
          <p:cNvGrpSpPr/>
          <p:nvPr/>
        </p:nvGrpSpPr>
        <p:grpSpPr>
          <a:xfrm rot="0">
            <a:off x="1303020" y="4010501"/>
            <a:ext cx="7200900" cy="858679"/>
            <a:chOff x="0" y="0"/>
            <a:chExt cx="9601200" cy="1144905"/>
          </a:xfrm>
        </p:grpSpPr>
        <p:sp>
          <p:nvSpPr>
            <p:cNvPr name="Freeform 24" id="24"/>
            <p:cNvSpPr/>
            <p:nvPr/>
          </p:nvSpPr>
          <p:spPr>
            <a:xfrm flipH="false" flipV="false" rot="0">
              <a:off x="0" y="0"/>
              <a:ext cx="9601200" cy="1144905"/>
            </a:xfrm>
            <a:custGeom>
              <a:avLst/>
              <a:gdLst/>
              <a:ahLst/>
              <a:cxnLst/>
              <a:rect r="r" b="b" t="t" l="l"/>
              <a:pathLst>
                <a:path h="1144905" w="9601200">
                  <a:moveTo>
                    <a:pt x="0" y="0"/>
                  </a:moveTo>
                  <a:lnTo>
                    <a:pt x="9601200" y="0"/>
                  </a:lnTo>
                  <a:lnTo>
                    <a:pt x="9601200" y="1144905"/>
                  </a:lnTo>
                  <a:lnTo>
                    <a:pt x="0" y="1144905"/>
                  </a:lnTo>
                  <a:close/>
                </a:path>
              </a:pathLst>
            </a:custGeom>
            <a:blipFill>
              <a:blip r:embed="rId4">
                <a:alphaModFix amt="0"/>
              </a:blip>
              <a:stretch>
                <a:fillRect l="0" t="-113401" r="0" b="-113401"/>
              </a:stretch>
            </a:blipFill>
          </p:spPr>
        </p:sp>
        <p:sp>
          <p:nvSpPr>
            <p:cNvPr name="TextBox 25" id="25"/>
            <p:cNvSpPr txBox="true"/>
            <p:nvPr/>
          </p:nvSpPr>
          <p:spPr>
            <a:xfrm>
              <a:off x="0" y="-47625"/>
              <a:ext cx="9601200" cy="119253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44506B"/>
                  </a:solidFill>
                  <a:latin typeface="Calibri (MS)"/>
                  <a:ea typeface="Calibri (MS)"/>
                  <a:cs typeface="Calibri (MS)"/>
                  <a:sym typeface="Calibri (MS)"/>
                </a:rPr>
                <a:t>Small dataset (614 records) limits ensemble methods from reaching full potential</a:t>
              </a:r>
            </a:p>
          </p:txBody>
        </p:sp>
      </p:grpSp>
      <p:grpSp>
        <p:nvGrpSpPr>
          <p:cNvPr name="Group 26" id="26"/>
          <p:cNvGrpSpPr/>
          <p:nvPr/>
        </p:nvGrpSpPr>
        <p:grpSpPr>
          <a:xfrm rot="0">
            <a:off x="1303020" y="5033772"/>
            <a:ext cx="7200900" cy="822960"/>
            <a:chOff x="0" y="0"/>
            <a:chExt cx="9601200" cy="1097280"/>
          </a:xfrm>
        </p:grpSpPr>
        <p:sp>
          <p:nvSpPr>
            <p:cNvPr name="Freeform 27" id="27"/>
            <p:cNvSpPr/>
            <p:nvPr/>
          </p:nvSpPr>
          <p:spPr>
            <a:xfrm flipH="false" flipV="false" rot="0">
              <a:off x="0" y="0"/>
              <a:ext cx="9601200" cy="1097280"/>
            </a:xfrm>
            <a:custGeom>
              <a:avLst/>
              <a:gdLst/>
              <a:ahLst/>
              <a:cxnLst/>
              <a:rect r="r" b="b" t="t" l="l"/>
              <a:pathLst>
                <a:path h="1097280" w="9601200">
                  <a:moveTo>
                    <a:pt x="0" y="0"/>
                  </a:moveTo>
                  <a:lnTo>
                    <a:pt x="9601200" y="0"/>
                  </a:lnTo>
                  <a:lnTo>
                    <a:pt x="9601200" y="1097280"/>
                  </a:lnTo>
                  <a:lnTo>
                    <a:pt x="0" y="1097280"/>
                  </a:lnTo>
                  <a:close/>
                </a:path>
              </a:pathLst>
            </a:custGeom>
            <a:blipFill>
              <a:blip r:embed="rId3">
                <a:alphaModFix amt="0"/>
              </a:blip>
              <a:stretch>
                <a:fillRect l="0" t="-120374" r="0" b="-120376"/>
              </a:stretch>
            </a:blipFill>
          </p:spPr>
        </p:sp>
      </p:grpSp>
      <p:grpSp>
        <p:nvGrpSpPr>
          <p:cNvPr name="Group 28" id="28"/>
          <p:cNvGrpSpPr/>
          <p:nvPr/>
        </p:nvGrpSpPr>
        <p:grpSpPr>
          <a:xfrm rot="0">
            <a:off x="1303020" y="4998053"/>
            <a:ext cx="7200900" cy="858679"/>
            <a:chOff x="0" y="0"/>
            <a:chExt cx="9601200" cy="1144905"/>
          </a:xfrm>
        </p:grpSpPr>
        <p:sp>
          <p:nvSpPr>
            <p:cNvPr name="Freeform 29" id="29"/>
            <p:cNvSpPr/>
            <p:nvPr/>
          </p:nvSpPr>
          <p:spPr>
            <a:xfrm flipH="false" flipV="false" rot="0">
              <a:off x="0" y="0"/>
              <a:ext cx="9601200" cy="1144905"/>
            </a:xfrm>
            <a:custGeom>
              <a:avLst/>
              <a:gdLst/>
              <a:ahLst/>
              <a:cxnLst/>
              <a:rect r="r" b="b" t="t" l="l"/>
              <a:pathLst>
                <a:path h="1144905" w="9601200">
                  <a:moveTo>
                    <a:pt x="0" y="0"/>
                  </a:moveTo>
                  <a:lnTo>
                    <a:pt x="9601200" y="0"/>
                  </a:lnTo>
                  <a:lnTo>
                    <a:pt x="9601200" y="1144905"/>
                  </a:lnTo>
                  <a:lnTo>
                    <a:pt x="0" y="1144905"/>
                  </a:lnTo>
                  <a:close/>
                </a:path>
              </a:pathLst>
            </a:custGeom>
            <a:blipFill>
              <a:blip r:embed="rId4">
                <a:alphaModFix amt="0"/>
              </a:blip>
              <a:stretch>
                <a:fillRect l="0" t="-113401" r="0" b="-113401"/>
              </a:stretch>
            </a:blipFill>
          </p:spPr>
        </p:sp>
        <p:sp>
          <p:nvSpPr>
            <p:cNvPr name="TextBox 30" id="30"/>
            <p:cNvSpPr txBox="true"/>
            <p:nvPr/>
          </p:nvSpPr>
          <p:spPr>
            <a:xfrm>
              <a:off x="0" y="-47625"/>
              <a:ext cx="9601200" cy="119253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44506B"/>
                  </a:solidFill>
                  <a:latin typeface="Calibri (MS)"/>
                  <a:ea typeface="Calibri (MS)"/>
                  <a:cs typeface="Calibri (MS)"/>
                  <a:sym typeface="Calibri (MS)"/>
                </a:rPr>
                <a:t>Complex models like XGBoost can overfit — learning noise instead of patterns</a:t>
              </a:r>
            </a:p>
          </p:txBody>
        </p:sp>
      </p:grpSp>
      <p:grpSp>
        <p:nvGrpSpPr>
          <p:cNvPr name="Group 31" id="31"/>
          <p:cNvGrpSpPr/>
          <p:nvPr/>
        </p:nvGrpSpPr>
        <p:grpSpPr>
          <a:xfrm rot="0">
            <a:off x="1303020" y="6021324"/>
            <a:ext cx="7200900" cy="822960"/>
            <a:chOff x="0" y="0"/>
            <a:chExt cx="9601200" cy="1097280"/>
          </a:xfrm>
        </p:grpSpPr>
        <p:sp>
          <p:nvSpPr>
            <p:cNvPr name="Freeform 32" id="32"/>
            <p:cNvSpPr/>
            <p:nvPr/>
          </p:nvSpPr>
          <p:spPr>
            <a:xfrm flipH="false" flipV="false" rot="0">
              <a:off x="0" y="0"/>
              <a:ext cx="9601200" cy="1097280"/>
            </a:xfrm>
            <a:custGeom>
              <a:avLst/>
              <a:gdLst/>
              <a:ahLst/>
              <a:cxnLst/>
              <a:rect r="r" b="b" t="t" l="l"/>
              <a:pathLst>
                <a:path h="1097280" w="9601200">
                  <a:moveTo>
                    <a:pt x="0" y="0"/>
                  </a:moveTo>
                  <a:lnTo>
                    <a:pt x="9601200" y="0"/>
                  </a:lnTo>
                  <a:lnTo>
                    <a:pt x="9601200" y="1097280"/>
                  </a:lnTo>
                  <a:lnTo>
                    <a:pt x="0" y="1097280"/>
                  </a:lnTo>
                  <a:close/>
                </a:path>
              </a:pathLst>
            </a:custGeom>
            <a:blipFill>
              <a:blip r:embed="rId3">
                <a:alphaModFix amt="0"/>
              </a:blip>
              <a:stretch>
                <a:fillRect l="0" t="-120374" r="0" b="-120376"/>
              </a:stretch>
            </a:blipFill>
          </p:spPr>
        </p:sp>
      </p:grpSp>
      <p:grpSp>
        <p:nvGrpSpPr>
          <p:cNvPr name="Group 33" id="33"/>
          <p:cNvGrpSpPr/>
          <p:nvPr/>
        </p:nvGrpSpPr>
        <p:grpSpPr>
          <a:xfrm rot="0">
            <a:off x="1303020" y="5985605"/>
            <a:ext cx="7200900" cy="858679"/>
            <a:chOff x="0" y="0"/>
            <a:chExt cx="9601200" cy="1144905"/>
          </a:xfrm>
        </p:grpSpPr>
        <p:sp>
          <p:nvSpPr>
            <p:cNvPr name="Freeform 34" id="34"/>
            <p:cNvSpPr/>
            <p:nvPr/>
          </p:nvSpPr>
          <p:spPr>
            <a:xfrm flipH="false" flipV="false" rot="0">
              <a:off x="0" y="0"/>
              <a:ext cx="9601200" cy="1144905"/>
            </a:xfrm>
            <a:custGeom>
              <a:avLst/>
              <a:gdLst/>
              <a:ahLst/>
              <a:cxnLst/>
              <a:rect r="r" b="b" t="t" l="l"/>
              <a:pathLst>
                <a:path h="1144905" w="9601200">
                  <a:moveTo>
                    <a:pt x="0" y="0"/>
                  </a:moveTo>
                  <a:lnTo>
                    <a:pt x="9601200" y="0"/>
                  </a:lnTo>
                  <a:lnTo>
                    <a:pt x="9601200" y="1144905"/>
                  </a:lnTo>
                  <a:lnTo>
                    <a:pt x="0" y="1144905"/>
                  </a:lnTo>
                  <a:close/>
                </a:path>
              </a:pathLst>
            </a:custGeom>
            <a:blipFill>
              <a:blip r:embed="rId4">
                <a:alphaModFix amt="0"/>
              </a:blip>
              <a:stretch>
                <a:fillRect l="0" t="-113401" r="0" b="-113401"/>
              </a:stretch>
            </a:blipFill>
          </p:spPr>
        </p:sp>
        <p:sp>
          <p:nvSpPr>
            <p:cNvPr name="TextBox 35" id="35"/>
            <p:cNvSpPr txBox="true"/>
            <p:nvPr/>
          </p:nvSpPr>
          <p:spPr>
            <a:xfrm>
              <a:off x="0" y="-47625"/>
              <a:ext cx="9601200" cy="119253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44506B"/>
                  </a:solidFill>
                  <a:latin typeface="Calibri (MS)"/>
                  <a:ea typeface="Calibri (MS)"/>
                  <a:cs typeface="Calibri (MS)"/>
                  <a:sym typeface="Calibri (MS)"/>
                </a:rPr>
                <a:t>The loan approval task is approximately linearly separable</a:t>
              </a:r>
            </a:p>
          </p:txBody>
        </p:sp>
      </p:grpSp>
      <p:grpSp>
        <p:nvGrpSpPr>
          <p:cNvPr name="Group 36" id="36"/>
          <p:cNvGrpSpPr/>
          <p:nvPr/>
        </p:nvGrpSpPr>
        <p:grpSpPr>
          <a:xfrm rot="0">
            <a:off x="1303020" y="7008876"/>
            <a:ext cx="7200900" cy="822960"/>
            <a:chOff x="0" y="0"/>
            <a:chExt cx="9601200" cy="1097280"/>
          </a:xfrm>
        </p:grpSpPr>
        <p:sp>
          <p:nvSpPr>
            <p:cNvPr name="Freeform 37" id="37"/>
            <p:cNvSpPr/>
            <p:nvPr/>
          </p:nvSpPr>
          <p:spPr>
            <a:xfrm flipH="false" flipV="false" rot="0">
              <a:off x="0" y="0"/>
              <a:ext cx="9601200" cy="1097280"/>
            </a:xfrm>
            <a:custGeom>
              <a:avLst/>
              <a:gdLst/>
              <a:ahLst/>
              <a:cxnLst/>
              <a:rect r="r" b="b" t="t" l="l"/>
              <a:pathLst>
                <a:path h="1097280" w="9601200">
                  <a:moveTo>
                    <a:pt x="0" y="0"/>
                  </a:moveTo>
                  <a:lnTo>
                    <a:pt x="9601200" y="0"/>
                  </a:lnTo>
                  <a:lnTo>
                    <a:pt x="9601200" y="1097280"/>
                  </a:lnTo>
                  <a:lnTo>
                    <a:pt x="0" y="1097280"/>
                  </a:lnTo>
                  <a:close/>
                </a:path>
              </a:pathLst>
            </a:custGeom>
            <a:blipFill>
              <a:blip r:embed="rId3">
                <a:alphaModFix amt="0"/>
              </a:blip>
              <a:stretch>
                <a:fillRect l="0" t="-120374" r="0" b="-120376"/>
              </a:stretch>
            </a:blipFill>
          </p:spPr>
        </p:sp>
      </p:grpSp>
      <p:grpSp>
        <p:nvGrpSpPr>
          <p:cNvPr name="Group 38" id="38"/>
          <p:cNvGrpSpPr/>
          <p:nvPr/>
        </p:nvGrpSpPr>
        <p:grpSpPr>
          <a:xfrm rot="0">
            <a:off x="1303020" y="6973157"/>
            <a:ext cx="7200900" cy="858679"/>
            <a:chOff x="0" y="0"/>
            <a:chExt cx="9601200" cy="1144905"/>
          </a:xfrm>
        </p:grpSpPr>
        <p:sp>
          <p:nvSpPr>
            <p:cNvPr name="Freeform 39" id="39"/>
            <p:cNvSpPr/>
            <p:nvPr/>
          </p:nvSpPr>
          <p:spPr>
            <a:xfrm flipH="false" flipV="false" rot="0">
              <a:off x="0" y="0"/>
              <a:ext cx="9601200" cy="1144905"/>
            </a:xfrm>
            <a:custGeom>
              <a:avLst/>
              <a:gdLst/>
              <a:ahLst/>
              <a:cxnLst/>
              <a:rect r="r" b="b" t="t" l="l"/>
              <a:pathLst>
                <a:path h="1144905" w="9601200">
                  <a:moveTo>
                    <a:pt x="0" y="0"/>
                  </a:moveTo>
                  <a:lnTo>
                    <a:pt x="9601200" y="0"/>
                  </a:lnTo>
                  <a:lnTo>
                    <a:pt x="9601200" y="1144905"/>
                  </a:lnTo>
                  <a:lnTo>
                    <a:pt x="0" y="1144905"/>
                  </a:lnTo>
                  <a:close/>
                </a:path>
              </a:pathLst>
            </a:custGeom>
            <a:blipFill>
              <a:blip r:embed="rId4">
                <a:alphaModFix amt="0"/>
              </a:blip>
              <a:stretch>
                <a:fillRect l="0" t="-113401" r="0" b="-113401"/>
              </a:stretch>
            </a:blipFill>
          </p:spPr>
        </p:sp>
        <p:sp>
          <p:nvSpPr>
            <p:cNvPr name="TextBox 40" id="40"/>
            <p:cNvSpPr txBox="true"/>
            <p:nvPr/>
          </p:nvSpPr>
          <p:spPr>
            <a:xfrm>
              <a:off x="0" y="-47625"/>
              <a:ext cx="9601200" cy="119253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44506B"/>
                  </a:solidFill>
                  <a:latin typeface="Calibri (MS)"/>
                  <a:ea typeface="Calibri (MS)"/>
                  <a:cs typeface="Calibri (MS)"/>
                  <a:sym typeface="Calibri (MS)"/>
                </a:rPr>
                <a:t>Linear models naturally outperform non-linear ones in this case</a:t>
              </a:r>
            </a:p>
          </p:txBody>
        </p:sp>
      </p:grpSp>
      <p:grpSp>
        <p:nvGrpSpPr>
          <p:cNvPr name="Group 41" id="41"/>
          <p:cNvGrpSpPr/>
          <p:nvPr/>
        </p:nvGrpSpPr>
        <p:grpSpPr>
          <a:xfrm rot="0">
            <a:off x="9326880" y="2606040"/>
            <a:ext cx="8229600" cy="480060"/>
            <a:chOff x="0" y="0"/>
            <a:chExt cx="10972800" cy="640080"/>
          </a:xfrm>
        </p:grpSpPr>
        <p:sp>
          <p:nvSpPr>
            <p:cNvPr name="Freeform 42" id="42"/>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3797" r="0" b="-283795"/>
              </a:stretch>
            </a:blipFill>
          </p:spPr>
        </p:sp>
      </p:grpSp>
      <p:grpSp>
        <p:nvGrpSpPr>
          <p:cNvPr name="Group 43" id="43"/>
          <p:cNvGrpSpPr/>
          <p:nvPr/>
        </p:nvGrpSpPr>
        <p:grpSpPr>
          <a:xfrm rot="0">
            <a:off x="9326880" y="2570321"/>
            <a:ext cx="8229600" cy="515779"/>
            <a:chOff x="0" y="0"/>
            <a:chExt cx="10972800" cy="687705"/>
          </a:xfrm>
        </p:grpSpPr>
        <p:sp>
          <p:nvSpPr>
            <p:cNvPr name="Freeform 44" id="44"/>
            <p:cNvSpPr/>
            <p:nvPr/>
          </p:nvSpPr>
          <p:spPr>
            <a:xfrm flipH="false" flipV="false" rot="0">
              <a:off x="0" y="0"/>
              <a:ext cx="10972800" cy="687705"/>
            </a:xfrm>
            <a:custGeom>
              <a:avLst/>
              <a:gdLst/>
              <a:ahLst/>
              <a:cxnLst/>
              <a:rect r="r" b="b" t="t" l="l"/>
              <a:pathLst>
                <a:path h="687705" w="10972800">
                  <a:moveTo>
                    <a:pt x="0" y="0"/>
                  </a:moveTo>
                  <a:lnTo>
                    <a:pt x="10972800" y="0"/>
                  </a:lnTo>
                  <a:lnTo>
                    <a:pt x="10972800" y="687705"/>
                  </a:lnTo>
                  <a:lnTo>
                    <a:pt x="0" y="687705"/>
                  </a:lnTo>
                  <a:close/>
                </a:path>
              </a:pathLst>
            </a:custGeom>
            <a:blipFill>
              <a:blip r:embed="rId4">
                <a:alphaModFix amt="0"/>
              </a:blip>
              <a:stretch>
                <a:fillRect l="0" t="-260897" r="0" b="-260896"/>
              </a:stretch>
            </a:blipFill>
          </p:spPr>
        </p:sp>
        <p:sp>
          <p:nvSpPr>
            <p:cNvPr name="TextBox 45" id="45"/>
            <p:cNvSpPr txBox="true"/>
            <p:nvPr/>
          </p:nvSpPr>
          <p:spPr>
            <a:xfrm>
              <a:off x="0" y="-47625"/>
              <a:ext cx="10972800" cy="735330"/>
            </a:xfrm>
            <a:prstGeom prst="rect">
              <a:avLst/>
            </a:prstGeom>
          </p:spPr>
          <p:txBody>
            <a:bodyPr anchor="ctr" rtlCol="false" tIns="0" lIns="0" bIns="0" rIns="0"/>
            <a:lstStyle/>
            <a:p>
              <a:pPr algn="l">
                <a:lnSpc>
                  <a:spcPts val="2340"/>
                </a:lnSpc>
              </a:pPr>
              <a:r>
                <a:rPr lang="en-US" sz="1950" b="true">
                  <a:solidFill>
                    <a:srgbClr val="1E2761"/>
                  </a:solidFill>
                  <a:latin typeface="Calibri (MS) Bold"/>
                  <a:ea typeface="Calibri (MS) Bold"/>
                  <a:cs typeface="Calibri (MS) Bold"/>
                  <a:sym typeface="Calibri (MS) Bold"/>
                </a:rPr>
                <a:t>Classification Report — Logistic Regression</a:t>
              </a:r>
            </a:p>
          </p:txBody>
        </p:sp>
      </p:grpSp>
      <p:graphicFrame>
        <p:nvGraphicFramePr>
          <p:cNvPr name="Table 46" id="46"/>
          <p:cNvGraphicFramePr>
            <a:graphicFrameLocks noGrp="true"/>
          </p:cNvGraphicFramePr>
          <p:nvPr/>
        </p:nvGraphicFramePr>
        <p:xfrm>
          <a:off x="9326880" y="3223260"/>
          <a:ext cx="8064500" cy="2743200"/>
        </p:xfrm>
        <a:graphic>
          <a:graphicData uri="http://schemas.openxmlformats.org/drawingml/2006/table">
            <a:tbl>
              <a:tblPr/>
              <a:tblGrid>
                <a:gridCol w="2578006"/>
                <a:gridCol w="1371624"/>
                <a:gridCol w="1371624"/>
                <a:gridCol w="1371624"/>
                <a:gridCol w="1371624"/>
              </a:tblGrid>
              <a:tr h="6858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Class</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Precision</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Recall</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F1</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Support</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1E2761"/>
                    </a:solidFill>
                  </a:tcPr>
                </a:tc>
              </a:tr>
              <a:tr h="685800">
                <a:tc>
                  <a:txBody>
                    <a:bodyPr anchor="t" rtlCol="false"/>
                    <a:lstStyle/>
                    <a:p>
                      <a:pPr algn="l">
                        <a:lnSpc>
                          <a:spcPts val="2160"/>
                        </a:lnSpc>
                        <a:defRPr/>
                      </a:pPr>
                      <a:r>
                        <a:rPr lang="en-US" sz="1800">
                          <a:solidFill>
                            <a:srgbClr val="44506B"/>
                          </a:solidFill>
                          <a:latin typeface="Calibri (MS)"/>
                          <a:ea typeface="Calibri (MS)"/>
                          <a:cs typeface="Calibri (MS)"/>
                          <a:sym typeface="Calibri (MS)"/>
                        </a:rPr>
                        <a:t>0 (Rejected)</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0.95</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0.42</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0.58</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43</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7F9FC"/>
                    </a:solidFill>
                  </a:tcPr>
                </a:tc>
              </a:tr>
              <a:tr h="685800">
                <a:tc>
                  <a:txBody>
                    <a:bodyPr anchor="t" rtlCol="false"/>
                    <a:lstStyle/>
                    <a:p>
                      <a:pPr algn="l">
                        <a:lnSpc>
                          <a:spcPts val="2160"/>
                        </a:lnSpc>
                        <a:defRPr/>
                      </a:pPr>
                      <a:r>
                        <a:rPr lang="en-US" sz="1800">
                          <a:solidFill>
                            <a:srgbClr val="44506B"/>
                          </a:solidFill>
                          <a:latin typeface="Calibri (MS)"/>
                          <a:ea typeface="Calibri (MS)"/>
                          <a:cs typeface="Calibri (MS)"/>
                          <a:sym typeface="Calibri (MS)"/>
                        </a:rPr>
                        <a:t>1 (Approved)</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0.76</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0.99</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0.86</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06B"/>
                          </a:solidFill>
                          <a:latin typeface="Calibri (MS)"/>
                          <a:ea typeface="Calibri (MS)"/>
                          <a:cs typeface="Calibri (MS)"/>
                          <a:sym typeface="Calibri (MS)"/>
                        </a:rPr>
                        <a:t>80</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FFFFFF"/>
                    </a:solidFill>
                  </a:tcPr>
                </a:tc>
              </a:tr>
              <a:tr h="685800">
                <a:tc>
                  <a:txBody>
                    <a:bodyPr anchor="t" rtlCol="false"/>
                    <a:lstStyle/>
                    <a:p>
                      <a:pPr algn="l">
                        <a:lnSpc>
                          <a:spcPts val="2160"/>
                        </a:lnSpc>
                        <a:defRPr/>
                      </a:pPr>
                      <a:r>
                        <a:rPr lang="en-US" sz="1800" b="true">
                          <a:solidFill>
                            <a:srgbClr val="44506B"/>
                          </a:solidFill>
                          <a:latin typeface="Calibri (MS) Bold"/>
                          <a:ea typeface="Calibri (MS) Bold"/>
                          <a:cs typeface="Calibri (MS) Bold"/>
                          <a:sym typeface="Calibri (MS) Bold"/>
                        </a:rPr>
                        <a:t>Overall Accuracy</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160"/>
                        </a:lnSpc>
                        <a:defRPr/>
                      </a:pPr>
                      <a:r>
                        <a:rPr lang="en-US" sz="1800" b="true">
                          <a:solidFill>
                            <a:srgbClr val="44506B"/>
                          </a:solidFill>
                          <a:latin typeface="Calibri (MS) Bold"/>
                          <a:ea typeface="Calibri (MS) Bold"/>
                          <a:cs typeface="Calibri (MS) Bold"/>
                          <a:sym typeface="Calibri (MS) Bold"/>
                        </a:rPr>
                        <a:t>0.83</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160"/>
                        </a:lnSpc>
                        <a:defRPr/>
                      </a:pPr>
                      <a:r>
                        <a:rPr lang="en-US" sz="1800" b="true">
                          <a:solidFill>
                            <a:srgbClr val="44506B"/>
                          </a:solidFill>
                          <a:latin typeface="Calibri (MS) Bold"/>
                          <a:ea typeface="Calibri (MS) Bold"/>
                          <a:cs typeface="Calibri (MS) Bold"/>
                          <a:sym typeface="Calibri (MS) Bold"/>
                        </a:rPr>
                        <a:t>0.79</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160"/>
                        </a:lnSpc>
                        <a:defRPr/>
                      </a:pPr>
                      <a:r>
                        <a:rPr lang="en-US" sz="1800" b="true">
                          <a:solidFill>
                            <a:srgbClr val="44506B"/>
                          </a:solidFill>
                          <a:latin typeface="Calibri (MS) Bold"/>
                          <a:ea typeface="Calibri (MS) Bold"/>
                          <a:cs typeface="Calibri (MS) Bold"/>
                          <a:sym typeface="Calibri (MS) Bold"/>
                        </a:rPr>
                        <a:t>0.79</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c>
                  <a:txBody>
                    <a:bodyPr anchor="t" rtlCol="false"/>
                    <a:lstStyle/>
                    <a:p>
                      <a:pPr algn="ctr">
                        <a:lnSpc>
                          <a:spcPts val="2160"/>
                        </a:lnSpc>
                        <a:defRPr/>
                      </a:pPr>
                      <a:r>
                        <a:rPr lang="en-US" sz="1800" b="true">
                          <a:solidFill>
                            <a:srgbClr val="44506B"/>
                          </a:solidFill>
                          <a:latin typeface="Calibri (MS) Bold"/>
                          <a:ea typeface="Calibri (MS) Bold"/>
                          <a:cs typeface="Calibri (MS) Bold"/>
                          <a:sym typeface="Calibri (MS) Bold"/>
                        </a:rPr>
                        <a:t>123</a:t>
                      </a:r>
                      <a:endParaRPr lang="en-US" sz="1100"/>
                    </a:p>
                  </a:txBody>
                  <a:tcPr marL="91440" marR="91440" marT="91440" marB="91440" anchor="t">
                    <a:lnL cmpd="sng" algn="ctr" cap="flat" w="6350">
                      <a:solidFill>
                        <a:srgbClr val="DDE3EE"/>
                      </a:solidFill>
                      <a:prstDash val="solid"/>
                      <a:round/>
                      <a:headEnd type="none" w="med" len="med"/>
                      <a:tailEnd type="none" w="med" len="med"/>
                    </a:lnL>
                    <a:lnR cmpd="sng" algn="ctr" cap="flat" w="6350">
                      <a:solidFill>
                        <a:srgbClr val="DDE3EE"/>
                      </a:solidFill>
                      <a:prstDash val="solid"/>
                      <a:round/>
                      <a:headEnd type="none" w="med" len="med"/>
                      <a:tailEnd type="none" w="med" len="med"/>
                    </a:lnR>
                    <a:lnT cmpd="sng" algn="ctr" cap="flat" w="6350">
                      <a:solidFill>
                        <a:srgbClr val="DDE3EE"/>
                      </a:solidFill>
                      <a:prstDash val="solid"/>
                      <a:round/>
                      <a:headEnd type="none" w="med" len="med"/>
                      <a:tailEnd type="none" w="med" len="med"/>
                    </a:lnT>
                    <a:lnB cmpd="sng" algn="ctr" cap="flat" w="6350">
                      <a:solidFill>
                        <a:srgbClr val="DDE3EE"/>
                      </a:solidFill>
                      <a:prstDash val="solid"/>
                      <a:round/>
                      <a:headEnd type="none" w="med" len="med"/>
                      <a:tailEnd type="none" w="med" len="med"/>
                    </a:lnB>
                    <a:solidFill>
                      <a:srgbClr val="CADCFC"/>
                    </a:solidFill>
                  </a:tcPr>
                </a:tc>
              </a:tr>
            </a:tbl>
          </a:graphicData>
        </a:graphic>
      </p:graphicFrame>
      <p:grpSp>
        <p:nvGrpSpPr>
          <p:cNvPr name="Group 47" id="47"/>
          <p:cNvGrpSpPr/>
          <p:nvPr/>
        </p:nvGrpSpPr>
        <p:grpSpPr>
          <a:xfrm rot="0">
            <a:off x="9326880" y="6240780"/>
            <a:ext cx="8092440" cy="1097280"/>
            <a:chOff x="0" y="0"/>
            <a:chExt cx="10789920" cy="1463040"/>
          </a:xfrm>
        </p:grpSpPr>
        <p:sp>
          <p:nvSpPr>
            <p:cNvPr name="Freeform 48" id="48"/>
            <p:cNvSpPr/>
            <p:nvPr/>
          </p:nvSpPr>
          <p:spPr>
            <a:xfrm flipH="false" flipV="false" rot="0">
              <a:off x="0" y="0"/>
              <a:ext cx="10789920" cy="1463040"/>
            </a:xfrm>
            <a:custGeom>
              <a:avLst/>
              <a:gdLst/>
              <a:ahLst/>
              <a:cxnLst/>
              <a:rect r="r" b="b" t="t" l="l"/>
              <a:pathLst>
                <a:path h="1463040" w="10789920">
                  <a:moveTo>
                    <a:pt x="0" y="0"/>
                  </a:moveTo>
                  <a:lnTo>
                    <a:pt x="10789920" y="0"/>
                  </a:lnTo>
                  <a:lnTo>
                    <a:pt x="10789920" y="1463040"/>
                  </a:lnTo>
                  <a:lnTo>
                    <a:pt x="0" y="1463040"/>
                  </a:lnTo>
                  <a:close/>
                </a:path>
              </a:pathLst>
            </a:custGeom>
            <a:blipFill>
              <a:blip r:embed="rId3">
                <a:alphaModFix amt="0"/>
              </a:blip>
              <a:stretch>
                <a:fillRect l="0" t="-93602" r="0" b="-93602"/>
              </a:stretch>
            </a:blipFill>
          </p:spPr>
        </p:sp>
      </p:grpSp>
      <p:grpSp>
        <p:nvGrpSpPr>
          <p:cNvPr name="Group 49" id="49"/>
          <p:cNvGrpSpPr/>
          <p:nvPr/>
        </p:nvGrpSpPr>
        <p:grpSpPr>
          <a:xfrm rot="0">
            <a:off x="9326880" y="6212205"/>
            <a:ext cx="8092440" cy="1125855"/>
            <a:chOff x="0" y="0"/>
            <a:chExt cx="10789920" cy="1501140"/>
          </a:xfrm>
        </p:grpSpPr>
        <p:sp>
          <p:nvSpPr>
            <p:cNvPr name="Freeform 50" id="50"/>
            <p:cNvSpPr/>
            <p:nvPr/>
          </p:nvSpPr>
          <p:spPr>
            <a:xfrm flipH="false" flipV="false" rot="0">
              <a:off x="0" y="0"/>
              <a:ext cx="10789920" cy="1501140"/>
            </a:xfrm>
            <a:custGeom>
              <a:avLst/>
              <a:gdLst/>
              <a:ahLst/>
              <a:cxnLst/>
              <a:rect r="r" b="b" t="t" l="l"/>
              <a:pathLst>
                <a:path h="1501140" w="10789920">
                  <a:moveTo>
                    <a:pt x="0" y="0"/>
                  </a:moveTo>
                  <a:lnTo>
                    <a:pt x="10789920" y="0"/>
                  </a:lnTo>
                  <a:lnTo>
                    <a:pt x="10789920" y="1501140"/>
                  </a:lnTo>
                  <a:lnTo>
                    <a:pt x="0" y="1501140"/>
                  </a:lnTo>
                  <a:close/>
                </a:path>
              </a:pathLst>
            </a:custGeom>
            <a:blipFill>
              <a:blip r:embed="rId4">
                <a:alphaModFix amt="0"/>
              </a:blip>
              <a:stretch>
                <a:fillRect l="0" t="-90054" r="0" b="-90054"/>
              </a:stretch>
            </a:blipFill>
          </p:spPr>
        </p:sp>
        <p:sp>
          <p:nvSpPr>
            <p:cNvPr name="TextBox 51" id="51"/>
            <p:cNvSpPr txBox="true"/>
            <p:nvPr/>
          </p:nvSpPr>
          <p:spPr>
            <a:xfrm>
              <a:off x="0" y="-38100"/>
              <a:ext cx="10789920" cy="1539240"/>
            </a:xfrm>
            <a:prstGeom prst="rect">
              <a:avLst/>
            </a:prstGeom>
          </p:spPr>
          <p:txBody>
            <a:bodyPr anchor="ctr" rtlCol="false" tIns="0" lIns="0" bIns="0" rIns="0"/>
            <a:lstStyle/>
            <a:p>
              <a:pPr algn="l">
                <a:lnSpc>
                  <a:spcPts val="2070"/>
                </a:lnSpc>
              </a:pPr>
              <a:r>
                <a:rPr lang="en-US" sz="1725" i="true">
                  <a:solidFill>
                    <a:srgbClr val="6E7B96"/>
                  </a:solidFill>
                  <a:latin typeface="Calibri (MS) Italics"/>
                  <a:ea typeface="Calibri (MS) Italics"/>
                  <a:cs typeface="Calibri (MS) Italics"/>
                  <a:sym typeface="Calibri (MS) Italics"/>
                </a:rPr>
                <a:t>Note: Recall for rejected loans (0.42) is a known limitation — the model favors approving loans, missing some true rejections.</a:t>
              </a:r>
            </a:p>
          </p:txBody>
        </p:sp>
      </p:grpSp>
      <p:grpSp>
        <p:nvGrpSpPr>
          <p:cNvPr name="Group 52" id="52"/>
          <p:cNvGrpSpPr/>
          <p:nvPr/>
        </p:nvGrpSpPr>
        <p:grpSpPr>
          <a:xfrm rot="0">
            <a:off x="685800" y="9738360"/>
            <a:ext cx="8229600" cy="411480"/>
            <a:chOff x="0" y="0"/>
            <a:chExt cx="10972800" cy="548640"/>
          </a:xfrm>
        </p:grpSpPr>
        <p:sp>
          <p:nvSpPr>
            <p:cNvPr name="Freeform 53" id="5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54" id="54"/>
          <p:cNvGrpSpPr/>
          <p:nvPr/>
        </p:nvGrpSpPr>
        <p:grpSpPr>
          <a:xfrm rot="0">
            <a:off x="685800" y="9716929"/>
            <a:ext cx="8229600" cy="432911"/>
            <a:chOff x="0" y="0"/>
            <a:chExt cx="10972800" cy="577215"/>
          </a:xfrm>
        </p:grpSpPr>
        <p:sp>
          <p:nvSpPr>
            <p:cNvPr name="Freeform 55" id="55"/>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56" id="56"/>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57" id="57"/>
          <p:cNvGrpSpPr/>
          <p:nvPr/>
        </p:nvGrpSpPr>
        <p:grpSpPr>
          <a:xfrm rot="0">
            <a:off x="16870680" y="9738360"/>
            <a:ext cx="685800" cy="411480"/>
            <a:chOff x="0" y="0"/>
            <a:chExt cx="914400" cy="548640"/>
          </a:xfrm>
        </p:grpSpPr>
        <p:sp>
          <p:nvSpPr>
            <p:cNvPr name="Freeform 58" id="5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59" id="59"/>
          <p:cNvGrpSpPr/>
          <p:nvPr/>
        </p:nvGrpSpPr>
        <p:grpSpPr>
          <a:xfrm rot="0">
            <a:off x="16870680" y="9716929"/>
            <a:ext cx="685800" cy="432911"/>
            <a:chOff x="0" y="0"/>
            <a:chExt cx="914400" cy="577215"/>
          </a:xfrm>
        </p:grpSpPr>
        <p:sp>
          <p:nvSpPr>
            <p:cNvPr name="Freeform 60" id="60"/>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61" id="61"/>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IMPLEMENTATION</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Deployment — Streamlit Web Application</a:t>
              </a:r>
            </a:p>
          </p:txBody>
        </p:sp>
      </p:grpSp>
      <p:grpSp>
        <p:nvGrpSpPr>
          <p:cNvPr name="Group 12" id="12"/>
          <p:cNvGrpSpPr/>
          <p:nvPr/>
        </p:nvGrpSpPr>
        <p:grpSpPr>
          <a:xfrm rot="0">
            <a:off x="822960" y="2606040"/>
            <a:ext cx="8366760" cy="6309360"/>
            <a:chOff x="0" y="0"/>
            <a:chExt cx="11155680" cy="8412480"/>
          </a:xfrm>
        </p:grpSpPr>
        <p:sp>
          <p:nvSpPr>
            <p:cNvPr name="Freeform 13" id="13"/>
            <p:cNvSpPr/>
            <p:nvPr/>
          </p:nvSpPr>
          <p:spPr>
            <a:xfrm flipH="false" flipV="false" rot="0">
              <a:off x="0" y="0"/>
              <a:ext cx="11155680" cy="8412480"/>
            </a:xfrm>
            <a:custGeom>
              <a:avLst/>
              <a:gdLst/>
              <a:ahLst/>
              <a:cxnLst/>
              <a:rect r="r" b="b" t="t" l="l"/>
              <a:pathLst>
                <a:path h="8412480" w="11155680">
                  <a:moveTo>
                    <a:pt x="0" y="182880"/>
                  </a:moveTo>
                  <a:cubicBezTo>
                    <a:pt x="0" y="81915"/>
                    <a:pt x="81915" y="0"/>
                    <a:pt x="182880" y="0"/>
                  </a:cubicBezTo>
                  <a:lnTo>
                    <a:pt x="10972800" y="0"/>
                  </a:lnTo>
                  <a:cubicBezTo>
                    <a:pt x="11073765" y="0"/>
                    <a:pt x="11155680" y="81915"/>
                    <a:pt x="11155680" y="182880"/>
                  </a:cubicBezTo>
                  <a:lnTo>
                    <a:pt x="11155680" y="8229600"/>
                  </a:lnTo>
                  <a:cubicBezTo>
                    <a:pt x="11155680" y="8330565"/>
                    <a:pt x="11073765" y="8412480"/>
                    <a:pt x="10972800" y="8412480"/>
                  </a:cubicBezTo>
                  <a:lnTo>
                    <a:pt x="182880" y="8412480"/>
                  </a:lnTo>
                  <a:cubicBezTo>
                    <a:pt x="81915" y="8412480"/>
                    <a:pt x="0" y="8330565"/>
                    <a:pt x="0" y="8229600"/>
                  </a:cubicBezTo>
                  <a:close/>
                </a:path>
              </a:pathLst>
            </a:custGeom>
            <a:solidFill>
              <a:srgbClr val="1E2761"/>
            </a:solidFill>
          </p:spPr>
        </p:sp>
      </p:grpSp>
      <p:grpSp>
        <p:nvGrpSpPr>
          <p:cNvPr name="Group 14" id="14"/>
          <p:cNvGrpSpPr/>
          <p:nvPr/>
        </p:nvGrpSpPr>
        <p:grpSpPr>
          <a:xfrm rot="0">
            <a:off x="1303020" y="3017520"/>
            <a:ext cx="685800" cy="685800"/>
            <a:chOff x="0" y="0"/>
            <a:chExt cx="914400" cy="914400"/>
          </a:xfrm>
        </p:grpSpPr>
        <p:sp>
          <p:nvSpPr>
            <p:cNvPr name="Freeform 15" id="15"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grpSp>
        <p:nvGrpSpPr>
          <p:cNvPr name="Group 16" id="16"/>
          <p:cNvGrpSpPr/>
          <p:nvPr/>
        </p:nvGrpSpPr>
        <p:grpSpPr>
          <a:xfrm rot="0">
            <a:off x="2194560" y="3127248"/>
            <a:ext cx="6858000" cy="548640"/>
            <a:chOff x="0" y="0"/>
            <a:chExt cx="9144000" cy="731520"/>
          </a:xfrm>
        </p:grpSpPr>
        <p:sp>
          <p:nvSpPr>
            <p:cNvPr name="Freeform 17" id="17"/>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394" r="0" b="-193392"/>
              </a:stretch>
            </a:blipFill>
          </p:spPr>
        </p:sp>
      </p:grpSp>
      <p:grpSp>
        <p:nvGrpSpPr>
          <p:cNvPr name="Group 18" id="18"/>
          <p:cNvGrpSpPr/>
          <p:nvPr/>
        </p:nvGrpSpPr>
        <p:grpSpPr>
          <a:xfrm rot="0">
            <a:off x="2194560" y="3120104"/>
            <a:ext cx="6858000" cy="555784"/>
            <a:chOff x="0" y="0"/>
            <a:chExt cx="9144000" cy="741045"/>
          </a:xfrm>
        </p:grpSpPr>
        <p:sp>
          <p:nvSpPr>
            <p:cNvPr name="Freeform 19" id="19"/>
            <p:cNvSpPr/>
            <p:nvPr/>
          </p:nvSpPr>
          <p:spPr>
            <a:xfrm flipH="false" flipV="false" rot="0">
              <a:off x="0" y="0"/>
              <a:ext cx="9144000" cy="741045"/>
            </a:xfrm>
            <a:custGeom>
              <a:avLst/>
              <a:gdLst/>
              <a:ahLst/>
              <a:cxnLst/>
              <a:rect r="r" b="b" t="t" l="l"/>
              <a:pathLst>
                <a:path h="741045" w="9144000">
                  <a:moveTo>
                    <a:pt x="0" y="0"/>
                  </a:moveTo>
                  <a:lnTo>
                    <a:pt x="9144000" y="0"/>
                  </a:lnTo>
                  <a:lnTo>
                    <a:pt x="9144000" y="741045"/>
                  </a:lnTo>
                  <a:lnTo>
                    <a:pt x="0" y="741045"/>
                  </a:lnTo>
                  <a:close/>
                </a:path>
              </a:pathLst>
            </a:custGeom>
            <a:blipFill>
              <a:blip r:embed="rId4">
                <a:alphaModFix amt="0"/>
              </a:blip>
              <a:stretch>
                <a:fillRect l="0" t="-190432" r="0" b="-190432"/>
              </a:stretch>
            </a:blipFill>
          </p:spPr>
        </p:sp>
        <p:sp>
          <p:nvSpPr>
            <p:cNvPr name="TextBox 20" id="20"/>
            <p:cNvSpPr txBox="true"/>
            <p:nvPr/>
          </p:nvSpPr>
          <p:spPr>
            <a:xfrm>
              <a:off x="0" y="-9525"/>
              <a:ext cx="9144000" cy="750570"/>
            </a:xfrm>
            <a:prstGeom prst="rect">
              <a:avLst/>
            </a:prstGeom>
          </p:spPr>
          <p:txBody>
            <a:bodyPr anchor="ctr" rtlCol="false" tIns="0" lIns="0" bIns="0" rIns="0"/>
            <a:lstStyle/>
            <a:p>
              <a:pPr algn="l">
                <a:lnSpc>
                  <a:spcPts val="3060"/>
                </a:lnSpc>
              </a:pPr>
              <a:r>
                <a:rPr lang="en-US" sz="2550" b="true">
                  <a:solidFill>
                    <a:srgbClr val="FFFFFF"/>
                  </a:solidFill>
                  <a:latin typeface="Cambria Bold"/>
                  <a:ea typeface="Cambria Bold"/>
                  <a:cs typeface="Cambria Bold"/>
                  <a:sym typeface="Cambria Bold"/>
                </a:rPr>
                <a:t>What the App Does</a:t>
              </a:r>
            </a:p>
          </p:txBody>
        </p:sp>
      </p:grpSp>
      <p:grpSp>
        <p:nvGrpSpPr>
          <p:cNvPr name="Group 21" id="21"/>
          <p:cNvGrpSpPr/>
          <p:nvPr/>
        </p:nvGrpSpPr>
        <p:grpSpPr>
          <a:xfrm rot="0">
            <a:off x="1303020" y="3977640"/>
            <a:ext cx="7543800" cy="754380"/>
            <a:chOff x="0" y="0"/>
            <a:chExt cx="10058400" cy="1005840"/>
          </a:xfrm>
        </p:grpSpPr>
        <p:sp>
          <p:nvSpPr>
            <p:cNvPr name="Freeform 22" id="22"/>
            <p:cNvSpPr/>
            <p:nvPr/>
          </p:nvSpPr>
          <p:spPr>
            <a:xfrm flipH="false" flipV="false" rot="0">
              <a:off x="0" y="0"/>
              <a:ext cx="10058400" cy="1005840"/>
            </a:xfrm>
            <a:custGeom>
              <a:avLst/>
              <a:gdLst/>
              <a:ahLst/>
              <a:cxnLst/>
              <a:rect r="r" b="b" t="t" l="l"/>
              <a:pathLst>
                <a:path h="1005840" w="10058400">
                  <a:moveTo>
                    <a:pt x="0" y="0"/>
                  </a:moveTo>
                  <a:lnTo>
                    <a:pt x="10058400" y="0"/>
                  </a:lnTo>
                  <a:lnTo>
                    <a:pt x="10058400" y="1005840"/>
                  </a:lnTo>
                  <a:lnTo>
                    <a:pt x="0" y="1005840"/>
                  </a:lnTo>
                  <a:close/>
                </a:path>
              </a:pathLst>
            </a:custGeom>
            <a:blipFill>
              <a:blip r:embed="rId3">
                <a:alphaModFix amt="0"/>
              </a:blip>
              <a:stretch>
                <a:fillRect l="0" t="-144714" r="0" b="-144714"/>
              </a:stretch>
            </a:blipFill>
          </p:spPr>
        </p:sp>
      </p:grpSp>
      <p:grpSp>
        <p:nvGrpSpPr>
          <p:cNvPr name="Group 23" id="23"/>
          <p:cNvGrpSpPr/>
          <p:nvPr/>
        </p:nvGrpSpPr>
        <p:grpSpPr>
          <a:xfrm rot="0">
            <a:off x="1303020" y="3941921"/>
            <a:ext cx="7543800" cy="790099"/>
            <a:chOff x="0" y="0"/>
            <a:chExt cx="10058400" cy="1053465"/>
          </a:xfrm>
        </p:grpSpPr>
        <p:sp>
          <p:nvSpPr>
            <p:cNvPr name="Freeform 24" id="24"/>
            <p:cNvSpPr/>
            <p:nvPr/>
          </p:nvSpPr>
          <p:spPr>
            <a:xfrm flipH="false" flipV="false" rot="0">
              <a:off x="0" y="0"/>
              <a:ext cx="10058400" cy="1053465"/>
            </a:xfrm>
            <a:custGeom>
              <a:avLst/>
              <a:gdLst/>
              <a:ahLst/>
              <a:cxnLst/>
              <a:rect r="r" b="b" t="t" l="l"/>
              <a:pathLst>
                <a:path h="1053465" w="10058400">
                  <a:moveTo>
                    <a:pt x="0" y="0"/>
                  </a:moveTo>
                  <a:lnTo>
                    <a:pt x="10058400" y="0"/>
                  </a:lnTo>
                  <a:lnTo>
                    <a:pt x="10058400" y="1053465"/>
                  </a:lnTo>
                  <a:lnTo>
                    <a:pt x="0" y="1053465"/>
                  </a:lnTo>
                  <a:close/>
                </a:path>
              </a:pathLst>
            </a:custGeom>
            <a:blipFill>
              <a:blip r:embed="rId4">
                <a:alphaModFix amt="0"/>
              </a:blip>
              <a:stretch>
                <a:fillRect l="0" t="-136041" r="0" b="-136041"/>
              </a:stretch>
            </a:blipFill>
          </p:spPr>
        </p:sp>
        <p:sp>
          <p:nvSpPr>
            <p:cNvPr name="TextBox 25" id="25"/>
            <p:cNvSpPr txBox="true"/>
            <p:nvPr/>
          </p:nvSpPr>
          <p:spPr>
            <a:xfrm>
              <a:off x="0" y="-47625"/>
              <a:ext cx="10058400" cy="110109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CADCFC"/>
                  </a:solidFill>
                  <a:latin typeface="Calibri (MS)"/>
                  <a:ea typeface="Calibri (MS)"/>
                  <a:cs typeface="Calibri (MS)"/>
                  <a:sym typeface="Calibri (MS)"/>
                </a:rPr>
                <a:t>Interactive form with dropdowns &amp; number inputs for all 11 features</a:t>
              </a:r>
            </a:p>
          </p:txBody>
        </p:sp>
      </p:grpSp>
      <p:grpSp>
        <p:nvGrpSpPr>
          <p:cNvPr name="Group 26" id="26"/>
          <p:cNvGrpSpPr/>
          <p:nvPr/>
        </p:nvGrpSpPr>
        <p:grpSpPr>
          <a:xfrm rot="0">
            <a:off x="1303020" y="4828032"/>
            <a:ext cx="7543800" cy="754380"/>
            <a:chOff x="0" y="0"/>
            <a:chExt cx="10058400" cy="1005840"/>
          </a:xfrm>
        </p:grpSpPr>
        <p:sp>
          <p:nvSpPr>
            <p:cNvPr name="Freeform 27" id="27"/>
            <p:cNvSpPr/>
            <p:nvPr/>
          </p:nvSpPr>
          <p:spPr>
            <a:xfrm flipH="false" flipV="false" rot="0">
              <a:off x="0" y="0"/>
              <a:ext cx="10058400" cy="1005840"/>
            </a:xfrm>
            <a:custGeom>
              <a:avLst/>
              <a:gdLst/>
              <a:ahLst/>
              <a:cxnLst/>
              <a:rect r="r" b="b" t="t" l="l"/>
              <a:pathLst>
                <a:path h="1005840" w="10058400">
                  <a:moveTo>
                    <a:pt x="0" y="0"/>
                  </a:moveTo>
                  <a:lnTo>
                    <a:pt x="10058400" y="0"/>
                  </a:lnTo>
                  <a:lnTo>
                    <a:pt x="10058400" y="1005840"/>
                  </a:lnTo>
                  <a:lnTo>
                    <a:pt x="0" y="1005840"/>
                  </a:lnTo>
                  <a:close/>
                </a:path>
              </a:pathLst>
            </a:custGeom>
            <a:blipFill>
              <a:blip r:embed="rId3">
                <a:alphaModFix amt="0"/>
              </a:blip>
              <a:stretch>
                <a:fillRect l="0" t="-144714" r="0" b="-144714"/>
              </a:stretch>
            </a:blipFill>
          </p:spPr>
        </p:sp>
      </p:grpSp>
      <p:grpSp>
        <p:nvGrpSpPr>
          <p:cNvPr name="Group 28" id="28"/>
          <p:cNvGrpSpPr/>
          <p:nvPr/>
        </p:nvGrpSpPr>
        <p:grpSpPr>
          <a:xfrm rot="0">
            <a:off x="1303020" y="4792313"/>
            <a:ext cx="7543800" cy="790099"/>
            <a:chOff x="0" y="0"/>
            <a:chExt cx="10058400" cy="1053465"/>
          </a:xfrm>
        </p:grpSpPr>
        <p:sp>
          <p:nvSpPr>
            <p:cNvPr name="Freeform 29" id="29"/>
            <p:cNvSpPr/>
            <p:nvPr/>
          </p:nvSpPr>
          <p:spPr>
            <a:xfrm flipH="false" flipV="false" rot="0">
              <a:off x="0" y="0"/>
              <a:ext cx="10058400" cy="1053465"/>
            </a:xfrm>
            <a:custGeom>
              <a:avLst/>
              <a:gdLst/>
              <a:ahLst/>
              <a:cxnLst/>
              <a:rect r="r" b="b" t="t" l="l"/>
              <a:pathLst>
                <a:path h="1053465" w="10058400">
                  <a:moveTo>
                    <a:pt x="0" y="0"/>
                  </a:moveTo>
                  <a:lnTo>
                    <a:pt x="10058400" y="0"/>
                  </a:lnTo>
                  <a:lnTo>
                    <a:pt x="10058400" y="1053465"/>
                  </a:lnTo>
                  <a:lnTo>
                    <a:pt x="0" y="1053465"/>
                  </a:lnTo>
                  <a:close/>
                </a:path>
              </a:pathLst>
            </a:custGeom>
            <a:blipFill>
              <a:blip r:embed="rId4">
                <a:alphaModFix amt="0"/>
              </a:blip>
              <a:stretch>
                <a:fillRect l="0" t="-136041" r="0" b="-136041"/>
              </a:stretch>
            </a:blipFill>
          </p:spPr>
        </p:sp>
        <p:sp>
          <p:nvSpPr>
            <p:cNvPr name="TextBox 30" id="30"/>
            <p:cNvSpPr txBox="true"/>
            <p:nvPr/>
          </p:nvSpPr>
          <p:spPr>
            <a:xfrm>
              <a:off x="0" y="-47625"/>
              <a:ext cx="10058400" cy="110109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CADCFC"/>
                  </a:solidFill>
                  <a:latin typeface="Calibri (MS)"/>
                  <a:ea typeface="Calibri (MS)"/>
                  <a:cs typeface="Calibri (MS)"/>
                  <a:sym typeface="Calibri (MS)"/>
                </a:rPr>
                <a:t>Two-column layout for efficient use of screen space</a:t>
              </a:r>
            </a:p>
          </p:txBody>
        </p:sp>
      </p:grpSp>
      <p:grpSp>
        <p:nvGrpSpPr>
          <p:cNvPr name="Group 31" id="31"/>
          <p:cNvGrpSpPr/>
          <p:nvPr/>
        </p:nvGrpSpPr>
        <p:grpSpPr>
          <a:xfrm rot="0">
            <a:off x="1303020" y="5678424"/>
            <a:ext cx="7543800" cy="754380"/>
            <a:chOff x="0" y="0"/>
            <a:chExt cx="10058400" cy="1005840"/>
          </a:xfrm>
        </p:grpSpPr>
        <p:sp>
          <p:nvSpPr>
            <p:cNvPr name="Freeform 32" id="32"/>
            <p:cNvSpPr/>
            <p:nvPr/>
          </p:nvSpPr>
          <p:spPr>
            <a:xfrm flipH="false" flipV="false" rot="0">
              <a:off x="0" y="0"/>
              <a:ext cx="10058400" cy="1005840"/>
            </a:xfrm>
            <a:custGeom>
              <a:avLst/>
              <a:gdLst/>
              <a:ahLst/>
              <a:cxnLst/>
              <a:rect r="r" b="b" t="t" l="l"/>
              <a:pathLst>
                <a:path h="1005840" w="10058400">
                  <a:moveTo>
                    <a:pt x="0" y="0"/>
                  </a:moveTo>
                  <a:lnTo>
                    <a:pt x="10058400" y="0"/>
                  </a:lnTo>
                  <a:lnTo>
                    <a:pt x="10058400" y="1005840"/>
                  </a:lnTo>
                  <a:lnTo>
                    <a:pt x="0" y="1005840"/>
                  </a:lnTo>
                  <a:close/>
                </a:path>
              </a:pathLst>
            </a:custGeom>
            <a:blipFill>
              <a:blip r:embed="rId3">
                <a:alphaModFix amt="0"/>
              </a:blip>
              <a:stretch>
                <a:fillRect l="0" t="-144714" r="0" b="-144714"/>
              </a:stretch>
            </a:blipFill>
          </p:spPr>
        </p:sp>
      </p:grpSp>
      <p:grpSp>
        <p:nvGrpSpPr>
          <p:cNvPr name="Group 33" id="33"/>
          <p:cNvGrpSpPr/>
          <p:nvPr/>
        </p:nvGrpSpPr>
        <p:grpSpPr>
          <a:xfrm rot="0">
            <a:off x="1303020" y="5642705"/>
            <a:ext cx="7543800" cy="790099"/>
            <a:chOff x="0" y="0"/>
            <a:chExt cx="10058400" cy="1053465"/>
          </a:xfrm>
        </p:grpSpPr>
        <p:sp>
          <p:nvSpPr>
            <p:cNvPr name="Freeform 34" id="34"/>
            <p:cNvSpPr/>
            <p:nvPr/>
          </p:nvSpPr>
          <p:spPr>
            <a:xfrm flipH="false" flipV="false" rot="0">
              <a:off x="0" y="0"/>
              <a:ext cx="10058400" cy="1053465"/>
            </a:xfrm>
            <a:custGeom>
              <a:avLst/>
              <a:gdLst/>
              <a:ahLst/>
              <a:cxnLst/>
              <a:rect r="r" b="b" t="t" l="l"/>
              <a:pathLst>
                <a:path h="1053465" w="10058400">
                  <a:moveTo>
                    <a:pt x="0" y="0"/>
                  </a:moveTo>
                  <a:lnTo>
                    <a:pt x="10058400" y="0"/>
                  </a:lnTo>
                  <a:lnTo>
                    <a:pt x="10058400" y="1053465"/>
                  </a:lnTo>
                  <a:lnTo>
                    <a:pt x="0" y="1053465"/>
                  </a:lnTo>
                  <a:close/>
                </a:path>
              </a:pathLst>
            </a:custGeom>
            <a:blipFill>
              <a:blip r:embed="rId4">
                <a:alphaModFix amt="0"/>
              </a:blip>
              <a:stretch>
                <a:fillRect l="0" t="-136041" r="0" b="-136041"/>
              </a:stretch>
            </a:blipFill>
          </p:spPr>
        </p:sp>
        <p:sp>
          <p:nvSpPr>
            <p:cNvPr name="TextBox 35" id="35"/>
            <p:cNvSpPr txBox="true"/>
            <p:nvPr/>
          </p:nvSpPr>
          <p:spPr>
            <a:xfrm>
              <a:off x="0" y="-47625"/>
              <a:ext cx="10058400" cy="110109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CADCFC"/>
                  </a:solidFill>
                  <a:latin typeface="Calibri (MS)"/>
                  <a:ea typeface="Calibri (MS)"/>
                  <a:cs typeface="Calibri (MS)"/>
                  <a:sym typeface="Calibri (MS)"/>
                </a:rPr>
                <a:t>Real-time predictions with green / red visual indicators</a:t>
              </a:r>
            </a:p>
          </p:txBody>
        </p:sp>
      </p:grpSp>
      <p:grpSp>
        <p:nvGrpSpPr>
          <p:cNvPr name="Group 36" id="36"/>
          <p:cNvGrpSpPr/>
          <p:nvPr/>
        </p:nvGrpSpPr>
        <p:grpSpPr>
          <a:xfrm rot="0">
            <a:off x="1303020" y="6528816"/>
            <a:ext cx="7543800" cy="754380"/>
            <a:chOff x="0" y="0"/>
            <a:chExt cx="10058400" cy="1005840"/>
          </a:xfrm>
        </p:grpSpPr>
        <p:sp>
          <p:nvSpPr>
            <p:cNvPr name="Freeform 37" id="37"/>
            <p:cNvSpPr/>
            <p:nvPr/>
          </p:nvSpPr>
          <p:spPr>
            <a:xfrm flipH="false" flipV="false" rot="0">
              <a:off x="0" y="0"/>
              <a:ext cx="10058400" cy="1005840"/>
            </a:xfrm>
            <a:custGeom>
              <a:avLst/>
              <a:gdLst/>
              <a:ahLst/>
              <a:cxnLst/>
              <a:rect r="r" b="b" t="t" l="l"/>
              <a:pathLst>
                <a:path h="1005840" w="10058400">
                  <a:moveTo>
                    <a:pt x="0" y="0"/>
                  </a:moveTo>
                  <a:lnTo>
                    <a:pt x="10058400" y="0"/>
                  </a:lnTo>
                  <a:lnTo>
                    <a:pt x="10058400" y="1005840"/>
                  </a:lnTo>
                  <a:lnTo>
                    <a:pt x="0" y="1005840"/>
                  </a:lnTo>
                  <a:close/>
                </a:path>
              </a:pathLst>
            </a:custGeom>
            <a:blipFill>
              <a:blip r:embed="rId3">
                <a:alphaModFix amt="0"/>
              </a:blip>
              <a:stretch>
                <a:fillRect l="0" t="-144714" r="0" b="-144714"/>
              </a:stretch>
            </a:blipFill>
          </p:spPr>
        </p:sp>
      </p:grpSp>
      <p:grpSp>
        <p:nvGrpSpPr>
          <p:cNvPr name="Group 38" id="38"/>
          <p:cNvGrpSpPr/>
          <p:nvPr/>
        </p:nvGrpSpPr>
        <p:grpSpPr>
          <a:xfrm rot="0">
            <a:off x="1303020" y="6493097"/>
            <a:ext cx="7543800" cy="790099"/>
            <a:chOff x="0" y="0"/>
            <a:chExt cx="10058400" cy="1053465"/>
          </a:xfrm>
        </p:grpSpPr>
        <p:sp>
          <p:nvSpPr>
            <p:cNvPr name="Freeform 39" id="39"/>
            <p:cNvSpPr/>
            <p:nvPr/>
          </p:nvSpPr>
          <p:spPr>
            <a:xfrm flipH="false" flipV="false" rot="0">
              <a:off x="0" y="0"/>
              <a:ext cx="10058400" cy="1053465"/>
            </a:xfrm>
            <a:custGeom>
              <a:avLst/>
              <a:gdLst/>
              <a:ahLst/>
              <a:cxnLst/>
              <a:rect r="r" b="b" t="t" l="l"/>
              <a:pathLst>
                <a:path h="1053465" w="10058400">
                  <a:moveTo>
                    <a:pt x="0" y="0"/>
                  </a:moveTo>
                  <a:lnTo>
                    <a:pt x="10058400" y="0"/>
                  </a:lnTo>
                  <a:lnTo>
                    <a:pt x="10058400" y="1053465"/>
                  </a:lnTo>
                  <a:lnTo>
                    <a:pt x="0" y="1053465"/>
                  </a:lnTo>
                  <a:close/>
                </a:path>
              </a:pathLst>
            </a:custGeom>
            <a:blipFill>
              <a:blip r:embed="rId4">
                <a:alphaModFix amt="0"/>
              </a:blip>
              <a:stretch>
                <a:fillRect l="0" t="-136041" r="0" b="-136041"/>
              </a:stretch>
            </a:blipFill>
          </p:spPr>
        </p:sp>
        <p:sp>
          <p:nvSpPr>
            <p:cNvPr name="TextBox 40" id="40"/>
            <p:cNvSpPr txBox="true"/>
            <p:nvPr/>
          </p:nvSpPr>
          <p:spPr>
            <a:xfrm>
              <a:off x="0" y="-47625"/>
              <a:ext cx="10058400" cy="110109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CADCFC"/>
                  </a:solidFill>
                  <a:latin typeface="Calibri (MS)"/>
                  <a:ea typeface="Calibri (MS)"/>
                  <a:cs typeface="Calibri (MS)"/>
                  <a:sym typeface="Calibri (MS)"/>
                </a:rPr>
                <a:t>Numerical probability score with confidence progress bar</a:t>
              </a:r>
            </a:p>
          </p:txBody>
        </p:sp>
      </p:grpSp>
      <p:grpSp>
        <p:nvGrpSpPr>
          <p:cNvPr name="Group 41" id="41"/>
          <p:cNvGrpSpPr/>
          <p:nvPr/>
        </p:nvGrpSpPr>
        <p:grpSpPr>
          <a:xfrm rot="0">
            <a:off x="1303020" y="7379208"/>
            <a:ext cx="7543800" cy="754380"/>
            <a:chOff x="0" y="0"/>
            <a:chExt cx="10058400" cy="1005840"/>
          </a:xfrm>
        </p:grpSpPr>
        <p:sp>
          <p:nvSpPr>
            <p:cNvPr name="Freeform 42" id="42"/>
            <p:cNvSpPr/>
            <p:nvPr/>
          </p:nvSpPr>
          <p:spPr>
            <a:xfrm flipH="false" flipV="false" rot="0">
              <a:off x="0" y="0"/>
              <a:ext cx="10058400" cy="1005840"/>
            </a:xfrm>
            <a:custGeom>
              <a:avLst/>
              <a:gdLst/>
              <a:ahLst/>
              <a:cxnLst/>
              <a:rect r="r" b="b" t="t" l="l"/>
              <a:pathLst>
                <a:path h="1005840" w="10058400">
                  <a:moveTo>
                    <a:pt x="0" y="0"/>
                  </a:moveTo>
                  <a:lnTo>
                    <a:pt x="10058400" y="0"/>
                  </a:lnTo>
                  <a:lnTo>
                    <a:pt x="10058400" y="1005840"/>
                  </a:lnTo>
                  <a:lnTo>
                    <a:pt x="0" y="1005840"/>
                  </a:lnTo>
                  <a:close/>
                </a:path>
              </a:pathLst>
            </a:custGeom>
            <a:blipFill>
              <a:blip r:embed="rId3">
                <a:alphaModFix amt="0"/>
              </a:blip>
              <a:stretch>
                <a:fillRect l="0" t="-144714" r="0" b="-144714"/>
              </a:stretch>
            </a:blipFill>
          </p:spPr>
        </p:sp>
      </p:grpSp>
      <p:grpSp>
        <p:nvGrpSpPr>
          <p:cNvPr name="Group 43" id="43"/>
          <p:cNvGrpSpPr/>
          <p:nvPr/>
        </p:nvGrpSpPr>
        <p:grpSpPr>
          <a:xfrm rot="0">
            <a:off x="1303020" y="7343489"/>
            <a:ext cx="7543800" cy="790099"/>
            <a:chOff x="0" y="0"/>
            <a:chExt cx="10058400" cy="1053465"/>
          </a:xfrm>
        </p:grpSpPr>
        <p:sp>
          <p:nvSpPr>
            <p:cNvPr name="Freeform 44" id="44"/>
            <p:cNvSpPr/>
            <p:nvPr/>
          </p:nvSpPr>
          <p:spPr>
            <a:xfrm flipH="false" flipV="false" rot="0">
              <a:off x="0" y="0"/>
              <a:ext cx="10058400" cy="1053465"/>
            </a:xfrm>
            <a:custGeom>
              <a:avLst/>
              <a:gdLst/>
              <a:ahLst/>
              <a:cxnLst/>
              <a:rect r="r" b="b" t="t" l="l"/>
              <a:pathLst>
                <a:path h="1053465" w="10058400">
                  <a:moveTo>
                    <a:pt x="0" y="0"/>
                  </a:moveTo>
                  <a:lnTo>
                    <a:pt x="10058400" y="0"/>
                  </a:lnTo>
                  <a:lnTo>
                    <a:pt x="10058400" y="1053465"/>
                  </a:lnTo>
                  <a:lnTo>
                    <a:pt x="0" y="1053465"/>
                  </a:lnTo>
                  <a:close/>
                </a:path>
              </a:pathLst>
            </a:custGeom>
            <a:blipFill>
              <a:blip r:embed="rId4">
                <a:alphaModFix amt="0"/>
              </a:blip>
              <a:stretch>
                <a:fillRect l="0" t="-136041" r="0" b="-136041"/>
              </a:stretch>
            </a:blipFill>
          </p:spPr>
        </p:sp>
        <p:sp>
          <p:nvSpPr>
            <p:cNvPr name="TextBox 45" id="45"/>
            <p:cNvSpPr txBox="true"/>
            <p:nvPr/>
          </p:nvSpPr>
          <p:spPr>
            <a:xfrm>
              <a:off x="0" y="-47625"/>
              <a:ext cx="10058400" cy="110109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CADCFC"/>
                  </a:solidFill>
                  <a:latin typeface="Calibri (MS)"/>
                  <a:ea typeface="Calibri (MS)"/>
                  <a:cs typeface="Calibri (MS)"/>
                  <a:sym typeface="Calibri (MS)"/>
                </a:rPr>
                <a:t>Modern gradient background, frosted-glass card design</a:t>
              </a:r>
            </a:p>
          </p:txBody>
        </p:sp>
      </p:grpSp>
      <p:grpSp>
        <p:nvGrpSpPr>
          <p:cNvPr name="Group 46" id="46"/>
          <p:cNvGrpSpPr/>
          <p:nvPr/>
        </p:nvGrpSpPr>
        <p:grpSpPr>
          <a:xfrm rot="0">
            <a:off x="1303020" y="8229600"/>
            <a:ext cx="7543800" cy="754380"/>
            <a:chOff x="0" y="0"/>
            <a:chExt cx="10058400" cy="1005840"/>
          </a:xfrm>
        </p:grpSpPr>
        <p:sp>
          <p:nvSpPr>
            <p:cNvPr name="Freeform 47" id="47"/>
            <p:cNvSpPr/>
            <p:nvPr/>
          </p:nvSpPr>
          <p:spPr>
            <a:xfrm flipH="false" flipV="false" rot="0">
              <a:off x="0" y="0"/>
              <a:ext cx="10058400" cy="1005840"/>
            </a:xfrm>
            <a:custGeom>
              <a:avLst/>
              <a:gdLst/>
              <a:ahLst/>
              <a:cxnLst/>
              <a:rect r="r" b="b" t="t" l="l"/>
              <a:pathLst>
                <a:path h="1005840" w="10058400">
                  <a:moveTo>
                    <a:pt x="0" y="0"/>
                  </a:moveTo>
                  <a:lnTo>
                    <a:pt x="10058400" y="0"/>
                  </a:lnTo>
                  <a:lnTo>
                    <a:pt x="10058400" y="1005840"/>
                  </a:lnTo>
                  <a:lnTo>
                    <a:pt x="0" y="1005840"/>
                  </a:lnTo>
                  <a:close/>
                </a:path>
              </a:pathLst>
            </a:custGeom>
            <a:blipFill>
              <a:blip r:embed="rId3">
                <a:alphaModFix amt="0"/>
              </a:blip>
              <a:stretch>
                <a:fillRect l="0" t="-144714" r="0" b="-144714"/>
              </a:stretch>
            </a:blipFill>
          </p:spPr>
        </p:sp>
      </p:grpSp>
      <p:grpSp>
        <p:nvGrpSpPr>
          <p:cNvPr name="Group 48" id="48"/>
          <p:cNvGrpSpPr/>
          <p:nvPr/>
        </p:nvGrpSpPr>
        <p:grpSpPr>
          <a:xfrm rot="0">
            <a:off x="1303020" y="8193881"/>
            <a:ext cx="7543800" cy="790099"/>
            <a:chOff x="0" y="0"/>
            <a:chExt cx="10058400" cy="1053465"/>
          </a:xfrm>
        </p:grpSpPr>
        <p:sp>
          <p:nvSpPr>
            <p:cNvPr name="Freeform 49" id="49"/>
            <p:cNvSpPr/>
            <p:nvPr/>
          </p:nvSpPr>
          <p:spPr>
            <a:xfrm flipH="false" flipV="false" rot="0">
              <a:off x="0" y="0"/>
              <a:ext cx="10058400" cy="1053465"/>
            </a:xfrm>
            <a:custGeom>
              <a:avLst/>
              <a:gdLst/>
              <a:ahLst/>
              <a:cxnLst/>
              <a:rect r="r" b="b" t="t" l="l"/>
              <a:pathLst>
                <a:path h="1053465" w="10058400">
                  <a:moveTo>
                    <a:pt x="0" y="0"/>
                  </a:moveTo>
                  <a:lnTo>
                    <a:pt x="10058400" y="0"/>
                  </a:lnTo>
                  <a:lnTo>
                    <a:pt x="10058400" y="1053465"/>
                  </a:lnTo>
                  <a:lnTo>
                    <a:pt x="0" y="1053465"/>
                  </a:lnTo>
                  <a:close/>
                </a:path>
              </a:pathLst>
            </a:custGeom>
            <a:blipFill>
              <a:blip r:embed="rId4">
                <a:alphaModFix amt="0"/>
              </a:blip>
              <a:stretch>
                <a:fillRect l="0" t="-136041" r="0" b="-136041"/>
              </a:stretch>
            </a:blipFill>
          </p:spPr>
        </p:sp>
        <p:sp>
          <p:nvSpPr>
            <p:cNvPr name="TextBox 50" id="50"/>
            <p:cNvSpPr txBox="true"/>
            <p:nvPr/>
          </p:nvSpPr>
          <p:spPr>
            <a:xfrm>
              <a:off x="0" y="-47625"/>
              <a:ext cx="10058400" cy="1101090"/>
            </a:xfrm>
            <a:prstGeom prst="rect">
              <a:avLst/>
            </a:prstGeom>
          </p:spPr>
          <p:txBody>
            <a:bodyPr anchor="ctr" rtlCol="false" tIns="0" lIns="0" bIns="0" rIns="0"/>
            <a:lstStyle/>
            <a:p>
              <a:pPr algn="l" marL="411718" indent="-137239" lvl="2">
                <a:lnSpc>
                  <a:spcPts val="2340"/>
                </a:lnSpc>
                <a:buFont typeface="Arial"/>
                <a:buChar char="⚬"/>
              </a:pPr>
              <a:r>
                <a:rPr lang="en-US" sz="1950">
                  <a:solidFill>
                    <a:srgbClr val="CADCFC"/>
                  </a:solidFill>
                  <a:latin typeface="Calibri (MS)"/>
                  <a:ea typeface="Calibri (MS)"/>
                  <a:cs typeface="Calibri (MS)"/>
                  <a:sym typeface="Calibri (MS)"/>
                </a:rPr>
                <a:t>Built-in tip highlighting the importance of credit history</a:t>
              </a:r>
            </a:p>
          </p:txBody>
        </p:sp>
      </p:grpSp>
      <p:grpSp>
        <p:nvGrpSpPr>
          <p:cNvPr name="Group 51" id="51"/>
          <p:cNvGrpSpPr/>
          <p:nvPr/>
        </p:nvGrpSpPr>
        <p:grpSpPr>
          <a:xfrm rot="0">
            <a:off x="9601200" y="2606040"/>
            <a:ext cx="7543800" cy="548640"/>
            <a:chOff x="0" y="0"/>
            <a:chExt cx="10058400" cy="731520"/>
          </a:xfrm>
        </p:grpSpPr>
        <p:sp>
          <p:nvSpPr>
            <p:cNvPr name="Freeform 52" id="52"/>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3">
                <a:alphaModFix amt="0"/>
              </a:blip>
              <a:stretch>
                <a:fillRect l="0" t="-217732" r="0" b="-217732"/>
              </a:stretch>
            </a:blipFill>
          </p:spPr>
        </p:sp>
      </p:grpSp>
      <p:grpSp>
        <p:nvGrpSpPr>
          <p:cNvPr name="Group 53" id="53"/>
          <p:cNvGrpSpPr/>
          <p:nvPr/>
        </p:nvGrpSpPr>
        <p:grpSpPr>
          <a:xfrm rot="0">
            <a:off x="9601200" y="2570321"/>
            <a:ext cx="7543800" cy="584359"/>
            <a:chOff x="0" y="0"/>
            <a:chExt cx="10058400" cy="779145"/>
          </a:xfrm>
        </p:grpSpPr>
        <p:sp>
          <p:nvSpPr>
            <p:cNvPr name="Freeform 54" id="54"/>
            <p:cNvSpPr/>
            <p:nvPr/>
          </p:nvSpPr>
          <p:spPr>
            <a:xfrm flipH="false" flipV="false" rot="0">
              <a:off x="0" y="0"/>
              <a:ext cx="10058400" cy="779145"/>
            </a:xfrm>
            <a:custGeom>
              <a:avLst/>
              <a:gdLst/>
              <a:ahLst/>
              <a:cxnLst/>
              <a:rect r="r" b="b" t="t" l="l"/>
              <a:pathLst>
                <a:path h="779145" w="10058400">
                  <a:moveTo>
                    <a:pt x="0" y="0"/>
                  </a:moveTo>
                  <a:lnTo>
                    <a:pt x="10058400" y="0"/>
                  </a:lnTo>
                  <a:lnTo>
                    <a:pt x="10058400" y="779145"/>
                  </a:lnTo>
                  <a:lnTo>
                    <a:pt x="0" y="779145"/>
                  </a:lnTo>
                  <a:close/>
                </a:path>
              </a:pathLst>
            </a:custGeom>
            <a:blipFill>
              <a:blip r:embed="rId4">
                <a:alphaModFix amt="0"/>
              </a:blip>
              <a:stretch>
                <a:fillRect l="0" t="-201542" r="0" b="-201542"/>
              </a:stretch>
            </a:blipFill>
          </p:spPr>
        </p:sp>
        <p:sp>
          <p:nvSpPr>
            <p:cNvPr name="TextBox 55" id="55"/>
            <p:cNvSpPr txBox="true"/>
            <p:nvPr/>
          </p:nvSpPr>
          <p:spPr>
            <a:xfrm>
              <a:off x="0" y="-47625"/>
              <a:ext cx="10058400" cy="82677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From Notebook to Production</a:t>
              </a:r>
            </a:p>
          </p:txBody>
        </p:sp>
      </p:grpSp>
      <p:grpSp>
        <p:nvGrpSpPr>
          <p:cNvPr name="Group 56" id="56"/>
          <p:cNvGrpSpPr/>
          <p:nvPr/>
        </p:nvGrpSpPr>
        <p:grpSpPr>
          <a:xfrm rot="0">
            <a:off x="9601200" y="3429000"/>
            <a:ext cx="1851660" cy="1851660"/>
            <a:chOff x="0" y="0"/>
            <a:chExt cx="2468880" cy="2468880"/>
          </a:xfrm>
        </p:grpSpPr>
        <p:sp>
          <p:nvSpPr>
            <p:cNvPr name="Freeform 57" id="57"/>
            <p:cNvSpPr/>
            <p:nvPr/>
          </p:nvSpPr>
          <p:spPr>
            <a:xfrm flipH="false" flipV="false" rot="0">
              <a:off x="0" y="0"/>
              <a:ext cx="2468880" cy="2468880"/>
            </a:xfrm>
            <a:custGeom>
              <a:avLst/>
              <a:gdLst/>
              <a:ahLst/>
              <a:cxnLst/>
              <a:rect r="r" b="b" t="t" l="l"/>
              <a:pathLst>
                <a:path h="2468880" w="2468880">
                  <a:moveTo>
                    <a:pt x="0" y="182880"/>
                  </a:moveTo>
                  <a:cubicBezTo>
                    <a:pt x="0" y="81915"/>
                    <a:pt x="81915" y="0"/>
                    <a:pt x="182880" y="0"/>
                  </a:cubicBezTo>
                  <a:lnTo>
                    <a:pt x="2286000" y="0"/>
                  </a:lnTo>
                  <a:cubicBezTo>
                    <a:pt x="2386965" y="0"/>
                    <a:pt x="2468880" y="81915"/>
                    <a:pt x="2468880" y="182880"/>
                  </a:cubicBezTo>
                  <a:lnTo>
                    <a:pt x="2468880" y="2286000"/>
                  </a:lnTo>
                  <a:cubicBezTo>
                    <a:pt x="2468880" y="2386965"/>
                    <a:pt x="2386965" y="2468880"/>
                    <a:pt x="2286000" y="2468880"/>
                  </a:cubicBezTo>
                  <a:lnTo>
                    <a:pt x="182880" y="2468880"/>
                  </a:lnTo>
                  <a:cubicBezTo>
                    <a:pt x="81915" y="2468880"/>
                    <a:pt x="0" y="2386965"/>
                    <a:pt x="0" y="2286000"/>
                  </a:cubicBezTo>
                  <a:close/>
                </a:path>
              </a:pathLst>
            </a:custGeom>
            <a:solidFill>
              <a:srgbClr val="F7F9FC"/>
            </a:solidFill>
          </p:spPr>
        </p:sp>
      </p:grpSp>
      <p:grpSp>
        <p:nvGrpSpPr>
          <p:cNvPr name="Group 58" id="58"/>
          <p:cNvGrpSpPr/>
          <p:nvPr/>
        </p:nvGrpSpPr>
        <p:grpSpPr>
          <a:xfrm rot="0">
            <a:off x="10177272" y="3675888"/>
            <a:ext cx="685800" cy="685800"/>
            <a:chOff x="0" y="0"/>
            <a:chExt cx="914400" cy="914400"/>
          </a:xfrm>
        </p:grpSpPr>
        <p:sp>
          <p:nvSpPr>
            <p:cNvPr name="Freeform 59" id="59"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6"/>
              <a:stretch>
                <a:fillRect l="0" t="0" r="0" b="0"/>
              </a:stretch>
            </a:blipFill>
          </p:spPr>
        </p:sp>
      </p:grpSp>
      <p:grpSp>
        <p:nvGrpSpPr>
          <p:cNvPr name="Group 60" id="60"/>
          <p:cNvGrpSpPr/>
          <p:nvPr/>
        </p:nvGrpSpPr>
        <p:grpSpPr>
          <a:xfrm rot="0">
            <a:off x="9395460" y="5486400"/>
            <a:ext cx="2263140" cy="822960"/>
            <a:chOff x="0" y="0"/>
            <a:chExt cx="3017520" cy="1097280"/>
          </a:xfrm>
        </p:grpSpPr>
        <p:sp>
          <p:nvSpPr>
            <p:cNvPr name="Freeform 61" id="61"/>
            <p:cNvSpPr/>
            <p:nvPr/>
          </p:nvSpPr>
          <p:spPr>
            <a:xfrm flipH="false" flipV="false" rot="0">
              <a:off x="0" y="0"/>
              <a:ext cx="3017520" cy="1097280"/>
            </a:xfrm>
            <a:custGeom>
              <a:avLst/>
              <a:gdLst/>
              <a:ahLst/>
              <a:cxnLst/>
              <a:rect r="r" b="b" t="t" l="l"/>
              <a:pathLst>
                <a:path h="1097280" w="3017520">
                  <a:moveTo>
                    <a:pt x="0" y="0"/>
                  </a:moveTo>
                  <a:lnTo>
                    <a:pt x="3017520" y="0"/>
                  </a:lnTo>
                  <a:lnTo>
                    <a:pt x="3017520" y="1097280"/>
                  </a:lnTo>
                  <a:lnTo>
                    <a:pt x="0" y="1097280"/>
                  </a:lnTo>
                  <a:close/>
                </a:path>
              </a:pathLst>
            </a:custGeom>
            <a:blipFill>
              <a:blip r:embed="rId3">
                <a:alphaModFix amt="0"/>
              </a:blip>
              <a:stretch>
                <a:fillRect l="0" t="-3546" r="0" b="-3547"/>
              </a:stretch>
            </a:blipFill>
          </p:spPr>
        </p:sp>
      </p:grpSp>
      <p:grpSp>
        <p:nvGrpSpPr>
          <p:cNvPr name="Group 62" id="62"/>
          <p:cNvGrpSpPr/>
          <p:nvPr/>
        </p:nvGrpSpPr>
        <p:grpSpPr>
          <a:xfrm rot="0">
            <a:off x="9395460" y="5472112"/>
            <a:ext cx="2263140" cy="837248"/>
            <a:chOff x="0" y="0"/>
            <a:chExt cx="3017520" cy="1116330"/>
          </a:xfrm>
        </p:grpSpPr>
        <p:sp>
          <p:nvSpPr>
            <p:cNvPr name="Freeform 63" id="63"/>
            <p:cNvSpPr/>
            <p:nvPr/>
          </p:nvSpPr>
          <p:spPr>
            <a:xfrm flipH="false" flipV="false" rot="0">
              <a:off x="0" y="0"/>
              <a:ext cx="3017520" cy="1116330"/>
            </a:xfrm>
            <a:custGeom>
              <a:avLst/>
              <a:gdLst/>
              <a:ahLst/>
              <a:cxnLst/>
              <a:rect r="r" b="b" t="t" l="l"/>
              <a:pathLst>
                <a:path h="1116330" w="3017520">
                  <a:moveTo>
                    <a:pt x="0" y="0"/>
                  </a:moveTo>
                  <a:lnTo>
                    <a:pt x="3017520" y="0"/>
                  </a:lnTo>
                  <a:lnTo>
                    <a:pt x="3017520" y="1116330"/>
                  </a:lnTo>
                  <a:lnTo>
                    <a:pt x="0" y="1116330"/>
                  </a:lnTo>
                  <a:close/>
                </a:path>
              </a:pathLst>
            </a:custGeom>
            <a:blipFill>
              <a:blip r:embed="rId4">
                <a:alphaModFix amt="0"/>
              </a:blip>
              <a:stretch>
                <a:fillRect l="0" t="-2669" r="0" b="-2669"/>
              </a:stretch>
            </a:blipFill>
          </p:spPr>
        </p:sp>
        <p:sp>
          <p:nvSpPr>
            <p:cNvPr name="TextBox 64" id="64"/>
            <p:cNvSpPr txBox="true"/>
            <p:nvPr/>
          </p:nvSpPr>
          <p:spPr>
            <a:xfrm>
              <a:off x="0" y="-19050"/>
              <a:ext cx="3017520" cy="1135380"/>
            </a:xfrm>
            <a:prstGeom prst="rect">
              <a:avLst/>
            </a:prstGeom>
          </p:spPr>
          <p:txBody>
            <a:bodyPr anchor="ctr" rtlCol="false" tIns="0" lIns="0" bIns="0" rIns="0"/>
            <a:lstStyle/>
            <a:p>
              <a:pPr algn="ctr">
                <a:lnSpc>
                  <a:spcPts val="1888"/>
                </a:lnSpc>
              </a:pPr>
              <a:r>
                <a:rPr lang="en-US" sz="1575">
                  <a:solidFill>
                    <a:srgbClr val="44506B"/>
                  </a:solidFill>
                  <a:latin typeface="Calibri (MS)"/>
                  <a:ea typeface="Calibri (MS)"/>
                  <a:cs typeface="Calibri (MS)"/>
                  <a:sym typeface="Calibri (MS)"/>
                </a:rPr>
                <a:t>Train Model</a:t>
              </a:r>
            </a:p>
          </p:txBody>
        </p:sp>
      </p:grpSp>
      <p:grpSp>
        <p:nvGrpSpPr>
          <p:cNvPr name="Group 65" id="65"/>
          <p:cNvGrpSpPr/>
          <p:nvPr/>
        </p:nvGrpSpPr>
        <p:grpSpPr>
          <a:xfrm rot="0">
            <a:off x="11427857" y="4322969"/>
            <a:ext cx="530066" cy="50006"/>
            <a:chOff x="0" y="0"/>
            <a:chExt cx="706755" cy="66675"/>
          </a:xfrm>
        </p:grpSpPr>
        <p:sp>
          <p:nvSpPr>
            <p:cNvPr name="Freeform 66" id="66"/>
            <p:cNvSpPr/>
            <p:nvPr/>
          </p:nvSpPr>
          <p:spPr>
            <a:xfrm flipH="false" flipV="false" rot="0">
              <a:off x="0" y="0"/>
              <a:ext cx="706755" cy="66675"/>
            </a:xfrm>
            <a:custGeom>
              <a:avLst/>
              <a:gdLst/>
              <a:ahLst/>
              <a:cxnLst/>
              <a:rect r="r" b="b" t="t" l="l"/>
              <a:pathLst>
                <a:path h="66675" w="706755">
                  <a:moveTo>
                    <a:pt x="0" y="0"/>
                  </a:moveTo>
                  <a:lnTo>
                    <a:pt x="706755" y="66675"/>
                  </a:lnTo>
                </a:path>
              </a:pathLst>
            </a:custGeom>
            <a:blipFill>
              <a:blip r:embed="rId3">
                <a:alphaModFix amt="0"/>
              </a:blip>
              <a:stretch>
                <a:fillRect l="0" t="-156400" r="0" b="-156400"/>
              </a:stretch>
            </a:blipFill>
            <a:ln w="28575" cap="sq">
              <a:solidFill>
                <a:srgbClr val="6E7B96"/>
              </a:solidFill>
              <a:prstDash val="solid"/>
              <a:miter/>
            </a:ln>
          </p:spPr>
        </p:sp>
      </p:grpSp>
      <p:grpSp>
        <p:nvGrpSpPr>
          <p:cNvPr name="Group 67" id="67"/>
          <p:cNvGrpSpPr/>
          <p:nvPr/>
        </p:nvGrpSpPr>
        <p:grpSpPr>
          <a:xfrm rot="0">
            <a:off x="11932920" y="3429000"/>
            <a:ext cx="1851660" cy="1851660"/>
            <a:chOff x="0" y="0"/>
            <a:chExt cx="2468880" cy="2468880"/>
          </a:xfrm>
        </p:grpSpPr>
        <p:sp>
          <p:nvSpPr>
            <p:cNvPr name="Freeform 68" id="68"/>
            <p:cNvSpPr/>
            <p:nvPr/>
          </p:nvSpPr>
          <p:spPr>
            <a:xfrm flipH="false" flipV="false" rot="0">
              <a:off x="0" y="0"/>
              <a:ext cx="2468880" cy="2468880"/>
            </a:xfrm>
            <a:custGeom>
              <a:avLst/>
              <a:gdLst/>
              <a:ahLst/>
              <a:cxnLst/>
              <a:rect r="r" b="b" t="t" l="l"/>
              <a:pathLst>
                <a:path h="2468880" w="2468880">
                  <a:moveTo>
                    <a:pt x="0" y="182880"/>
                  </a:moveTo>
                  <a:cubicBezTo>
                    <a:pt x="0" y="81915"/>
                    <a:pt x="81915" y="0"/>
                    <a:pt x="182880" y="0"/>
                  </a:cubicBezTo>
                  <a:lnTo>
                    <a:pt x="2286000" y="0"/>
                  </a:lnTo>
                  <a:cubicBezTo>
                    <a:pt x="2386965" y="0"/>
                    <a:pt x="2468880" y="81915"/>
                    <a:pt x="2468880" y="182880"/>
                  </a:cubicBezTo>
                  <a:lnTo>
                    <a:pt x="2468880" y="2286000"/>
                  </a:lnTo>
                  <a:cubicBezTo>
                    <a:pt x="2468880" y="2386965"/>
                    <a:pt x="2386965" y="2468880"/>
                    <a:pt x="2286000" y="2468880"/>
                  </a:cubicBezTo>
                  <a:lnTo>
                    <a:pt x="182880" y="2468880"/>
                  </a:lnTo>
                  <a:cubicBezTo>
                    <a:pt x="81915" y="2468880"/>
                    <a:pt x="0" y="2386965"/>
                    <a:pt x="0" y="2286000"/>
                  </a:cubicBezTo>
                  <a:close/>
                </a:path>
              </a:pathLst>
            </a:custGeom>
            <a:solidFill>
              <a:srgbClr val="F7F9FC"/>
            </a:solidFill>
          </p:spPr>
        </p:sp>
      </p:grpSp>
      <p:grpSp>
        <p:nvGrpSpPr>
          <p:cNvPr name="Group 69" id="69"/>
          <p:cNvGrpSpPr/>
          <p:nvPr/>
        </p:nvGrpSpPr>
        <p:grpSpPr>
          <a:xfrm rot="0">
            <a:off x="12508992" y="3675888"/>
            <a:ext cx="685800" cy="685800"/>
            <a:chOff x="0" y="0"/>
            <a:chExt cx="914400" cy="914400"/>
          </a:xfrm>
        </p:grpSpPr>
        <p:sp>
          <p:nvSpPr>
            <p:cNvPr name="Freeform 70" id="70"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7"/>
              <a:stretch>
                <a:fillRect l="0" t="0" r="0" b="0"/>
              </a:stretch>
            </a:blipFill>
          </p:spPr>
        </p:sp>
      </p:grpSp>
      <p:grpSp>
        <p:nvGrpSpPr>
          <p:cNvPr name="Group 71" id="71"/>
          <p:cNvGrpSpPr/>
          <p:nvPr/>
        </p:nvGrpSpPr>
        <p:grpSpPr>
          <a:xfrm rot="0">
            <a:off x="11727180" y="5486400"/>
            <a:ext cx="2263140" cy="822960"/>
            <a:chOff x="0" y="0"/>
            <a:chExt cx="3017520" cy="1097280"/>
          </a:xfrm>
        </p:grpSpPr>
        <p:sp>
          <p:nvSpPr>
            <p:cNvPr name="Freeform 72" id="72"/>
            <p:cNvSpPr/>
            <p:nvPr/>
          </p:nvSpPr>
          <p:spPr>
            <a:xfrm flipH="false" flipV="false" rot="0">
              <a:off x="0" y="0"/>
              <a:ext cx="3017520" cy="1097280"/>
            </a:xfrm>
            <a:custGeom>
              <a:avLst/>
              <a:gdLst/>
              <a:ahLst/>
              <a:cxnLst/>
              <a:rect r="r" b="b" t="t" l="l"/>
              <a:pathLst>
                <a:path h="1097280" w="3017520">
                  <a:moveTo>
                    <a:pt x="0" y="0"/>
                  </a:moveTo>
                  <a:lnTo>
                    <a:pt x="3017520" y="0"/>
                  </a:lnTo>
                  <a:lnTo>
                    <a:pt x="3017520" y="1097280"/>
                  </a:lnTo>
                  <a:lnTo>
                    <a:pt x="0" y="1097280"/>
                  </a:lnTo>
                  <a:close/>
                </a:path>
              </a:pathLst>
            </a:custGeom>
            <a:blipFill>
              <a:blip r:embed="rId3">
                <a:alphaModFix amt="0"/>
              </a:blip>
              <a:stretch>
                <a:fillRect l="0" t="-3546" r="0" b="-3547"/>
              </a:stretch>
            </a:blipFill>
          </p:spPr>
        </p:sp>
      </p:grpSp>
      <p:grpSp>
        <p:nvGrpSpPr>
          <p:cNvPr name="Group 73" id="73"/>
          <p:cNvGrpSpPr/>
          <p:nvPr/>
        </p:nvGrpSpPr>
        <p:grpSpPr>
          <a:xfrm rot="0">
            <a:off x="11727180" y="5472112"/>
            <a:ext cx="2263140" cy="837248"/>
            <a:chOff x="0" y="0"/>
            <a:chExt cx="3017520" cy="1116330"/>
          </a:xfrm>
        </p:grpSpPr>
        <p:sp>
          <p:nvSpPr>
            <p:cNvPr name="Freeform 74" id="74"/>
            <p:cNvSpPr/>
            <p:nvPr/>
          </p:nvSpPr>
          <p:spPr>
            <a:xfrm flipH="false" flipV="false" rot="0">
              <a:off x="0" y="0"/>
              <a:ext cx="3017520" cy="1116330"/>
            </a:xfrm>
            <a:custGeom>
              <a:avLst/>
              <a:gdLst/>
              <a:ahLst/>
              <a:cxnLst/>
              <a:rect r="r" b="b" t="t" l="l"/>
              <a:pathLst>
                <a:path h="1116330" w="3017520">
                  <a:moveTo>
                    <a:pt x="0" y="0"/>
                  </a:moveTo>
                  <a:lnTo>
                    <a:pt x="3017520" y="0"/>
                  </a:lnTo>
                  <a:lnTo>
                    <a:pt x="3017520" y="1116330"/>
                  </a:lnTo>
                  <a:lnTo>
                    <a:pt x="0" y="1116330"/>
                  </a:lnTo>
                  <a:close/>
                </a:path>
              </a:pathLst>
            </a:custGeom>
            <a:blipFill>
              <a:blip r:embed="rId4">
                <a:alphaModFix amt="0"/>
              </a:blip>
              <a:stretch>
                <a:fillRect l="0" t="-2669" r="0" b="-2669"/>
              </a:stretch>
            </a:blipFill>
          </p:spPr>
        </p:sp>
        <p:sp>
          <p:nvSpPr>
            <p:cNvPr name="TextBox 75" id="75"/>
            <p:cNvSpPr txBox="true"/>
            <p:nvPr/>
          </p:nvSpPr>
          <p:spPr>
            <a:xfrm>
              <a:off x="0" y="-19050"/>
              <a:ext cx="3017520" cy="1135380"/>
            </a:xfrm>
            <a:prstGeom prst="rect">
              <a:avLst/>
            </a:prstGeom>
          </p:spPr>
          <p:txBody>
            <a:bodyPr anchor="ctr" rtlCol="false" tIns="0" lIns="0" bIns="0" rIns="0"/>
            <a:lstStyle/>
            <a:p>
              <a:pPr algn="ctr">
                <a:lnSpc>
                  <a:spcPts val="1888"/>
                </a:lnSpc>
              </a:pPr>
              <a:r>
                <a:rPr lang="en-US" sz="1575">
                  <a:solidFill>
                    <a:srgbClr val="44506B"/>
                  </a:solidFill>
                  <a:latin typeface="Calibri (MS)"/>
                  <a:ea typeface="Calibri (MS)"/>
                  <a:cs typeface="Calibri (MS)"/>
                  <a:sym typeface="Calibri (MS)"/>
                </a:rPr>
                <a:t>Serialize (pickle)</a:t>
              </a:r>
            </a:p>
          </p:txBody>
        </p:sp>
      </p:grpSp>
      <p:grpSp>
        <p:nvGrpSpPr>
          <p:cNvPr name="Group 76" id="76"/>
          <p:cNvGrpSpPr/>
          <p:nvPr/>
        </p:nvGrpSpPr>
        <p:grpSpPr>
          <a:xfrm rot="0">
            <a:off x="13759577" y="4322969"/>
            <a:ext cx="530066" cy="50006"/>
            <a:chOff x="0" y="0"/>
            <a:chExt cx="706755" cy="66675"/>
          </a:xfrm>
        </p:grpSpPr>
        <p:sp>
          <p:nvSpPr>
            <p:cNvPr name="Freeform 77" id="77"/>
            <p:cNvSpPr/>
            <p:nvPr/>
          </p:nvSpPr>
          <p:spPr>
            <a:xfrm flipH="false" flipV="false" rot="0">
              <a:off x="0" y="0"/>
              <a:ext cx="706755" cy="66675"/>
            </a:xfrm>
            <a:custGeom>
              <a:avLst/>
              <a:gdLst/>
              <a:ahLst/>
              <a:cxnLst/>
              <a:rect r="r" b="b" t="t" l="l"/>
              <a:pathLst>
                <a:path h="66675" w="706755">
                  <a:moveTo>
                    <a:pt x="0" y="0"/>
                  </a:moveTo>
                  <a:lnTo>
                    <a:pt x="706755" y="66675"/>
                  </a:lnTo>
                </a:path>
              </a:pathLst>
            </a:custGeom>
            <a:blipFill>
              <a:blip r:embed="rId3">
                <a:alphaModFix amt="0"/>
              </a:blip>
              <a:stretch>
                <a:fillRect l="0" t="-156400" r="0" b="-156400"/>
              </a:stretch>
            </a:blipFill>
            <a:ln w="28575" cap="sq">
              <a:solidFill>
                <a:srgbClr val="6E7B96"/>
              </a:solidFill>
              <a:prstDash val="solid"/>
              <a:miter/>
            </a:ln>
          </p:spPr>
        </p:sp>
      </p:grpSp>
      <p:grpSp>
        <p:nvGrpSpPr>
          <p:cNvPr name="Group 78" id="78"/>
          <p:cNvGrpSpPr/>
          <p:nvPr/>
        </p:nvGrpSpPr>
        <p:grpSpPr>
          <a:xfrm rot="0">
            <a:off x="14264640" y="3429000"/>
            <a:ext cx="1851660" cy="1851660"/>
            <a:chOff x="0" y="0"/>
            <a:chExt cx="2468880" cy="2468880"/>
          </a:xfrm>
        </p:grpSpPr>
        <p:sp>
          <p:nvSpPr>
            <p:cNvPr name="Freeform 79" id="79"/>
            <p:cNvSpPr/>
            <p:nvPr/>
          </p:nvSpPr>
          <p:spPr>
            <a:xfrm flipH="false" flipV="false" rot="0">
              <a:off x="0" y="0"/>
              <a:ext cx="2468880" cy="2468880"/>
            </a:xfrm>
            <a:custGeom>
              <a:avLst/>
              <a:gdLst/>
              <a:ahLst/>
              <a:cxnLst/>
              <a:rect r="r" b="b" t="t" l="l"/>
              <a:pathLst>
                <a:path h="2468880" w="2468880">
                  <a:moveTo>
                    <a:pt x="0" y="182880"/>
                  </a:moveTo>
                  <a:cubicBezTo>
                    <a:pt x="0" y="81915"/>
                    <a:pt x="81915" y="0"/>
                    <a:pt x="182880" y="0"/>
                  </a:cubicBezTo>
                  <a:lnTo>
                    <a:pt x="2286000" y="0"/>
                  </a:lnTo>
                  <a:cubicBezTo>
                    <a:pt x="2386965" y="0"/>
                    <a:pt x="2468880" y="81915"/>
                    <a:pt x="2468880" y="182880"/>
                  </a:cubicBezTo>
                  <a:lnTo>
                    <a:pt x="2468880" y="2286000"/>
                  </a:lnTo>
                  <a:cubicBezTo>
                    <a:pt x="2468880" y="2386965"/>
                    <a:pt x="2386965" y="2468880"/>
                    <a:pt x="2286000" y="2468880"/>
                  </a:cubicBezTo>
                  <a:lnTo>
                    <a:pt x="182880" y="2468880"/>
                  </a:lnTo>
                  <a:cubicBezTo>
                    <a:pt x="81915" y="2468880"/>
                    <a:pt x="0" y="2386965"/>
                    <a:pt x="0" y="2286000"/>
                  </a:cubicBezTo>
                  <a:close/>
                </a:path>
              </a:pathLst>
            </a:custGeom>
            <a:solidFill>
              <a:srgbClr val="F7F9FC"/>
            </a:solidFill>
          </p:spPr>
        </p:sp>
      </p:grpSp>
      <p:grpSp>
        <p:nvGrpSpPr>
          <p:cNvPr name="Group 80" id="80"/>
          <p:cNvGrpSpPr/>
          <p:nvPr/>
        </p:nvGrpSpPr>
        <p:grpSpPr>
          <a:xfrm rot="0">
            <a:off x="14840712" y="3675888"/>
            <a:ext cx="685800" cy="685800"/>
            <a:chOff x="0" y="0"/>
            <a:chExt cx="914400" cy="914400"/>
          </a:xfrm>
        </p:grpSpPr>
        <p:sp>
          <p:nvSpPr>
            <p:cNvPr name="Freeform 81" id="81"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8"/>
              <a:stretch>
                <a:fillRect l="0" t="0" r="0" b="0"/>
              </a:stretch>
            </a:blipFill>
          </p:spPr>
        </p:sp>
      </p:grpSp>
      <p:grpSp>
        <p:nvGrpSpPr>
          <p:cNvPr name="Group 82" id="82"/>
          <p:cNvGrpSpPr/>
          <p:nvPr/>
        </p:nvGrpSpPr>
        <p:grpSpPr>
          <a:xfrm rot="0">
            <a:off x="14058900" y="5486400"/>
            <a:ext cx="2263140" cy="822960"/>
            <a:chOff x="0" y="0"/>
            <a:chExt cx="3017520" cy="1097280"/>
          </a:xfrm>
        </p:grpSpPr>
        <p:sp>
          <p:nvSpPr>
            <p:cNvPr name="Freeform 83" id="83"/>
            <p:cNvSpPr/>
            <p:nvPr/>
          </p:nvSpPr>
          <p:spPr>
            <a:xfrm flipH="false" flipV="false" rot="0">
              <a:off x="0" y="0"/>
              <a:ext cx="3017520" cy="1097280"/>
            </a:xfrm>
            <a:custGeom>
              <a:avLst/>
              <a:gdLst/>
              <a:ahLst/>
              <a:cxnLst/>
              <a:rect r="r" b="b" t="t" l="l"/>
              <a:pathLst>
                <a:path h="1097280" w="3017520">
                  <a:moveTo>
                    <a:pt x="0" y="0"/>
                  </a:moveTo>
                  <a:lnTo>
                    <a:pt x="3017520" y="0"/>
                  </a:lnTo>
                  <a:lnTo>
                    <a:pt x="3017520" y="1097280"/>
                  </a:lnTo>
                  <a:lnTo>
                    <a:pt x="0" y="1097280"/>
                  </a:lnTo>
                  <a:close/>
                </a:path>
              </a:pathLst>
            </a:custGeom>
            <a:blipFill>
              <a:blip r:embed="rId3">
                <a:alphaModFix amt="0"/>
              </a:blip>
              <a:stretch>
                <a:fillRect l="0" t="-3546" r="0" b="-3547"/>
              </a:stretch>
            </a:blipFill>
          </p:spPr>
        </p:sp>
      </p:grpSp>
      <p:grpSp>
        <p:nvGrpSpPr>
          <p:cNvPr name="Group 84" id="84"/>
          <p:cNvGrpSpPr/>
          <p:nvPr/>
        </p:nvGrpSpPr>
        <p:grpSpPr>
          <a:xfrm rot="0">
            <a:off x="14058900" y="5472112"/>
            <a:ext cx="2263140" cy="837248"/>
            <a:chOff x="0" y="0"/>
            <a:chExt cx="3017520" cy="1116330"/>
          </a:xfrm>
        </p:grpSpPr>
        <p:sp>
          <p:nvSpPr>
            <p:cNvPr name="Freeform 85" id="85"/>
            <p:cNvSpPr/>
            <p:nvPr/>
          </p:nvSpPr>
          <p:spPr>
            <a:xfrm flipH="false" flipV="false" rot="0">
              <a:off x="0" y="0"/>
              <a:ext cx="3017520" cy="1116330"/>
            </a:xfrm>
            <a:custGeom>
              <a:avLst/>
              <a:gdLst/>
              <a:ahLst/>
              <a:cxnLst/>
              <a:rect r="r" b="b" t="t" l="l"/>
              <a:pathLst>
                <a:path h="1116330" w="3017520">
                  <a:moveTo>
                    <a:pt x="0" y="0"/>
                  </a:moveTo>
                  <a:lnTo>
                    <a:pt x="3017520" y="0"/>
                  </a:lnTo>
                  <a:lnTo>
                    <a:pt x="3017520" y="1116330"/>
                  </a:lnTo>
                  <a:lnTo>
                    <a:pt x="0" y="1116330"/>
                  </a:lnTo>
                  <a:close/>
                </a:path>
              </a:pathLst>
            </a:custGeom>
            <a:blipFill>
              <a:blip r:embed="rId4">
                <a:alphaModFix amt="0"/>
              </a:blip>
              <a:stretch>
                <a:fillRect l="0" t="-2669" r="0" b="-2669"/>
              </a:stretch>
            </a:blipFill>
          </p:spPr>
        </p:sp>
        <p:sp>
          <p:nvSpPr>
            <p:cNvPr name="TextBox 86" id="86"/>
            <p:cNvSpPr txBox="true"/>
            <p:nvPr/>
          </p:nvSpPr>
          <p:spPr>
            <a:xfrm>
              <a:off x="0" y="-19050"/>
              <a:ext cx="3017520" cy="1135380"/>
            </a:xfrm>
            <a:prstGeom prst="rect">
              <a:avLst/>
            </a:prstGeom>
          </p:spPr>
          <p:txBody>
            <a:bodyPr anchor="ctr" rtlCol="false" tIns="0" lIns="0" bIns="0" rIns="0"/>
            <a:lstStyle/>
            <a:p>
              <a:pPr algn="ctr">
                <a:lnSpc>
                  <a:spcPts val="1888"/>
                </a:lnSpc>
              </a:pPr>
              <a:r>
                <a:rPr lang="en-US" sz="1575">
                  <a:solidFill>
                    <a:srgbClr val="44506B"/>
                  </a:solidFill>
                  <a:latin typeface="Calibri (MS)"/>
                  <a:ea typeface="Calibri (MS)"/>
                  <a:cs typeface="Calibri (MS)"/>
                  <a:sym typeface="Calibri (MS)"/>
                </a:rPr>
                <a:t>Streamlit App</a:t>
              </a:r>
            </a:p>
          </p:txBody>
        </p:sp>
      </p:grpSp>
      <p:grpSp>
        <p:nvGrpSpPr>
          <p:cNvPr name="Group 87" id="87"/>
          <p:cNvGrpSpPr/>
          <p:nvPr/>
        </p:nvGrpSpPr>
        <p:grpSpPr>
          <a:xfrm rot="0">
            <a:off x="16091297" y="4322969"/>
            <a:ext cx="530066" cy="50006"/>
            <a:chOff x="0" y="0"/>
            <a:chExt cx="706755" cy="66675"/>
          </a:xfrm>
        </p:grpSpPr>
        <p:sp>
          <p:nvSpPr>
            <p:cNvPr name="Freeform 88" id="88"/>
            <p:cNvSpPr/>
            <p:nvPr/>
          </p:nvSpPr>
          <p:spPr>
            <a:xfrm flipH="false" flipV="false" rot="0">
              <a:off x="0" y="0"/>
              <a:ext cx="706755" cy="66675"/>
            </a:xfrm>
            <a:custGeom>
              <a:avLst/>
              <a:gdLst/>
              <a:ahLst/>
              <a:cxnLst/>
              <a:rect r="r" b="b" t="t" l="l"/>
              <a:pathLst>
                <a:path h="66675" w="706755">
                  <a:moveTo>
                    <a:pt x="0" y="0"/>
                  </a:moveTo>
                  <a:lnTo>
                    <a:pt x="706755" y="66675"/>
                  </a:lnTo>
                </a:path>
              </a:pathLst>
            </a:custGeom>
            <a:blipFill>
              <a:blip r:embed="rId3">
                <a:alphaModFix amt="0"/>
              </a:blip>
              <a:stretch>
                <a:fillRect l="0" t="-156400" r="0" b="-156400"/>
              </a:stretch>
            </a:blipFill>
            <a:ln w="28575" cap="sq">
              <a:solidFill>
                <a:srgbClr val="6E7B96"/>
              </a:solidFill>
              <a:prstDash val="solid"/>
              <a:miter/>
            </a:ln>
          </p:spPr>
        </p:sp>
      </p:grpSp>
      <p:grpSp>
        <p:nvGrpSpPr>
          <p:cNvPr name="Group 89" id="89"/>
          <p:cNvGrpSpPr/>
          <p:nvPr/>
        </p:nvGrpSpPr>
        <p:grpSpPr>
          <a:xfrm rot="0">
            <a:off x="16596360" y="3429000"/>
            <a:ext cx="1851660" cy="1851660"/>
            <a:chOff x="0" y="0"/>
            <a:chExt cx="2468880" cy="2468880"/>
          </a:xfrm>
        </p:grpSpPr>
        <p:sp>
          <p:nvSpPr>
            <p:cNvPr name="Freeform 90" id="90"/>
            <p:cNvSpPr/>
            <p:nvPr/>
          </p:nvSpPr>
          <p:spPr>
            <a:xfrm flipH="false" flipV="false" rot="0">
              <a:off x="0" y="0"/>
              <a:ext cx="2468880" cy="2468880"/>
            </a:xfrm>
            <a:custGeom>
              <a:avLst/>
              <a:gdLst/>
              <a:ahLst/>
              <a:cxnLst/>
              <a:rect r="r" b="b" t="t" l="l"/>
              <a:pathLst>
                <a:path h="2468880" w="2468880">
                  <a:moveTo>
                    <a:pt x="0" y="182880"/>
                  </a:moveTo>
                  <a:cubicBezTo>
                    <a:pt x="0" y="81915"/>
                    <a:pt x="81915" y="0"/>
                    <a:pt x="182880" y="0"/>
                  </a:cubicBezTo>
                  <a:lnTo>
                    <a:pt x="2286000" y="0"/>
                  </a:lnTo>
                  <a:cubicBezTo>
                    <a:pt x="2386965" y="0"/>
                    <a:pt x="2468880" y="81915"/>
                    <a:pt x="2468880" y="182880"/>
                  </a:cubicBezTo>
                  <a:lnTo>
                    <a:pt x="2468880" y="2286000"/>
                  </a:lnTo>
                  <a:cubicBezTo>
                    <a:pt x="2468880" y="2386965"/>
                    <a:pt x="2386965" y="2468880"/>
                    <a:pt x="2286000" y="2468880"/>
                  </a:cubicBezTo>
                  <a:lnTo>
                    <a:pt x="182880" y="2468880"/>
                  </a:lnTo>
                  <a:cubicBezTo>
                    <a:pt x="81915" y="2468880"/>
                    <a:pt x="0" y="2386965"/>
                    <a:pt x="0" y="2286000"/>
                  </a:cubicBezTo>
                  <a:close/>
                </a:path>
              </a:pathLst>
            </a:custGeom>
            <a:solidFill>
              <a:srgbClr val="F7F9FC"/>
            </a:solidFill>
          </p:spPr>
        </p:sp>
      </p:grpSp>
      <p:grpSp>
        <p:nvGrpSpPr>
          <p:cNvPr name="Group 91" id="91"/>
          <p:cNvGrpSpPr/>
          <p:nvPr/>
        </p:nvGrpSpPr>
        <p:grpSpPr>
          <a:xfrm rot="0">
            <a:off x="17172432" y="3675888"/>
            <a:ext cx="685800" cy="685800"/>
            <a:chOff x="0" y="0"/>
            <a:chExt cx="914400" cy="914400"/>
          </a:xfrm>
        </p:grpSpPr>
        <p:sp>
          <p:nvSpPr>
            <p:cNvPr name="Freeform 92" id="92"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9"/>
              <a:stretch>
                <a:fillRect l="0" t="0" r="0" b="0"/>
              </a:stretch>
            </a:blipFill>
          </p:spPr>
        </p:sp>
      </p:grpSp>
      <p:grpSp>
        <p:nvGrpSpPr>
          <p:cNvPr name="Group 93" id="93"/>
          <p:cNvGrpSpPr/>
          <p:nvPr/>
        </p:nvGrpSpPr>
        <p:grpSpPr>
          <a:xfrm rot="0">
            <a:off x="16390620" y="5486400"/>
            <a:ext cx="2263140" cy="822960"/>
            <a:chOff x="0" y="0"/>
            <a:chExt cx="3017520" cy="1097280"/>
          </a:xfrm>
        </p:grpSpPr>
        <p:sp>
          <p:nvSpPr>
            <p:cNvPr name="Freeform 94" id="94"/>
            <p:cNvSpPr/>
            <p:nvPr/>
          </p:nvSpPr>
          <p:spPr>
            <a:xfrm flipH="false" flipV="false" rot="0">
              <a:off x="0" y="0"/>
              <a:ext cx="3017520" cy="1097280"/>
            </a:xfrm>
            <a:custGeom>
              <a:avLst/>
              <a:gdLst/>
              <a:ahLst/>
              <a:cxnLst/>
              <a:rect r="r" b="b" t="t" l="l"/>
              <a:pathLst>
                <a:path h="1097280" w="3017520">
                  <a:moveTo>
                    <a:pt x="0" y="0"/>
                  </a:moveTo>
                  <a:lnTo>
                    <a:pt x="3017520" y="0"/>
                  </a:lnTo>
                  <a:lnTo>
                    <a:pt x="3017520" y="1097280"/>
                  </a:lnTo>
                  <a:lnTo>
                    <a:pt x="0" y="1097280"/>
                  </a:lnTo>
                  <a:close/>
                </a:path>
              </a:pathLst>
            </a:custGeom>
            <a:blipFill>
              <a:blip r:embed="rId3">
                <a:alphaModFix amt="0"/>
              </a:blip>
              <a:stretch>
                <a:fillRect l="0" t="-3546" r="0" b="-3547"/>
              </a:stretch>
            </a:blipFill>
          </p:spPr>
        </p:sp>
      </p:grpSp>
      <p:grpSp>
        <p:nvGrpSpPr>
          <p:cNvPr name="Group 95" id="95"/>
          <p:cNvGrpSpPr/>
          <p:nvPr/>
        </p:nvGrpSpPr>
        <p:grpSpPr>
          <a:xfrm rot="0">
            <a:off x="16390620" y="5472112"/>
            <a:ext cx="2263140" cy="837248"/>
            <a:chOff x="0" y="0"/>
            <a:chExt cx="3017520" cy="1116330"/>
          </a:xfrm>
        </p:grpSpPr>
        <p:sp>
          <p:nvSpPr>
            <p:cNvPr name="Freeform 96" id="96"/>
            <p:cNvSpPr/>
            <p:nvPr/>
          </p:nvSpPr>
          <p:spPr>
            <a:xfrm flipH="false" flipV="false" rot="0">
              <a:off x="0" y="0"/>
              <a:ext cx="3017520" cy="1116330"/>
            </a:xfrm>
            <a:custGeom>
              <a:avLst/>
              <a:gdLst/>
              <a:ahLst/>
              <a:cxnLst/>
              <a:rect r="r" b="b" t="t" l="l"/>
              <a:pathLst>
                <a:path h="1116330" w="3017520">
                  <a:moveTo>
                    <a:pt x="0" y="0"/>
                  </a:moveTo>
                  <a:lnTo>
                    <a:pt x="3017520" y="0"/>
                  </a:lnTo>
                  <a:lnTo>
                    <a:pt x="3017520" y="1116330"/>
                  </a:lnTo>
                  <a:lnTo>
                    <a:pt x="0" y="1116330"/>
                  </a:lnTo>
                  <a:close/>
                </a:path>
              </a:pathLst>
            </a:custGeom>
            <a:blipFill>
              <a:blip r:embed="rId4">
                <a:alphaModFix amt="0"/>
              </a:blip>
              <a:stretch>
                <a:fillRect l="0" t="-2669" r="0" b="-2669"/>
              </a:stretch>
            </a:blipFill>
          </p:spPr>
        </p:sp>
        <p:sp>
          <p:nvSpPr>
            <p:cNvPr name="TextBox 97" id="97"/>
            <p:cNvSpPr txBox="true"/>
            <p:nvPr/>
          </p:nvSpPr>
          <p:spPr>
            <a:xfrm>
              <a:off x="0" y="-19050"/>
              <a:ext cx="3017520" cy="1135380"/>
            </a:xfrm>
            <a:prstGeom prst="rect">
              <a:avLst/>
            </a:prstGeom>
          </p:spPr>
          <p:txBody>
            <a:bodyPr anchor="ctr" rtlCol="false" tIns="0" lIns="0" bIns="0" rIns="0"/>
            <a:lstStyle/>
            <a:p>
              <a:pPr algn="ctr">
                <a:lnSpc>
                  <a:spcPts val="1888"/>
                </a:lnSpc>
              </a:pPr>
              <a:r>
                <a:rPr lang="en-US" sz="1575">
                  <a:solidFill>
                    <a:srgbClr val="44506B"/>
                  </a:solidFill>
                  <a:latin typeface="Calibri (MS)"/>
                  <a:ea typeface="Calibri (MS)"/>
                  <a:cs typeface="Calibri (MS)"/>
                  <a:sym typeface="Calibri (MS)"/>
                </a:rPr>
                <a:t>Live Prediction</a:t>
              </a:r>
            </a:p>
          </p:txBody>
        </p:sp>
      </p:grpSp>
      <p:grpSp>
        <p:nvGrpSpPr>
          <p:cNvPr name="Group 98" id="98"/>
          <p:cNvGrpSpPr/>
          <p:nvPr/>
        </p:nvGrpSpPr>
        <p:grpSpPr>
          <a:xfrm rot="0">
            <a:off x="9601200" y="6720840"/>
            <a:ext cx="7680960" cy="548640"/>
            <a:chOff x="0" y="0"/>
            <a:chExt cx="10241280" cy="731520"/>
          </a:xfrm>
        </p:grpSpPr>
        <p:sp>
          <p:nvSpPr>
            <p:cNvPr name="Freeform 99" id="99"/>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solidFill>
              <a:srgbClr val="F7F9FC"/>
            </a:solidFill>
          </p:spPr>
        </p:sp>
      </p:grpSp>
      <p:grpSp>
        <p:nvGrpSpPr>
          <p:cNvPr name="Group 100" id="100"/>
          <p:cNvGrpSpPr/>
          <p:nvPr/>
        </p:nvGrpSpPr>
        <p:grpSpPr>
          <a:xfrm rot="0">
            <a:off x="9601200" y="6720840"/>
            <a:ext cx="7680960" cy="548640"/>
            <a:chOff x="0" y="0"/>
            <a:chExt cx="10241280" cy="731520"/>
          </a:xfrm>
        </p:grpSpPr>
        <p:sp>
          <p:nvSpPr>
            <p:cNvPr name="Freeform 101" id="101"/>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4">
                <a:alphaModFix amt="0"/>
              </a:blip>
              <a:stretch>
                <a:fillRect l="0" t="-222790" r="0" b="-222790"/>
              </a:stretch>
            </a:blipFill>
          </p:spPr>
        </p:sp>
        <p:sp>
          <p:nvSpPr>
            <p:cNvPr name="TextBox 102" id="102"/>
            <p:cNvSpPr txBox="true"/>
            <p:nvPr/>
          </p:nvSpPr>
          <p:spPr>
            <a:xfrm>
              <a:off x="0" y="0"/>
              <a:ext cx="10241280" cy="731520"/>
            </a:xfrm>
            <a:prstGeom prst="rect">
              <a:avLst/>
            </a:prstGeom>
          </p:spPr>
          <p:txBody>
            <a:bodyPr anchor="ctr" rtlCol="false" tIns="0" lIns="0" bIns="0" rIns="0"/>
            <a:lstStyle/>
            <a:p>
              <a:pPr algn="l">
                <a:lnSpc>
                  <a:spcPts val="2070"/>
                </a:lnSpc>
              </a:pPr>
              <a:r>
                <a:rPr lang="en-US" sz="1725">
                  <a:solidFill>
                    <a:srgbClr val="44506B"/>
                  </a:solidFill>
                  <a:latin typeface="Courier New"/>
                  <a:ea typeface="Courier New"/>
                  <a:cs typeface="Courier New"/>
                  <a:sym typeface="Courier New"/>
                </a:rPr>
                <a:t>Run locally with: python -m streamlit run app.py</a:t>
              </a:r>
            </a:p>
          </p:txBody>
        </p:sp>
      </p:grpSp>
      <p:grpSp>
        <p:nvGrpSpPr>
          <p:cNvPr name="Group 103" id="103"/>
          <p:cNvGrpSpPr/>
          <p:nvPr/>
        </p:nvGrpSpPr>
        <p:grpSpPr>
          <a:xfrm rot="0">
            <a:off x="9601200" y="7543800"/>
            <a:ext cx="7680960" cy="1097280"/>
            <a:chOff x="0" y="0"/>
            <a:chExt cx="10241280" cy="1463040"/>
          </a:xfrm>
        </p:grpSpPr>
        <p:sp>
          <p:nvSpPr>
            <p:cNvPr name="Freeform 104" id="104"/>
            <p:cNvSpPr/>
            <p:nvPr/>
          </p:nvSpPr>
          <p:spPr>
            <a:xfrm flipH="false" flipV="false" rot="0">
              <a:off x="0" y="0"/>
              <a:ext cx="10241280" cy="1463040"/>
            </a:xfrm>
            <a:custGeom>
              <a:avLst/>
              <a:gdLst/>
              <a:ahLst/>
              <a:cxnLst/>
              <a:rect r="r" b="b" t="t" l="l"/>
              <a:pathLst>
                <a:path h="1463040" w="10241280">
                  <a:moveTo>
                    <a:pt x="0" y="0"/>
                  </a:moveTo>
                  <a:lnTo>
                    <a:pt x="10241280" y="0"/>
                  </a:lnTo>
                  <a:lnTo>
                    <a:pt x="10241280" y="1463040"/>
                  </a:lnTo>
                  <a:lnTo>
                    <a:pt x="0" y="1463040"/>
                  </a:lnTo>
                  <a:close/>
                </a:path>
              </a:pathLst>
            </a:custGeom>
            <a:blipFill>
              <a:blip r:embed="rId3">
                <a:alphaModFix amt="0"/>
              </a:blip>
              <a:stretch>
                <a:fillRect l="0" t="-86300" r="0" b="-86300"/>
              </a:stretch>
            </a:blipFill>
          </p:spPr>
        </p:sp>
      </p:grpSp>
      <p:grpSp>
        <p:nvGrpSpPr>
          <p:cNvPr name="Group 105" id="105"/>
          <p:cNvGrpSpPr/>
          <p:nvPr/>
        </p:nvGrpSpPr>
        <p:grpSpPr>
          <a:xfrm rot="0">
            <a:off x="9601200" y="7515225"/>
            <a:ext cx="7680960" cy="1125855"/>
            <a:chOff x="0" y="0"/>
            <a:chExt cx="10241280" cy="1501140"/>
          </a:xfrm>
        </p:grpSpPr>
        <p:sp>
          <p:nvSpPr>
            <p:cNvPr name="Freeform 106" id="106"/>
            <p:cNvSpPr/>
            <p:nvPr/>
          </p:nvSpPr>
          <p:spPr>
            <a:xfrm flipH="false" flipV="false" rot="0">
              <a:off x="0" y="0"/>
              <a:ext cx="10241280" cy="1501140"/>
            </a:xfrm>
            <a:custGeom>
              <a:avLst/>
              <a:gdLst/>
              <a:ahLst/>
              <a:cxnLst/>
              <a:rect r="r" b="b" t="t" l="l"/>
              <a:pathLst>
                <a:path h="1501140" w="10241280">
                  <a:moveTo>
                    <a:pt x="0" y="0"/>
                  </a:moveTo>
                  <a:lnTo>
                    <a:pt x="10241280" y="0"/>
                  </a:lnTo>
                  <a:lnTo>
                    <a:pt x="10241280" y="1501140"/>
                  </a:lnTo>
                  <a:lnTo>
                    <a:pt x="0" y="1501140"/>
                  </a:lnTo>
                  <a:close/>
                </a:path>
              </a:pathLst>
            </a:custGeom>
            <a:blipFill>
              <a:blip r:embed="rId4">
                <a:alphaModFix amt="0"/>
              </a:blip>
              <a:stretch>
                <a:fillRect l="0" t="-82933" r="0" b="-82933"/>
              </a:stretch>
            </a:blipFill>
          </p:spPr>
        </p:sp>
        <p:sp>
          <p:nvSpPr>
            <p:cNvPr name="TextBox 107" id="107"/>
            <p:cNvSpPr txBox="true"/>
            <p:nvPr/>
          </p:nvSpPr>
          <p:spPr>
            <a:xfrm>
              <a:off x="0" y="-38100"/>
              <a:ext cx="10241280" cy="1539240"/>
            </a:xfrm>
            <a:prstGeom prst="rect">
              <a:avLst/>
            </a:prstGeom>
          </p:spPr>
          <p:txBody>
            <a:bodyPr anchor="ctr" rtlCol="false" tIns="0" lIns="0" bIns="0" rIns="0"/>
            <a:lstStyle/>
            <a:p>
              <a:pPr algn="l">
                <a:lnSpc>
                  <a:spcPts val="2160"/>
                </a:lnSpc>
              </a:pPr>
              <a:r>
                <a:rPr lang="en-US" sz="1800" i="true">
                  <a:solidFill>
                    <a:srgbClr val="6E7B96"/>
                  </a:solidFill>
                  <a:latin typeface="Calibri (MS) Italics"/>
                  <a:ea typeface="Calibri (MS) Italics"/>
                  <a:cs typeface="Calibri (MS) Italics"/>
                  <a:sym typeface="Calibri (MS) Italics"/>
                </a:rPr>
                <a:t>Model: Logistic Regression, 78.86% accuracy — serialized with Python pickle</a:t>
              </a:r>
            </a:p>
          </p:txBody>
        </p:sp>
      </p:grpSp>
      <p:grpSp>
        <p:nvGrpSpPr>
          <p:cNvPr name="Group 108" id="108"/>
          <p:cNvGrpSpPr/>
          <p:nvPr/>
        </p:nvGrpSpPr>
        <p:grpSpPr>
          <a:xfrm rot="0">
            <a:off x="685800" y="9738360"/>
            <a:ext cx="8229600" cy="411480"/>
            <a:chOff x="0" y="0"/>
            <a:chExt cx="10972800" cy="548640"/>
          </a:xfrm>
        </p:grpSpPr>
        <p:sp>
          <p:nvSpPr>
            <p:cNvPr name="Freeform 109" id="10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110" id="110"/>
          <p:cNvGrpSpPr/>
          <p:nvPr/>
        </p:nvGrpSpPr>
        <p:grpSpPr>
          <a:xfrm rot="0">
            <a:off x="685800" y="9716929"/>
            <a:ext cx="8229600" cy="432911"/>
            <a:chOff x="0" y="0"/>
            <a:chExt cx="10972800" cy="577215"/>
          </a:xfrm>
        </p:grpSpPr>
        <p:sp>
          <p:nvSpPr>
            <p:cNvPr name="Freeform 111" id="111"/>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112" id="112"/>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113" id="113"/>
          <p:cNvGrpSpPr/>
          <p:nvPr/>
        </p:nvGrpSpPr>
        <p:grpSpPr>
          <a:xfrm rot="0">
            <a:off x="16870680" y="9738360"/>
            <a:ext cx="685800" cy="411480"/>
            <a:chOff x="0" y="0"/>
            <a:chExt cx="914400" cy="548640"/>
          </a:xfrm>
        </p:grpSpPr>
        <p:sp>
          <p:nvSpPr>
            <p:cNvPr name="Freeform 114" id="11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115" id="115"/>
          <p:cNvGrpSpPr/>
          <p:nvPr/>
        </p:nvGrpSpPr>
        <p:grpSpPr>
          <a:xfrm rot="0">
            <a:off x="16870680" y="9716929"/>
            <a:ext cx="685800" cy="432911"/>
            <a:chOff x="0" y="0"/>
            <a:chExt cx="914400" cy="577215"/>
          </a:xfrm>
        </p:grpSpPr>
        <p:sp>
          <p:nvSpPr>
            <p:cNvPr name="Freeform 116" id="116"/>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117" id="117"/>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IMPLEMENTATION</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Live Demo — Filling the Application</a:t>
              </a:r>
            </a:p>
          </p:txBody>
        </p:sp>
      </p:grpSp>
      <p:sp>
        <p:nvSpPr>
          <p:cNvPr name="Freeform 12" id="12"/>
          <p:cNvSpPr/>
          <p:nvPr/>
        </p:nvSpPr>
        <p:spPr>
          <a:xfrm flipH="false" flipV="false" rot="0">
            <a:off x="737711" y="2520791"/>
            <a:ext cx="8276654" cy="4509516"/>
          </a:xfrm>
          <a:custGeom>
            <a:avLst/>
            <a:gdLst/>
            <a:ahLst/>
            <a:cxnLst/>
            <a:rect r="r" b="b" t="t" l="l"/>
            <a:pathLst>
              <a:path h="4509516" w="8276654">
                <a:moveTo>
                  <a:pt x="0" y="0"/>
                </a:moveTo>
                <a:lnTo>
                  <a:pt x="8276654" y="0"/>
                </a:lnTo>
                <a:lnTo>
                  <a:pt x="8276654" y="4509516"/>
                </a:lnTo>
                <a:lnTo>
                  <a:pt x="0" y="4509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864108" y="2647188"/>
            <a:ext cx="8023860" cy="4256722"/>
            <a:chOff x="0" y="0"/>
            <a:chExt cx="10698480" cy="5675630"/>
          </a:xfrm>
        </p:grpSpPr>
        <p:sp>
          <p:nvSpPr>
            <p:cNvPr name="Freeform 14" id="14" descr="/home/claude/shot1.jpg"/>
            <p:cNvSpPr/>
            <p:nvPr/>
          </p:nvSpPr>
          <p:spPr>
            <a:xfrm flipH="false" flipV="false" rot="0">
              <a:off x="0" y="0"/>
              <a:ext cx="10698480" cy="5675630"/>
            </a:xfrm>
            <a:custGeom>
              <a:avLst/>
              <a:gdLst/>
              <a:ahLst/>
              <a:cxnLst/>
              <a:rect r="r" b="b" t="t" l="l"/>
              <a:pathLst>
                <a:path h="5675630" w="10698480">
                  <a:moveTo>
                    <a:pt x="0" y="0"/>
                  </a:moveTo>
                  <a:lnTo>
                    <a:pt x="10698480" y="0"/>
                  </a:lnTo>
                  <a:lnTo>
                    <a:pt x="10698480" y="5675630"/>
                  </a:lnTo>
                  <a:lnTo>
                    <a:pt x="0" y="5675630"/>
                  </a:lnTo>
                  <a:lnTo>
                    <a:pt x="0" y="0"/>
                  </a:lnTo>
                  <a:close/>
                </a:path>
              </a:pathLst>
            </a:custGeom>
            <a:blipFill>
              <a:blip r:embed="rId7"/>
              <a:stretch>
                <a:fillRect l="0" t="-324" r="0" b="-323"/>
              </a:stretch>
            </a:blipFill>
          </p:spPr>
        </p:sp>
      </p:grpSp>
      <p:grpSp>
        <p:nvGrpSpPr>
          <p:cNvPr name="Group 15" id="15"/>
          <p:cNvGrpSpPr/>
          <p:nvPr/>
        </p:nvGrpSpPr>
        <p:grpSpPr>
          <a:xfrm rot="0">
            <a:off x="754380" y="7137054"/>
            <a:ext cx="8243316" cy="480060"/>
            <a:chOff x="0" y="0"/>
            <a:chExt cx="10991088" cy="640080"/>
          </a:xfrm>
        </p:grpSpPr>
        <p:sp>
          <p:nvSpPr>
            <p:cNvPr name="Freeform 16" id="16"/>
            <p:cNvSpPr/>
            <p:nvPr/>
          </p:nvSpPr>
          <p:spPr>
            <a:xfrm flipH="false" flipV="false" rot="0">
              <a:off x="0" y="0"/>
              <a:ext cx="10991088" cy="640080"/>
            </a:xfrm>
            <a:custGeom>
              <a:avLst/>
              <a:gdLst/>
              <a:ahLst/>
              <a:cxnLst/>
              <a:rect r="r" b="b" t="t" l="l"/>
              <a:pathLst>
                <a:path h="640080" w="10991088">
                  <a:moveTo>
                    <a:pt x="0" y="0"/>
                  </a:moveTo>
                  <a:lnTo>
                    <a:pt x="10991088" y="0"/>
                  </a:lnTo>
                  <a:lnTo>
                    <a:pt x="10991088" y="640080"/>
                  </a:lnTo>
                  <a:lnTo>
                    <a:pt x="0" y="640080"/>
                  </a:lnTo>
                  <a:close/>
                </a:path>
              </a:pathLst>
            </a:custGeom>
            <a:blipFill>
              <a:blip r:embed="rId3">
                <a:alphaModFix amt="0"/>
              </a:blip>
              <a:stretch>
                <a:fillRect l="0" t="-284353" r="0" b="-284353"/>
              </a:stretch>
            </a:blipFill>
          </p:spPr>
        </p:sp>
      </p:grpSp>
      <p:grpSp>
        <p:nvGrpSpPr>
          <p:cNvPr name="Group 17" id="17"/>
          <p:cNvGrpSpPr/>
          <p:nvPr/>
        </p:nvGrpSpPr>
        <p:grpSpPr>
          <a:xfrm rot="0">
            <a:off x="754380" y="7108479"/>
            <a:ext cx="8243316" cy="508635"/>
            <a:chOff x="0" y="0"/>
            <a:chExt cx="10991088" cy="678180"/>
          </a:xfrm>
        </p:grpSpPr>
        <p:sp>
          <p:nvSpPr>
            <p:cNvPr name="Freeform 18" id="18"/>
            <p:cNvSpPr/>
            <p:nvPr/>
          </p:nvSpPr>
          <p:spPr>
            <a:xfrm flipH="false" flipV="false" rot="0">
              <a:off x="0" y="0"/>
              <a:ext cx="10991088" cy="678180"/>
            </a:xfrm>
            <a:custGeom>
              <a:avLst/>
              <a:gdLst/>
              <a:ahLst/>
              <a:cxnLst/>
              <a:rect r="r" b="b" t="t" l="l"/>
              <a:pathLst>
                <a:path h="678180" w="10991088">
                  <a:moveTo>
                    <a:pt x="0" y="0"/>
                  </a:moveTo>
                  <a:lnTo>
                    <a:pt x="10991088" y="0"/>
                  </a:lnTo>
                  <a:lnTo>
                    <a:pt x="10991088" y="678180"/>
                  </a:lnTo>
                  <a:lnTo>
                    <a:pt x="0" y="678180"/>
                  </a:lnTo>
                  <a:close/>
                </a:path>
              </a:pathLst>
            </a:custGeom>
            <a:blipFill>
              <a:blip r:embed="rId4">
                <a:alphaModFix amt="0"/>
              </a:blip>
              <a:stretch>
                <a:fillRect l="0" t="-265788" r="0" b="-265788"/>
              </a:stretch>
            </a:blipFill>
          </p:spPr>
        </p:sp>
        <p:sp>
          <p:nvSpPr>
            <p:cNvPr name="TextBox 19" id="19"/>
            <p:cNvSpPr txBox="true"/>
            <p:nvPr/>
          </p:nvSpPr>
          <p:spPr>
            <a:xfrm>
              <a:off x="0" y="-38100"/>
              <a:ext cx="10991088" cy="716280"/>
            </a:xfrm>
            <a:prstGeom prst="rect">
              <a:avLst/>
            </a:prstGeom>
          </p:spPr>
          <p:txBody>
            <a:bodyPr anchor="ctr" rtlCol="false" tIns="0" lIns="0" bIns="0" rIns="0"/>
            <a:lstStyle/>
            <a:p>
              <a:pPr algn="l">
                <a:lnSpc>
                  <a:spcPts val="2070"/>
                </a:lnSpc>
              </a:pPr>
              <a:r>
                <a:rPr lang="en-US" sz="1725" i="true">
                  <a:solidFill>
                    <a:srgbClr val="6E7B96"/>
                  </a:solidFill>
                  <a:latin typeface="Calibri (MS) Italics"/>
                  <a:ea typeface="Calibri (MS) Italics"/>
                  <a:cs typeface="Calibri (MS) Italics"/>
                  <a:sym typeface="Calibri (MS) Italics"/>
                </a:rPr>
                <a:t>Applicant details — top of form</a:t>
              </a:r>
            </a:p>
          </p:txBody>
        </p:sp>
      </p:grpSp>
      <p:sp>
        <p:nvSpPr>
          <p:cNvPr name="Freeform 20" id="20"/>
          <p:cNvSpPr/>
          <p:nvPr/>
        </p:nvSpPr>
        <p:spPr>
          <a:xfrm flipH="false" flipV="false" rot="0">
            <a:off x="9461087" y="2520791"/>
            <a:ext cx="8276654" cy="4509516"/>
          </a:xfrm>
          <a:custGeom>
            <a:avLst/>
            <a:gdLst/>
            <a:ahLst/>
            <a:cxnLst/>
            <a:rect r="r" b="b" t="t" l="l"/>
            <a:pathLst>
              <a:path h="4509516" w="8276654">
                <a:moveTo>
                  <a:pt x="0" y="0"/>
                </a:moveTo>
                <a:lnTo>
                  <a:pt x="8276654" y="0"/>
                </a:lnTo>
                <a:lnTo>
                  <a:pt x="8276654" y="4509516"/>
                </a:lnTo>
                <a:lnTo>
                  <a:pt x="0" y="4509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9587484" y="2647188"/>
            <a:ext cx="8023860" cy="4256722"/>
            <a:chOff x="0" y="0"/>
            <a:chExt cx="10698480" cy="5675630"/>
          </a:xfrm>
        </p:grpSpPr>
        <p:sp>
          <p:nvSpPr>
            <p:cNvPr name="Freeform 22" id="22" descr="/home/claude/shot2.jpg"/>
            <p:cNvSpPr/>
            <p:nvPr/>
          </p:nvSpPr>
          <p:spPr>
            <a:xfrm flipH="false" flipV="false" rot="0">
              <a:off x="0" y="0"/>
              <a:ext cx="10698480" cy="5675630"/>
            </a:xfrm>
            <a:custGeom>
              <a:avLst/>
              <a:gdLst/>
              <a:ahLst/>
              <a:cxnLst/>
              <a:rect r="r" b="b" t="t" l="l"/>
              <a:pathLst>
                <a:path h="5675630" w="10698480">
                  <a:moveTo>
                    <a:pt x="0" y="0"/>
                  </a:moveTo>
                  <a:lnTo>
                    <a:pt x="10698480" y="0"/>
                  </a:lnTo>
                  <a:lnTo>
                    <a:pt x="10698480" y="5675630"/>
                  </a:lnTo>
                  <a:lnTo>
                    <a:pt x="0" y="5675630"/>
                  </a:lnTo>
                  <a:lnTo>
                    <a:pt x="0" y="0"/>
                  </a:lnTo>
                  <a:close/>
                </a:path>
              </a:pathLst>
            </a:custGeom>
            <a:blipFill>
              <a:blip r:embed="rId8"/>
              <a:stretch>
                <a:fillRect l="-324" t="0" r="-324" b="0"/>
              </a:stretch>
            </a:blipFill>
          </p:spPr>
        </p:sp>
      </p:grpSp>
      <p:grpSp>
        <p:nvGrpSpPr>
          <p:cNvPr name="Group 23" id="23"/>
          <p:cNvGrpSpPr/>
          <p:nvPr/>
        </p:nvGrpSpPr>
        <p:grpSpPr>
          <a:xfrm rot="0">
            <a:off x="9477756" y="7137054"/>
            <a:ext cx="8243316" cy="480060"/>
            <a:chOff x="0" y="0"/>
            <a:chExt cx="10991088" cy="640080"/>
          </a:xfrm>
        </p:grpSpPr>
        <p:sp>
          <p:nvSpPr>
            <p:cNvPr name="Freeform 24" id="24"/>
            <p:cNvSpPr/>
            <p:nvPr/>
          </p:nvSpPr>
          <p:spPr>
            <a:xfrm flipH="false" flipV="false" rot="0">
              <a:off x="0" y="0"/>
              <a:ext cx="10991088" cy="640080"/>
            </a:xfrm>
            <a:custGeom>
              <a:avLst/>
              <a:gdLst/>
              <a:ahLst/>
              <a:cxnLst/>
              <a:rect r="r" b="b" t="t" l="l"/>
              <a:pathLst>
                <a:path h="640080" w="10991088">
                  <a:moveTo>
                    <a:pt x="0" y="0"/>
                  </a:moveTo>
                  <a:lnTo>
                    <a:pt x="10991088" y="0"/>
                  </a:lnTo>
                  <a:lnTo>
                    <a:pt x="10991088" y="640080"/>
                  </a:lnTo>
                  <a:lnTo>
                    <a:pt x="0" y="640080"/>
                  </a:lnTo>
                  <a:close/>
                </a:path>
              </a:pathLst>
            </a:custGeom>
            <a:blipFill>
              <a:blip r:embed="rId3">
                <a:alphaModFix amt="0"/>
              </a:blip>
              <a:stretch>
                <a:fillRect l="0" t="-284353" r="0" b="-284353"/>
              </a:stretch>
            </a:blipFill>
          </p:spPr>
        </p:sp>
      </p:grpSp>
      <p:grpSp>
        <p:nvGrpSpPr>
          <p:cNvPr name="Group 25" id="25"/>
          <p:cNvGrpSpPr/>
          <p:nvPr/>
        </p:nvGrpSpPr>
        <p:grpSpPr>
          <a:xfrm rot="0">
            <a:off x="9477756" y="7108479"/>
            <a:ext cx="8243316" cy="508635"/>
            <a:chOff x="0" y="0"/>
            <a:chExt cx="10991088" cy="678180"/>
          </a:xfrm>
        </p:grpSpPr>
        <p:sp>
          <p:nvSpPr>
            <p:cNvPr name="Freeform 26" id="26"/>
            <p:cNvSpPr/>
            <p:nvPr/>
          </p:nvSpPr>
          <p:spPr>
            <a:xfrm flipH="false" flipV="false" rot="0">
              <a:off x="0" y="0"/>
              <a:ext cx="10991088" cy="678180"/>
            </a:xfrm>
            <a:custGeom>
              <a:avLst/>
              <a:gdLst/>
              <a:ahLst/>
              <a:cxnLst/>
              <a:rect r="r" b="b" t="t" l="l"/>
              <a:pathLst>
                <a:path h="678180" w="10991088">
                  <a:moveTo>
                    <a:pt x="0" y="0"/>
                  </a:moveTo>
                  <a:lnTo>
                    <a:pt x="10991088" y="0"/>
                  </a:lnTo>
                  <a:lnTo>
                    <a:pt x="10991088" y="678180"/>
                  </a:lnTo>
                  <a:lnTo>
                    <a:pt x="0" y="678180"/>
                  </a:lnTo>
                  <a:close/>
                </a:path>
              </a:pathLst>
            </a:custGeom>
            <a:blipFill>
              <a:blip r:embed="rId4">
                <a:alphaModFix amt="0"/>
              </a:blip>
              <a:stretch>
                <a:fillRect l="0" t="-265788" r="0" b="-265788"/>
              </a:stretch>
            </a:blipFill>
          </p:spPr>
        </p:sp>
        <p:sp>
          <p:nvSpPr>
            <p:cNvPr name="TextBox 27" id="27"/>
            <p:cNvSpPr txBox="true"/>
            <p:nvPr/>
          </p:nvSpPr>
          <p:spPr>
            <a:xfrm>
              <a:off x="0" y="-38100"/>
              <a:ext cx="10991088" cy="716280"/>
            </a:xfrm>
            <a:prstGeom prst="rect">
              <a:avLst/>
            </a:prstGeom>
          </p:spPr>
          <p:txBody>
            <a:bodyPr anchor="ctr" rtlCol="false" tIns="0" lIns="0" bIns="0" rIns="0"/>
            <a:lstStyle/>
            <a:p>
              <a:pPr algn="l">
                <a:lnSpc>
                  <a:spcPts val="2070"/>
                </a:lnSpc>
              </a:pPr>
              <a:r>
                <a:rPr lang="en-US" sz="1725" i="true">
                  <a:solidFill>
                    <a:srgbClr val="6E7B96"/>
                  </a:solidFill>
                  <a:latin typeface="Calibri (MS) Italics"/>
                  <a:ea typeface="Calibri (MS) Italics"/>
                  <a:cs typeface="Calibri (MS) Italics"/>
                  <a:sym typeface="Calibri (MS) Italics"/>
                </a:rPr>
                <a:t>Remaining fields + Check Loan Eligibility button</a:t>
              </a:r>
            </a:p>
          </p:txBody>
        </p:sp>
      </p:grpSp>
      <p:grpSp>
        <p:nvGrpSpPr>
          <p:cNvPr name="Group 28" id="28"/>
          <p:cNvGrpSpPr/>
          <p:nvPr/>
        </p:nvGrpSpPr>
        <p:grpSpPr>
          <a:xfrm rot="0">
            <a:off x="754380" y="7685694"/>
            <a:ext cx="17007840" cy="685800"/>
            <a:chOff x="0" y="0"/>
            <a:chExt cx="22677120" cy="914400"/>
          </a:xfrm>
        </p:grpSpPr>
        <p:sp>
          <p:nvSpPr>
            <p:cNvPr name="Freeform 29" id="29"/>
            <p:cNvSpPr/>
            <p:nvPr/>
          </p:nvSpPr>
          <p:spPr>
            <a:xfrm flipH="false" flipV="false" rot="0">
              <a:off x="0" y="0"/>
              <a:ext cx="22677120" cy="914400"/>
            </a:xfrm>
            <a:custGeom>
              <a:avLst/>
              <a:gdLst/>
              <a:ahLst/>
              <a:cxnLst/>
              <a:rect r="r" b="b" t="t" l="l"/>
              <a:pathLst>
                <a:path h="914400" w="22677120">
                  <a:moveTo>
                    <a:pt x="0" y="0"/>
                  </a:moveTo>
                  <a:lnTo>
                    <a:pt x="22677120" y="0"/>
                  </a:lnTo>
                  <a:lnTo>
                    <a:pt x="22677120" y="914400"/>
                  </a:lnTo>
                  <a:lnTo>
                    <a:pt x="0" y="914400"/>
                  </a:lnTo>
                  <a:close/>
                </a:path>
              </a:pathLst>
            </a:custGeom>
            <a:blipFill>
              <a:blip r:embed="rId3">
                <a:alphaModFix amt="0"/>
              </a:blip>
              <a:stretch>
                <a:fillRect l="0" t="-432893" r="0" b="-432893"/>
              </a:stretch>
            </a:blipFill>
          </p:spPr>
        </p:sp>
      </p:grpSp>
      <p:grpSp>
        <p:nvGrpSpPr>
          <p:cNvPr name="Group 30" id="30"/>
          <p:cNvGrpSpPr/>
          <p:nvPr/>
        </p:nvGrpSpPr>
        <p:grpSpPr>
          <a:xfrm rot="0">
            <a:off x="754380" y="7657119"/>
            <a:ext cx="17007840" cy="714375"/>
            <a:chOff x="0" y="0"/>
            <a:chExt cx="22677120" cy="952500"/>
          </a:xfrm>
        </p:grpSpPr>
        <p:sp>
          <p:nvSpPr>
            <p:cNvPr name="Freeform 31" id="31"/>
            <p:cNvSpPr/>
            <p:nvPr/>
          </p:nvSpPr>
          <p:spPr>
            <a:xfrm flipH="false" flipV="false" rot="0">
              <a:off x="0" y="0"/>
              <a:ext cx="22677120" cy="952500"/>
            </a:xfrm>
            <a:custGeom>
              <a:avLst/>
              <a:gdLst/>
              <a:ahLst/>
              <a:cxnLst/>
              <a:rect r="r" b="b" t="t" l="l"/>
              <a:pathLst>
                <a:path h="952500" w="22677120">
                  <a:moveTo>
                    <a:pt x="0" y="0"/>
                  </a:moveTo>
                  <a:lnTo>
                    <a:pt x="22677120" y="0"/>
                  </a:lnTo>
                  <a:lnTo>
                    <a:pt x="22677120" y="952500"/>
                  </a:lnTo>
                  <a:lnTo>
                    <a:pt x="0" y="952500"/>
                  </a:lnTo>
                  <a:close/>
                </a:path>
              </a:pathLst>
            </a:custGeom>
            <a:blipFill>
              <a:blip r:embed="rId4">
                <a:alphaModFix amt="0"/>
              </a:blip>
              <a:stretch>
                <a:fillRect l="0" t="-413899" r="0" b="-413899"/>
              </a:stretch>
            </a:blipFill>
          </p:spPr>
        </p:sp>
        <p:sp>
          <p:nvSpPr>
            <p:cNvPr name="TextBox 32" id="32"/>
            <p:cNvSpPr txBox="true"/>
            <p:nvPr/>
          </p:nvSpPr>
          <p:spPr>
            <a:xfrm>
              <a:off x="0" y="-38100"/>
              <a:ext cx="22677120" cy="990600"/>
            </a:xfrm>
            <a:prstGeom prst="rect">
              <a:avLst/>
            </a:prstGeom>
          </p:spPr>
          <p:txBody>
            <a:bodyPr anchor="ctr" rtlCol="false" tIns="0" lIns="0" bIns="0" rIns="0"/>
            <a:lstStyle/>
            <a:p>
              <a:pPr algn="l">
                <a:lnSpc>
                  <a:spcPts val="2250"/>
                </a:lnSpc>
              </a:pPr>
              <a:r>
                <a:rPr lang="en-US" sz="1875">
                  <a:solidFill>
                    <a:srgbClr val="44506B"/>
                  </a:solidFill>
                  <a:latin typeface="Calibri (MS)"/>
                  <a:ea typeface="Calibri (MS)"/>
                  <a:cs typeface="Calibri (MS)"/>
                  <a:sym typeface="Calibri (MS)"/>
                </a:rPr>
                <a:t>Running locally at localhost:8501 — Streamlit form lets users select applicant details via dropdowns and steppers for each of the 11 input features.</a:t>
              </a:r>
            </a:p>
          </p:txBody>
        </p:sp>
      </p:grpSp>
      <p:grpSp>
        <p:nvGrpSpPr>
          <p:cNvPr name="Group 33" id="33"/>
          <p:cNvGrpSpPr/>
          <p:nvPr/>
        </p:nvGrpSpPr>
        <p:grpSpPr>
          <a:xfrm rot="0">
            <a:off x="685800" y="9738360"/>
            <a:ext cx="8229600" cy="411480"/>
            <a:chOff x="0" y="0"/>
            <a:chExt cx="10972800" cy="548640"/>
          </a:xfrm>
        </p:grpSpPr>
        <p:sp>
          <p:nvSpPr>
            <p:cNvPr name="Freeform 34" id="34"/>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35" id="35"/>
          <p:cNvGrpSpPr/>
          <p:nvPr/>
        </p:nvGrpSpPr>
        <p:grpSpPr>
          <a:xfrm rot="0">
            <a:off x="685800" y="9716929"/>
            <a:ext cx="8229600" cy="432911"/>
            <a:chOff x="0" y="0"/>
            <a:chExt cx="10972800" cy="577215"/>
          </a:xfrm>
        </p:grpSpPr>
        <p:sp>
          <p:nvSpPr>
            <p:cNvPr name="Freeform 36" id="36"/>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37" id="37"/>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38" id="38"/>
          <p:cNvGrpSpPr/>
          <p:nvPr/>
        </p:nvGrpSpPr>
        <p:grpSpPr>
          <a:xfrm rot="0">
            <a:off x="16870680" y="9738360"/>
            <a:ext cx="685800" cy="411480"/>
            <a:chOff x="0" y="0"/>
            <a:chExt cx="914400" cy="548640"/>
          </a:xfrm>
        </p:grpSpPr>
        <p:sp>
          <p:nvSpPr>
            <p:cNvPr name="Freeform 39" id="3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40" id="40"/>
          <p:cNvGrpSpPr/>
          <p:nvPr/>
        </p:nvGrpSpPr>
        <p:grpSpPr>
          <a:xfrm rot="0">
            <a:off x="16870680" y="9716929"/>
            <a:ext cx="685800" cy="432911"/>
            <a:chOff x="0" y="0"/>
            <a:chExt cx="914400" cy="577215"/>
          </a:xfrm>
        </p:grpSpPr>
        <p:sp>
          <p:nvSpPr>
            <p:cNvPr name="Freeform 41" id="41"/>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42" id="42"/>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IMPLEMENTATION</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Live Demo — Prediction Result</a:t>
              </a:r>
            </a:p>
          </p:txBody>
        </p:sp>
      </p:grpSp>
      <p:sp>
        <p:nvSpPr>
          <p:cNvPr name="Freeform 12" id="12"/>
          <p:cNvSpPr/>
          <p:nvPr/>
        </p:nvSpPr>
        <p:spPr>
          <a:xfrm flipH="false" flipV="false" rot="0">
            <a:off x="737711" y="2520791"/>
            <a:ext cx="8276654" cy="4509516"/>
          </a:xfrm>
          <a:custGeom>
            <a:avLst/>
            <a:gdLst/>
            <a:ahLst/>
            <a:cxnLst/>
            <a:rect r="r" b="b" t="t" l="l"/>
            <a:pathLst>
              <a:path h="4509516" w="8276654">
                <a:moveTo>
                  <a:pt x="0" y="0"/>
                </a:moveTo>
                <a:lnTo>
                  <a:pt x="8276654" y="0"/>
                </a:lnTo>
                <a:lnTo>
                  <a:pt x="8276654" y="4509516"/>
                </a:lnTo>
                <a:lnTo>
                  <a:pt x="0" y="4509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864108" y="2647188"/>
            <a:ext cx="8023860" cy="4256722"/>
            <a:chOff x="0" y="0"/>
            <a:chExt cx="10698480" cy="5675630"/>
          </a:xfrm>
        </p:grpSpPr>
        <p:sp>
          <p:nvSpPr>
            <p:cNvPr name="Freeform 14" id="14" descr="/home/claude/shot3.jpg"/>
            <p:cNvSpPr/>
            <p:nvPr/>
          </p:nvSpPr>
          <p:spPr>
            <a:xfrm flipH="false" flipV="false" rot="0">
              <a:off x="0" y="0"/>
              <a:ext cx="10698480" cy="5675630"/>
            </a:xfrm>
            <a:custGeom>
              <a:avLst/>
              <a:gdLst/>
              <a:ahLst/>
              <a:cxnLst/>
              <a:rect r="r" b="b" t="t" l="l"/>
              <a:pathLst>
                <a:path h="5675630" w="10698480">
                  <a:moveTo>
                    <a:pt x="0" y="0"/>
                  </a:moveTo>
                  <a:lnTo>
                    <a:pt x="10698480" y="0"/>
                  </a:lnTo>
                  <a:lnTo>
                    <a:pt x="10698480" y="5675630"/>
                  </a:lnTo>
                  <a:lnTo>
                    <a:pt x="0" y="5675630"/>
                  </a:lnTo>
                  <a:lnTo>
                    <a:pt x="0" y="0"/>
                  </a:lnTo>
                  <a:close/>
                </a:path>
              </a:pathLst>
            </a:custGeom>
            <a:blipFill>
              <a:blip r:embed="rId7"/>
              <a:stretch>
                <a:fillRect l="0" t="-18" r="0" b="-18"/>
              </a:stretch>
            </a:blipFill>
          </p:spPr>
        </p:sp>
      </p:grpSp>
      <p:grpSp>
        <p:nvGrpSpPr>
          <p:cNvPr name="Group 15" id="15"/>
          <p:cNvGrpSpPr/>
          <p:nvPr/>
        </p:nvGrpSpPr>
        <p:grpSpPr>
          <a:xfrm rot="0">
            <a:off x="754380" y="7137054"/>
            <a:ext cx="8243316" cy="480060"/>
            <a:chOff x="0" y="0"/>
            <a:chExt cx="10991088" cy="640080"/>
          </a:xfrm>
        </p:grpSpPr>
        <p:sp>
          <p:nvSpPr>
            <p:cNvPr name="Freeform 16" id="16"/>
            <p:cNvSpPr/>
            <p:nvPr/>
          </p:nvSpPr>
          <p:spPr>
            <a:xfrm flipH="false" flipV="false" rot="0">
              <a:off x="0" y="0"/>
              <a:ext cx="10991088" cy="640080"/>
            </a:xfrm>
            <a:custGeom>
              <a:avLst/>
              <a:gdLst/>
              <a:ahLst/>
              <a:cxnLst/>
              <a:rect r="r" b="b" t="t" l="l"/>
              <a:pathLst>
                <a:path h="640080" w="10991088">
                  <a:moveTo>
                    <a:pt x="0" y="0"/>
                  </a:moveTo>
                  <a:lnTo>
                    <a:pt x="10991088" y="0"/>
                  </a:lnTo>
                  <a:lnTo>
                    <a:pt x="10991088" y="640080"/>
                  </a:lnTo>
                  <a:lnTo>
                    <a:pt x="0" y="640080"/>
                  </a:lnTo>
                  <a:close/>
                </a:path>
              </a:pathLst>
            </a:custGeom>
            <a:blipFill>
              <a:blip r:embed="rId3">
                <a:alphaModFix amt="0"/>
              </a:blip>
              <a:stretch>
                <a:fillRect l="0" t="-284353" r="0" b="-284353"/>
              </a:stretch>
            </a:blipFill>
          </p:spPr>
        </p:sp>
      </p:grpSp>
      <p:grpSp>
        <p:nvGrpSpPr>
          <p:cNvPr name="Group 17" id="17"/>
          <p:cNvGrpSpPr/>
          <p:nvPr/>
        </p:nvGrpSpPr>
        <p:grpSpPr>
          <a:xfrm rot="0">
            <a:off x="754380" y="7108479"/>
            <a:ext cx="8243316" cy="508635"/>
            <a:chOff x="0" y="0"/>
            <a:chExt cx="10991088" cy="678180"/>
          </a:xfrm>
        </p:grpSpPr>
        <p:sp>
          <p:nvSpPr>
            <p:cNvPr name="Freeform 18" id="18"/>
            <p:cNvSpPr/>
            <p:nvPr/>
          </p:nvSpPr>
          <p:spPr>
            <a:xfrm flipH="false" flipV="false" rot="0">
              <a:off x="0" y="0"/>
              <a:ext cx="10991088" cy="678180"/>
            </a:xfrm>
            <a:custGeom>
              <a:avLst/>
              <a:gdLst/>
              <a:ahLst/>
              <a:cxnLst/>
              <a:rect r="r" b="b" t="t" l="l"/>
              <a:pathLst>
                <a:path h="678180" w="10991088">
                  <a:moveTo>
                    <a:pt x="0" y="0"/>
                  </a:moveTo>
                  <a:lnTo>
                    <a:pt x="10991088" y="0"/>
                  </a:lnTo>
                  <a:lnTo>
                    <a:pt x="10991088" y="678180"/>
                  </a:lnTo>
                  <a:lnTo>
                    <a:pt x="0" y="678180"/>
                  </a:lnTo>
                  <a:close/>
                </a:path>
              </a:pathLst>
            </a:custGeom>
            <a:blipFill>
              <a:blip r:embed="rId4">
                <a:alphaModFix amt="0"/>
              </a:blip>
              <a:stretch>
                <a:fillRect l="0" t="-265788" r="0" b="-265788"/>
              </a:stretch>
            </a:blipFill>
          </p:spPr>
        </p:sp>
        <p:sp>
          <p:nvSpPr>
            <p:cNvPr name="TextBox 19" id="19"/>
            <p:cNvSpPr txBox="true"/>
            <p:nvPr/>
          </p:nvSpPr>
          <p:spPr>
            <a:xfrm>
              <a:off x="0" y="-38100"/>
              <a:ext cx="10991088" cy="716280"/>
            </a:xfrm>
            <a:prstGeom prst="rect">
              <a:avLst/>
            </a:prstGeom>
          </p:spPr>
          <p:txBody>
            <a:bodyPr anchor="ctr" rtlCol="false" tIns="0" lIns="0" bIns="0" rIns="0"/>
            <a:lstStyle/>
            <a:p>
              <a:pPr algn="l">
                <a:lnSpc>
                  <a:spcPts val="2070"/>
                </a:lnSpc>
              </a:pPr>
              <a:r>
                <a:rPr lang="en-US" sz="1725" i="true">
                  <a:solidFill>
                    <a:srgbClr val="6E7B96"/>
                  </a:solidFill>
                  <a:latin typeface="Calibri (MS) Italics"/>
                  <a:ea typeface="Calibri (MS) Italics"/>
                  <a:cs typeface="Calibri (MS) Italics"/>
                  <a:sym typeface="Calibri (MS) Italics"/>
                </a:rPr>
                <a:t>Completed form — all 11 fields filled in</a:t>
              </a:r>
            </a:p>
          </p:txBody>
        </p:sp>
      </p:grpSp>
      <p:sp>
        <p:nvSpPr>
          <p:cNvPr name="Freeform 20" id="20"/>
          <p:cNvSpPr/>
          <p:nvPr/>
        </p:nvSpPr>
        <p:spPr>
          <a:xfrm flipH="false" flipV="false" rot="0">
            <a:off x="9461087" y="2520791"/>
            <a:ext cx="8276654" cy="4509516"/>
          </a:xfrm>
          <a:custGeom>
            <a:avLst/>
            <a:gdLst/>
            <a:ahLst/>
            <a:cxnLst/>
            <a:rect r="r" b="b" t="t" l="l"/>
            <a:pathLst>
              <a:path h="4509516" w="8276654">
                <a:moveTo>
                  <a:pt x="0" y="0"/>
                </a:moveTo>
                <a:lnTo>
                  <a:pt x="8276654" y="0"/>
                </a:lnTo>
                <a:lnTo>
                  <a:pt x="8276654" y="4509516"/>
                </a:lnTo>
                <a:lnTo>
                  <a:pt x="0" y="4509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9587484" y="2647188"/>
            <a:ext cx="8023860" cy="4256722"/>
            <a:chOff x="0" y="0"/>
            <a:chExt cx="10698480" cy="5675630"/>
          </a:xfrm>
        </p:grpSpPr>
        <p:sp>
          <p:nvSpPr>
            <p:cNvPr name="Freeform 22" id="22" descr="/home/claude/shot4.jpg"/>
            <p:cNvSpPr/>
            <p:nvPr/>
          </p:nvSpPr>
          <p:spPr>
            <a:xfrm flipH="false" flipV="false" rot="0">
              <a:off x="0" y="0"/>
              <a:ext cx="10698480" cy="5675630"/>
            </a:xfrm>
            <a:custGeom>
              <a:avLst/>
              <a:gdLst/>
              <a:ahLst/>
              <a:cxnLst/>
              <a:rect r="r" b="b" t="t" l="l"/>
              <a:pathLst>
                <a:path h="5675630" w="10698480">
                  <a:moveTo>
                    <a:pt x="0" y="0"/>
                  </a:moveTo>
                  <a:lnTo>
                    <a:pt x="10698480" y="0"/>
                  </a:lnTo>
                  <a:lnTo>
                    <a:pt x="10698480" y="5675630"/>
                  </a:lnTo>
                  <a:lnTo>
                    <a:pt x="0" y="5675630"/>
                  </a:lnTo>
                  <a:lnTo>
                    <a:pt x="0" y="0"/>
                  </a:lnTo>
                  <a:close/>
                </a:path>
              </a:pathLst>
            </a:custGeom>
            <a:blipFill>
              <a:blip r:embed="rId8"/>
              <a:stretch>
                <a:fillRect l="-801" t="0" r="-801" b="0"/>
              </a:stretch>
            </a:blipFill>
          </p:spPr>
        </p:sp>
      </p:grpSp>
      <p:grpSp>
        <p:nvGrpSpPr>
          <p:cNvPr name="Group 23" id="23"/>
          <p:cNvGrpSpPr/>
          <p:nvPr/>
        </p:nvGrpSpPr>
        <p:grpSpPr>
          <a:xfrm rot="0">
            <a:off x="9477756" y="7137054"/>
            <a:ext cx="8243316" cy="480060"/>
            <a:chOff x="0" y="0"/>
            <a:chExt cx="10991088" cy="640080"/>
          </a:xfrm>
        </p:grpSpPr>
        <p:sp>
          <p:nvSpPr>
            <p:cNvPr name="Freeform 24" id="24"/>
            <p:cNvSpPr/>
            <p:nvPr/>
          </p:nvSpPr>
          <p:spPr>
            <a:xfrm flipH="false" flipV="false" rot="0">
              <a:off x="0" y="0"/>
              <a:ext cx="10991088" cy="640080"/>
            </a:xfrm>
            <a:custGeom>
              <a:avLst/>
              <a:gdLst/>
              <a:ahLst/>
              <a:cxnLst/>
              <a:rect r="r" b="b" t="t" l="l"/>
              <a:pathLst>
                <a:path h="640080" w="10991088">
                  <a:moveTo>
                    <a:pt x="0" y="0"/>
                  </a:moveTo>
                  <a:lnTo>
                    <a:pt x="10991088" y="0"/>
                  </a:lnTo>
                  <a:lnTo>
                    <a:pt x="10991088" y="640080"/>
                  </a:lnTo>
                  <a:lnTo>
                    <a:pt x="0" y="640080"/>
                  </a:lnTo>
                  <a:close/>
                </a:path>
              </a:pathLst>
            </a:custGeom>
            <a:blipFill>
              <a:blip r:embed="rId3">
                <a:alphaModFix amt="0"/>
              </a:blip>
              <a:stretch>
                <a:fillRect l="0" t="-284353" r="0" b="-284353"/>
              </a:stretch>
            </a:blipFill>
          </p:spPr>
        </p:sp>
      </p:grpSp>
      <p:grpSp>
        <p:nvGrpSpPr>
          <p:cNvPr name="Group 25" id="25"/>
          <p:cNvGrpSpPr/>
          <p:nvPr/>
        </p:nvGrpSpPr>
        <p:grpSpPr>
          <a:xfrm rot="0">
            <a:off x="9477756" y="7108479"/>
            <a:ext cx="8243316" cy="508635"/>
            <a:chOff x="0" y="0"/>
            <a:chExt cx="10991088" cy="678180"/>
          </a:xfrm>
        </p:grpSpPr>
        <p:sp>
          <p:nvSpPr>
            <p:cNvPr name="Freeform 26" id="26"/>
            <p:cNvSpPr/>
            <p:nvPr/>
          </p:nvSpPr>
          <p:spPr>
            <a:xfrm flipH="false" flipV="false" rot="0">
              <a:off x="0" y="0"/>
              <a:ext cx="10991088" cy="678180"/>
            </a:xfrm>
            <a:custGeom>
              <a:avLst/>
              <a:gdLst/>
              <a:ahLst/>
              <a:cxnLst/>
              <a:rect r="r" b="b" t="t" l="l"/>
              <a:pathLst>
                <a:path h="678180" w="10991088">
                  <a:moveTo>
                    <a:pt x="0" y="0"/>
                  </a:moveTo>
                  <a:lnTo>
                    <a:pt x="10991088" y="0"/>
                  </a:lnTo>
                  <a:lnTo>
                    <a:pt x="10991088" y="678180"/>
                  </a:lnTo>
                  <a:lnTo>
                    <a:pt x="0" y="678180"/>
                  </a:lnTo>
                  <a:close/>
                </a:path>
              </a:pathLst>
            </a:custGeom>
            <a:blipFill>
              <a:blip r:embed="rId4">
                <a:alphaModFix amt="0"/>
              </a:blip>
              <a:stretch>
                <a:fillRect l="0" t="-265788" r="0" b="-265788"/>
              </a:stretch>
            </a:blipFill>
          </p:spPr>
        </p:sp>
        <p:sp>
          <p:nvSpPr>
            <p:cNvPr name="TextBox 27" id="27"/>
            <p:cNvSpPr txBox="true"/>
            <p:nvPr/>
          </p:nvSpPr>
          <p:spPr>
            <a:xfrm>
              <a:off x="0" y="-38100"/>
              <a:ext cx="10991088" cy="716280"/>
            </a:xfrm>
            <a:prstGeom prst="rect">
              <a:avLst/>
            </a:prstGeom>
          </p:spPr>
          <p:txBody>
            <a:bodyPr anchor="ctr" rtlCol="false" tIns="0" lIns="0" bIns="0" rIns="0"/>
            <a:lstStyle/>
            <a:p>
              <a:pPr algn="l">
                <a:lnSpc>
                  <a:spcPts val="2070"/>
                </a:lnSpc>
              </a:pPr>
              <a:r>
                <a:rPr lang="en-US" sz="1725" i="true">
                  <a:solidFill>
                    <a:srgbClr val="6E7B96"/>
                  </a:solidFill>
                  <a:latin typeface="Calibri (MS) Italics"/>
                  <a:ea typeface="Calibri (MS) Italics"/>
                  <a:cs typeface="Calibri (MS) Italics"/>
                  <a:sym typeface="Calibri (MS) Italics"/>
                </a:rPr>
                <a:t>Prediction output — Approved, 89.7% confidence</a:t>
              </a:r>
            </a:p>
          </p:txBody>
        </p:sp>
      </p:grpSp>
      <p:grpSp>
        <p:nvGrpSpPr>
          <p:cNvPr name="Group 28" id="28"/>
          <p:cNvGrpSpPr/>
          <p:nvPr/>
        </p:nvGrpSpPr>
        <p:grpSpPr>
          <a:xfrm rot="0">
            <a:off x="754380" y="7685694"/>
            <a:ext cx="17007840" cy="685800"/>
            <a:chOff x="0" y="0"/>
            <a:chExt cx="22677120" cy="914400"/>
          </a:xfrm>
        </p:grpSpPr>
        <p:sp>
          <p:nvSpPr>
            <p:cNvPr name="Freeform 29" id="29"/>
            <p:cNvSpPr/>
            <p:nvPr/>
          </p:nvSpPr>
          <p:spPr>
            <a:xfrm flipH="false" flipV="false" rot="0">
              <a:off x="0" y="0"/>
              <a:ext cx="22677120" cy="914400"/>
            </a:xfrm>
            <a:custGeom>
              <a:avLst/>
              <a:gdLst/>
              <a:ahLst/>
              <a:cxnLst/>
              <a:rect r="r" b="b" t="t" l="l"/>
              <a:pathLst>
                <a:path h="914400" w="22677120">
                  <a:moveTo>
                    <a:pt x="0" y="0"/>
                  </a:moveTo>
                  <a:lnTo>
                    <a:pt x="22677120" y="0"/>
                  </a:lnTo>
                  <a:lnTo>
                    <a:pt x="22677120" y="914400"/>
                  </a:lnTo>
                  <a:lnTo>
                    <a:pt x="0" y="914400"/>
                  </a:lnTo>
                  <a:close/>
                </a:path>
              </a:pathLst>
            </a:custGeom>
            <a:blipFill>
              <a:blip r:embed="rId3">
                <a:alphaModFix amt="0"/>
              </a:blip>
              <a:stretch>
                <a:fillRect l="0" t="-432893" r="0" b="-432893"/>
              </a:stretch>
            </a:blipFill>
          </p:spPr>
        </p:sp>
      </p:grpSp>
      <p:grpSp>
        <p:nvGrpSpPr>
          <p:cNvPr name="Group 30" id="30"/>
          <p:cNvGrpSpPr/>
          <p:nvPr/>
        </p:nvGrpSpPr>
        <p:grpSpPr>
          <a:xfrm rot="0">
            <a:off x="754380" y="7657119"/>
            <a:ext cx="17007840" cy="714375"/>
            <a:chOff x="0" y="0"/>
            <a:chExt cx="22677120" cy="952500"/>
          </a:xfrm>
        </p:grpSpPr>
        <p:sp>
          <p:nvSpPr>
            <p:cNvPr name="Freeform 31" id="31"/>
            <p:cNvSpPr/>
            <p:nvPr/>
          </p:nvSpPr>
          <p:spPr>
            <a:xfrm flipH="false" flipV="false" rot="0">
              <a:off x="0" y="0"/>
              <a:ext cx="22677120" cy="952500"/>
            </a:xfrm>
            <a:custGeom>
              <a:avLst/>
              <a:gdLst/>
              <a:ahLst/>
              <a:cxnLst/>
              <a:rect r="r" b="b" t="t" l="l"/>
              <a:pathLst>
                <a:path h="952500" w="22677120">
                  <a:moveTo>
                    <a:pt x="0" y="0"/>
                  </a:moveTo>
                  <a:lnTo>
                    <a:pt x="22677120" y="0"/>
                  </a:lnTo>
                  <a:lnTo>
                    <a:pt x="22677120" y="952500"/>
                  </a:lnTo>
                  <a:lnTo>
                    <a:pt x="0" y="952500"/>
                  </a:lnTo>
                  <a:close/>
                </a:path>
              </a:pathLst>
            </a:custGeom>
            <a:blipFill>
              <a:blip r:embed="rId4">
                <a:alphaModFix amt="0"/>
              </a:blip>
              <a:stretch>
                <a:fillRect l="0" t="-413899" r="0" b="-413899"/>
              </a:stretch>
            </a:blipFill>
          </p:spPr>
        </p:sp>
        <p:sp>
          <p:nvSpPr>
            <p:cNvPr name="TextBox 32" id="32"/>
            <p:cNvSpPr txBox="true"/>
            <p:nvPr/>
          </p:nvSpPr>
          <p:spPr>
            <a:xfrm>
              <a:off x="0" y="-38100"/>
              <a:ext cx="22677120" cy="990600"/>
            </a:xfrm>
            <a:prstGeom prst="rect">
              <a:avLst/>
            </a:prstGeom>
          </p:spPr>
          <p:txBody>
            <a:bodyPr anchor="ctr" rtlCol="false" tIns="0" lIns="0" bIns="0" rIns="0"/>
            <a:lstStyle/>
            <a:p>
              <a:pPr algn="l">
                <a:lnSpc>
                  <a:spcPts val="2250"/>
                </a:lnSpc>
              </a:pPr>
              <a:r>
                <a:rPr lang="en-US" sz="1875">
                  <a:solidFill>
                    <a:srgbClr val="44506B"/>
                  </a:solidFill>
                  <a:latin typeface="Calibri (MS)"/>
                  <a:ea typeface="Calibri (MS)"/>
                  <a:cs typeface="Calibri (MS)"/>
                  <a:sym typeface="Calibri (MS)"/>
                </a:rPr>
                <a:t>The model correctly leans toward approval here — strong credit history and graduate education are the two biggest positive signals from our analysis.</a:t>
              </a:r>
            </a:p>
          </p:txBody>
        </p:sp>
      </p:grpSp>
      <p:grpSp>
        <p:nvGrpSpPr>
          <p:cNvPr name="Group 33" id="33"/>
          <p:cNvGrpSpPr/>
          <p:nvPr/>
        </p:nvGrpSpPr>
        <p:grpSpPr>
          <a:xfrm rot="0">
            <a:off x="685800" y="9738360"/>
            <a:ext cx="8229600" cy="411480"/>
            <a:chOff x="0" y="0"/>
            <a:chExt cx="10972800" cy="548640"/>
          </a:xfrm>
        </p:grpSpPr>
        <p:sp>
          <p:nvSpPr>
            <p:cNvPr name="Freeform 34" id="34"/>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35" id="35"/>
          <p:cNvGrpSpPr/>
          <p:nvPr/>
        </p:nvGrpSpPr>
        <p:grpSpPr>
          <a:xfrm rot="0">
            <a:off x="685800" y="9716929"/>
            <a:ext cx="8229600" cy="432911"/>
            <a:chOff x="0" y="0"/>
            <a:chExt cx="10972800" cy="577215"/>
          </a:xfrm>
        </p:grpSpPr>
        <p:sp>
          <p:nvSpPr>
            <p:cNvPr name="Freeform 36" id="36"/>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37" id="37"/>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38" id="38"/>
          <p:cNvGrpSpPr/>
          <p:nvPr/>
        </p:nvGrpSpPr>
        <p:grpSpPr>
          <a:xfrm rot="0">
            <a:off x="16870680" y="9738360"/>
            <a:ext cx="685800" cy="411480"/>
            <a:chOff x="0" y="0"/>
            <a:chExt cx="914400" cy="548640"/>
          </a:xfrm>
        </p:grpSpPr>
        <p:sp>
          <p:nvSpPr>
            <p:cNvPr name="Freeform 39" id="3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40" id="40"/>
          <p:cNvGrpSpPr/>
          <p:nvPr/>
        </p:nvGrpSpPr>
        <p:grpSpPr>
          <a:xfrm rot="0">
            <a:off x="16870680" y="9716929"/>
            <a:ext cx="685800" cy="432911"/>
            <a:chOff x="0" y="0"/>
            <a:chExt cx="914400" cy="577215"/>
          </a:xfrm>
        </p:grpSpPr>
        <p:sp>
          <p:nvSpPr>
            <p:cNvPr name="Freeform 41" id="41"/>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42" id="42"/>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DISCUSSION</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Key Findings</a:t>
              </a:r>
            </a:p>
          </p:txBody>
        </p:sp>
      </p:grpSp>
      <p:grpSp>
        <p:nvGrpSpPr>
          <p:cNvPr name="Group 12" id="12"/>
          <p:cNvGrpSpPr/>
          <p:nvPr/>
        </p:nvGrpSpPr>
        <p:grpSpPr>
          <a:xfrm rot="0">
            <a:off x="822960" y="2674620"/>
            <a:ext cx="5349240" cy="2880360"/>
            <a:chOff x="0" y="0"/>
            <a:chExt cx="7132320" cy="3840480"/>
          </a:xfrm>
        </p:grpSpPr>
        <p:sp>
          <p:nvSpPr>
            <p:cNvPr name="Freeform 13" id="13"/>
            <p:cNvSpPr/>
            <p:nvPr/>
          </p:nvSpPr>
          <p:spPr>
            <a:xfrm flipH="false" flipV="false" rot="0">
              <a:off x="0" y="0"/>
              <a:ext cx="7132320" cy="3840480"/>
            </a:xfrm>
            <a:custGeom>
              <a:avLst/>
              <a:gdLst/>
              <a:ahLst/>
              <a:cxnLst/>
              <a:rect r="r" b="b" t="t" l="l"/>
              <a:pathLst>
                <a:path h="3840480" w="7132320">
                  <a:moveTo>
                    <a:pt x="0" y="182880"/>
                  </a:moveTo>
                  <a:cubicBezTo>
                    <a:pt x="0" y="81915"/>
                    <a:pt x="81915" y="0"/>
                    <a:pt x="182880" y="0"/>
                  </a:cubicBezTo>
                  <a:lnTo>
                    <a:pt x="6949440" y="0"/>
                  </a:lnTo>
                  <a:cubicBezTo>
                    <a:pt x="7050405" y="0"/>
                    <a:pt x="7132320" y="81915"/>
                    <a:pt x="7132320" y="182880"/>
                  </a:cubicBezTo>
                  <a:lnTo>
                    <a:pt x="7132320" y="3657600"/>
                  </a:lnTo>
                  <a:cubicBezTo>
                    <a:pt x="7132320" y="3758565"/>
                    <a:pt x="7050405" y="3840480"/>
                    <a:pt x="6949440" y="3840480"/>
                  </a:cubicBezTo>
                  <a:lnTo>
                    <a:pt x="182880" y="3840480"/>
                  </a:lnTo>
                  <a:cubicBezTo>
                    <a:pt x="81915" y="3840480"/>
                    <a:pt x="0" y="3758565"/>
                    <a:pt x="0" y="3657600"/>
                  </a:cubicBezTo>
                  <a:close/>
                </a:path>
              </a:pathLst>
            </a:custGeom>
            <a:solidFill>
              <a:srgbClr val="F7F9FC"/>
            </a:solidFill>
          </p:spPr>
        </p:sp>
      </p:grpSp>
      <p:grpSp>
        <p:nvGrpSpPr>
          <p:cNvPr name="Group 14" id="14"/>
          <p:cNvGrpSpPr/>
          <p:nvPr/>
        </p:nvGrpSpPr>
        <p:grpSpPr>
          <a:xfrm rot="0">
            <a:off x="1165860" y="2976372"/>
            <a:ext cx="576072" cy="576072"/>
            <a:chOff x="0" y="0"/>
            <a:chExt cx="768096" cy="768096"/>
          </a:xfrm>
        </p:grpSpPr>
        <p:sp>
          <p:nvSpPr>
            <p:cNvPr name="Freeform 15" id="15" descr="preencoded.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5"/>
              <a:stretch>
                <a:fillRect l="0" t="0" r="0" b="0"/>
              </a:stretch>
            </a:blipFill>
          </p:spPr>
        </p:sp>
      </p:grpSp>
      <p:grpSp>
        <p:nvGrpSpPr>
          <p:cNvPr name="Group 16" id="16"/>
          <p:cNvGrpSpPr/>
          <p:nvPr/>
        </p:nvGrpSpPr>
        <p:grpSpPr>
          <a:xfrm rot="0">
            <a:off x="1165860" y="3703320"/>
            <a:ext cx="4663440" cy="617220"/>
            <a:chOff x="0" y="0"/>
            <a:chExt cx="6217920" cy="822960"/>
          </a:xfrm>
        </p:grpSpPr>
        <p:sp>
          <p:nvSpPr>
            <p:cNvPr name="Freeform 17" id="17"/>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117" r="0" b="-97118"/>
              </a:stretch>
            </a:blipFill>
          </p:spPr>
        </p:sp>
      </p:grpSp>
      <p:grpSp>
        <p:nvGrpSpPr>
          <p:cNvPr name="Group 18" id="18"/>
          <p:cNvGrpSpPr/>
          <p:nvPr/>
        </p:nvGrpSpPr>
        <p:grpSpPr>
          <a:xfrm rot="0">
            <a:off x="1165860" y="3667601"/>
            <a:ext cx="4663440" cy="652939"/>
            <a:chOff x="0" y="0"/>
            <a:chExt cx="6217920" cy="870585"/>
          </a:xfrm>
        </p:grpSpPr>
        <p:sp>
          <p:nvSpPr>
            <p:cNvPr name="Freeform 19" id="19"/>
            <p:cNvSpPr/>
            <p:nvPr/>
          </p:nvSpPr>
          <p:spPr>
            <a:xfrm flipH="false" flipV="false" rot="0">
              <a:off x="0" y="0"/>
              <a:ext cx="6217920" cy="870585"/>
            </a:xfrm>
            <a:custGeom>
              <a:avLst/>
              <a:gdLst/>
              <a:ahLst/>
              <a:cxnLst/>
              <a:rect r="r" b="b" t="t" l="l"/>
              <a:pathLst>
                <a:path h="870585" w="6217920">
                  <a:moveTo>
                    <a:pt x="0" y="0"/>
                  </a:moveTo>
                  <a:lnTo>
                    <a:pt x="6217920" y="0"/>
                  </a:lnTo>
                  <a:lnTo>
                    <a:pt x="6217920" y="870585"/>
                  </a:lnTo>
                  <a:lnTo>
                    <a:pt x="0" y="870585"/>
                  </a:lnTo>
                  <a:close/>
                </a:path>
              </a:pathLst>
            </a:custGeom>
            <a:blipFill>
              <a:blip r:embed="rId4">
                <a:alphaModFix amt="0"/>
              </a:blip>
              <a:stretch>
                <a:fillRect l="0" t="-89166" r="0" b="-89166"/>
              </a:stretch>
            </a:blipFill>
          </p:spPr>
        </p:sp>
        <p:sp>
          <p:nvSpPr>
            <p:cNvPr name="TextBox 20" id="20"/>
            <p:cNvSpPr txBox="true"/>
            <p:nvPr/>
          </p:nvSpPr>
          <p:spPr>
            <a:xfrm>
              <a:off x="0" y="-47625"/>
              <a:ext cx="6217920" cy="91821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Credit History Dominance</a:t>
              </a:r>
            </a:p>
          </p:txBody>
        </p:sp>
      </p:grpSp>
      <p:grpSp>
        <p:nvGrpSpPr>
          <p:cNvPr name="Group 21" id="21"/>
          <p:cNvGrpSpPr/>
          <p:nvPr/>
        </p:nvGrpSpPr>
        <p:grpSpPr>
          <a:xfrm rot="0">
            <a:off x="1165860" y="4320540"/>
            <a:ext cx="4663440" cy="1165860"/>
            <a:chOff x="0" y="0"/>
            <a:chExt cx="6217920" cy="1554480"/>
          </a:xfrm>
        </p:grpSpPr>
        <p:sp>
          <p:nvSpPr>
            <p:cNvPr name="Freeform 22" id="22"/>
            <p:cNvSpPr/>
            <p:nvPr/>
          </p:nvSpPr>
          <p:spPr>
            <a:xfrm flipH="false" flipV="false" rot="0">
              <a:off x="0" y="0"/>
              <a:ext cx="6217920" cy="1554480"/>
            </a:xfrm>
            <a:custGeom>
              <a:avLst/>
              <a:gdLst/>
              <a:ahLst/>
              <a:cxnLst/>
              <a:rect r="r" b="b" t="t" l="l"/>
              <a:pathLst>
                <a:path h="1554480" w="6217920">
                  <a:moveTo>
                    <a:pt x="0" y="0"/>
                  </a:moveTo>
                  <a:lnTo>
                    <a:pt x="6217920" y="0"/>
                  </a:lnTo>
                  <a:lnTo>
                    <a:pt x="6217920" y="1554480"/>
                  </a:lnTo>
                  <a:lnTo>
                    <a:pt x="0" y="1554480"/>
                  </a:lnTo>
                  <a:close/>
                </a:path>
              </a:pathLst>
            </a:custGeom>
            <a:blipFill>
              <a:blip r:embed="rId3">
                <a:alphaModFix amt="0"/>
              </a:blip>
              <a:stretch>
                <a:fillRect l="0" t="-27885" r="0" b="-27886"/>
              </a:stretch>
            </a:blipFill>
          </p:spPr>
        </p:sp>
      </p:grpSp>
      <p:grpSp>
        <p:nvGrpSpPr>
          <p:cNvPr name="Group 23" id="23"/>
          <p:cNvGrpSpPr/>
          <p:nvPr/>
        </p:nvGrpSpPr>
        <p:grpSpPr>
          <a:xfrm rot="0">
            <a:off x="1165860" y="4291965"/>
            <a:ext cx="4663440" cy="1194435"/>
            <a:chOff x="0" y="0"/>
            <a:chExt cx="6217920" cy="1592580"/>
          </a:xfrm>
        </p:grpSpPr>
        <p:sp>
          <p:nvSpPr>
            <p:cNvPr name="Freeform 24" id="24"/>
            <p:cNvSpPr/>
            <p:nvPr/>
          </p:nvSpPr>
          <p:spPr>
            <a:xfrm flipH="false" flipV="false" rot="0">
              <a:off x="0" y="0"/>
              <a:ext cx="6217920" cy="1592580"/>
            </a:xfrm>
            <a:custGeom>
              <a:avLst/>
              <a:gdLst/>
              <a:ahLst/>
              <a:cxnLst/>
              <a:rect r="r" b="b" t="t" l="l"/>
              <a:pathLst>
                <a:path h="1592580" w="6217920">
                  <a:moveTo>
                    <a:pt x="0" y="0"/>
                  </a:moveTo>
                  <a:lnTo>
                    <a:pt x="6217920" y="0"/>
                  </a:lnTo>
                  <a:lnTo>
                    <a:pt x="6217920" y="1592580"/>
                  </a:lnTo>
                  <a:lnTo>
                    <a:pt x="0" y="1592580"/>
                  </a:lnTo>
                  <a:close/>
                </a:path>
              </a:pathLst>
            </a:custGeom>
            <a:blipFill>
              <a:blip r:embed="rId4">
                <a:alphaModFix amt="0"/>
              </a:blip>
              <a:stretch>
                <a:fillRect l="0" t="-26075" r="0" b="-26075"/>
              </a:stretch>
            </a:blipFill>
          </p:spPr>
        </p:sp>
        <p:sp>
          <p:nvSpPr>
            <p:cNvPr name="TextBox 25" id="25"/>
            <p:cNvSpPr txBox="true"/>
            <p:nvPr/>
          </p:nvSpPr>
          <p:spPr>
            <a:xfrm>
              <a:off x="0" y="-38100"/>
              <a:ext cx="6217920" cy="163068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0.54 correlation with approval — good-credit applicants are ~4x more likely to be approved</a:t>
              </a:r>
            </a:p>
          </p:txBody>
        </p:sp>
      </p:grpSp>
      <p:grpSp>
        <p:nvGrpSpPr>
          <p:cNvPr name="Group 26" id="26"/>
          <p:cNvGrpSpPr/>
          <p:nvPr/>
        </p:nvGrpSpPr>
        <p:grpSpPr>
          <a:xfrm rot="0">
            <a:off x="6515100" y="2674620"/>
            <a:ext cx="5349240" cy="2880360"/>
            <a:chOff x="0" y="0"/>
            <a:chExt cx="7132320" cy="3840480"/>
          </a:xfrm>
        </p:grpSpPr>
        <p:sp>
          <p:nvSpPr>
            <p:cNvPr name="Freeform 27" id="27"/>
            <p:cNvSpPr/>
            <p:nvPr/>
          </p:nvSpPr>
          <p:spPr>
            <a:xfrm flipH="false" flipV="false" rot="0">
              <a:off x="0" y="0"/>
              <a:ext cx="7132320" cy="3840480"/>
            </a:xfrm>
            <a:custGeom>
              <a:avLst/>
              <a:gdLst/>
              <a:ahLst/>
              <a:cxnLst/>
              <a:rect r="r" b="b" t="t" l="l"/>
              <a:pathLst>
                <a:path h="3840480" w="7132320">
                  <a:moveTo>
                    <a:pt x="0" y="182880"/>
                  </a:moveTo>
                  <a:cubicBezTo>
                    <a:pt x="0" y="81915"/>
                    <a:pt x="81915" y="0"/>
                    <a:pt x="182880" y="0"/>
                  </a:cubicBezTo>
                  <a:lnTo>
                    <a:pt x="6949440" y="0"/>
                  </a:lnTo>
                  <a:cubicBezTo>
                    <a:pt x="7050405" y="0"/>
                    <a:pt x="7132320" y="81915"/>
                    <a:pt x="7132320" y="182880"/>
                  </a:cubicBezTo>
                  <a:lnTo>
                    <a:pt x="7132320" y="3657600"/>
                  </a:lnTo>
                  <a:cubicBezTo>
                    <a:pt x="7132320" y="3758565"/>
                    <a:pt x="7050405" y="3840480"/>
                    <a:pt x="6949440" y="3840480"/>
                  </a:cubicBezTo>
                  <a:lnTo>
                    <a:pt x="182880" y="3840480"/>
                  </a:lnTo>
                  <a:cubicBezTo>
                    <a:pt x="81915" y="3840480"/>
                    <a:pt x="0" y="3758565"/>
                    <a:pt x="0" y="3657600"/>
                  </a:cubicBezTo>
                  <a:close/>
                </a:path>
              </a:pathLst>
            </a:custGeom>
            <a:solidFill>
              <a:srgbClr val="F7F9FC"/>
            </a:solidFill>
          </p:spPr>
        </p:sp>
      </p:grpSp>
      <p:grpSp>
        <p:nvGrpSpPr>
          <p:cNvPr name="Group 28" id="28"/>
          <p:cNvGrpSpPr/>
          <p:nvPr/>
        </p:nvGrpSpPr>
        <p:grpSpPr>
          <a:xfrm rot="0">
            <a:off x="6858000" y="2976372"/>
            <a:ext cx="576072" cy="576072"/>
            <a:chOff x="0" y="0"/>
            <a:chExt cx="768096" cy="768096"/>
          </a:xfrm>
        </p:grpSpPr>
        <p:sp>
          <p:nvSpPr>
            <p:cNvPr name="Freeform 29" id="29" descr="preencoded.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6"/>
              <a:stretch>
                <a:fillRect l="0" t="0" r="0" b="0"/>
              </a:stretch>
            </a:blipFill>
          </p:spPr>
        </p:sp>
      </p:grpSp>
      <p:grpSp>
        <p:nvGrpSpPr>
          <p:cNvPr name="Group 30" id="30"/>
          <p:cNvGrpSpPr/>
          <p:nvPr/>
        </p:nvGrpSpPr>
        <p:grpSpPr>
          <a:xfrm rot="0">
            <a:off x="6858000" y="3703320"/>
            <a:ext cx="4663440" cy="617220"/>
            <a:chOff x="0" y="0"/>
            <a:chExt cx="6217920" cy="822960"/>
          </a:xfrm>
        </p:grpSpPr>
        <p:sp>
          <p:nvSpPr>
            <p:cNvPr name="Freeform 31" id="31"/>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117" r="0" b="-97118"/>
              </a:stretch>
            </a:blipFill>
          </p:spPr>
        </p:sp>
      </p:grpSp>
      <p:grpSp>
        <p:nvGrpSpPr>
          <p:cNvPr name="Group 32" id="32"/>
          <p:cNvGrpSpPr/>
          <p:nvPr/>
        </p:nvGrpSpPr>
        <p:grpSpPr>
          <a:xfrm rot="0">
            <a:off x="6858000" y="3667601"/>
            <a:ext cx="4663440" cy="652939"/>
            <a:chOff x="0" y="0"/>
            <a:chExt cx="6217920" cy="870585"/>
          </a:xfrm>
        </p:grpSpPr>
        <p:sp>
          <p:nvSpPr>
            <p:cNvPr name="Freeform 33" id="33"/>
            <p:cNvSpPr/>
            <p:nvPr/>
          </p:nvSpPr>
          <p:spPr>
            <a:xfrm flipH="false" flipV="false" rot="0">
              <a:off x="0" y="0"/>
              <a:ext cx="6217920" cy="870585"/>
            </a:xfrm>
            <a:custGeom>
              <a:avLst/>
              <a:gdLst/>
              <a:ahLst/>
              <a:cxnLst/>
              <a:rect r="r" b="b" t="t" l="l"/>
              <a:pathLst>
                <a:path h="870585" w="6217920">
                  <a:moveTo>
                    <a:pt x="0" y="0"/>
                  </a:moveTo>
                  <a:lnTo>
                    <a:pt x="6217920" y="0"/>
                  </a:lnTo>
                  <a:lnTo>
                    <a:pt x="6217920" y="870585"/>
                  </a:lnTo>
                  <a:lnTo>
                    <a:pt x="0" y="870585"/>
                  </a:lnTo>
                  <a:close/>
                </a:path>
              </a:pathLst>
            </a:custGeom>
            <a:blipFill>
              <a:blip r:embed="rId4">
                <a:alphaModFix amt="0"/>
              </a:blip>
              <a:stretch>
                <a:fillRect l="0" t="-89166" r="0" b="-89166"/>
              </a:stretch>
            </a:blipFill>
          </p:spPr>
        </p:sp>
        <p:sp>
          <p:nvSpPr>
            <p:cNvPr name="TextBox 34" id="34"/>
            <p:cNvSpPr txBox="true"/>
            <p:nvPr/>
          </p:nvSpPr>
          <p:spPr>
            <a:xfrm>
              <a:off x="0" y="-47625"/>
              <a:ext cx="6217920" cy="91821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Education Impact</a:t>
              </a:r>
            </a:p>
          </p:txBody>
        </p:sp>
      </p:grpSp>
      <p:grpSp>
        <p:nvGrpSpPr>
          <p:cNvPr name="Group 35" id="35"/>
          <p:cNvGrpSpPr/>
          <p:nvPr/>
        </p:nvGrpSpPr>
        <p:grpSpPr>
          <a:xfrm rot="0">
            <a:off x="6858000" y="4320540"/>
            <a:ext cx="4663440" cy="1165860"/>
            <a:chOff x="0" y="0"/>
            <a:chExt cx="6217920" cy="1554480"/>
          </a:xfrm>
        </p:grpSpPr>
        <p:sp>
          <p:nvSpPr>
            <p:cNvPr name="Freeform 36" id="36"/>
            <p:cNvSpPr/>
            <p:nvPr/>
          </p:nvSpPr>
          <p:spPr>
            <a:xfrm flipH="false" flipV="false" rot="0">
              <a:off x="0" y="0"/>
              <a:ext cx="6217920" cy="1554480"/>
            </a:xfrm>
            <a:custGeom>
              <a:avLst/>
              <a:gdLst/>
              <a:ahLst/>
              <a:cxnLst/>
              <a:rect r="r" b="b" t="t" l="l"/>
              <a:pathLst>
                <a:path h="1554480" w="6217920">
                  <a:moveTo>
                    <a:pt x="0" y="0"/>
                  </a:moveTo>
                  <a:lnTo>
                    <a:pt x="6217920" y="0"/>
                  </a:lnTo>
                  <a:lnTo>
                    <a:pt x="6217920" y="1554480"/>
                  </a:lnTo>
                  <a:lnTo>
                    <a:pt x="0" y="1554480"/>
                  </a:lnTo>
                  <a:close/>
                </a:path>
              </a:pathLst>
            </a:custGeom>
            <a:blipFill>
              <a:blip r:embed="rId3">
                <a:alphaModFix amt="0"/>
              </a:blip>
              <a:stretch>
                <a:fillRect l="0" t="-27885" r="0" b="-27886"/>
              </a:stretch>
            </a:blipFill>
          </p:spPr>
        </p:sp>
      </p:grpSp>
      <p:grpSp>
        <p:nvGrpSpPr>
          <p:cNvPr name="Group 37" id="37"/>
          <p:cNvGrpSpPr/>
          <p:nvPr/>
        </p:nvGrpSpPr>
        <p:grpSpPr>
          <a:xfrm rot="0">
            <a:off x="6858000" y="4291965"/>
            <a:ext cx="4663440" cy="1194435"/>
            <a:chOff x="0" y="0"/>
            <a:chExt cx="6217920" cy="1592580"/>
          </a:xfrm>
        </p:grpSpPr>
        <p:sp>
          <p:nvSpPr>
            <p:cNvPr name="Freeform 38" id="38"/>
            <p:cNvSpPr/>
            <p:nvPr/>
          </p:nvSpPr>
          <p:spPr>
            <a:xfrm flipH="false" flipV="false" rot="0">
              <a:off x="0" y="0"/>
              <a:ext cx="6217920" cy="1592580"/>
            </a:xfrm>
            <a:custGeom>
              <a:avLst/>
              <a:gdLst/>
              <a:ahLst/>
              <a:cxnLst/>
              <a:rect r="r" b="b" t="t" l="l"/>
              <a:pathLst>
                <a:path h="1592580" w="6217920">
                  <a:moveTo>
                    <a:pt x="0" y="0"/>
                  </a:moveTo>
                  <a:lnTo>
                    <a:pt x="6217920" y="0"/>
                  </a:lnTo>
                  <a:lnTo>
                    <a:pt x="6217920" y="1592580"/>
                  </a:lnTo>
                  <a:lnTo>
                    <a:pt x="0" y="1592580"/>
                  </a:lnTo>
                  <a:close/>
                </a:path>
              </a:pathLst>
            </a:custGeom>
            <a:blipFill>
              <a:blip r:embed="rId4">
                <a:alphaModFix amt="0"/>
              </a:blip>
              <a:stretch>
                <a:fillRect l="0" t="-26075" r="0" b="-26075"/>
              </a:stretch>
            </a:blipFill>
          </p:spPr>
        </p:sp>
        <p:sp>
          <p:nvSpPr>
            <p:cNvPr name="TextBox 39" id="39"/>
            <p:cNvSpPr txBox="true"/>
            <p:nvPr/>
          </p:nvSpPr>
          <p:spPr>
            <a:xfrm>
              <a:off x="0" y="-38100"/>
              <a:ext cx="6217920" cy="163068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Graduate applicants show significantly higher approval rates</a:t>
              </a:r>
            </a:p>
          </p:txBody>
        </p:sp>
      </p:grpSp>
      <p:grpSp>
        <p:nvGrpSpPr>
          <p:cNvPr name="Group 40" id="40"/>
          <p:cNvGrpSpPr/>
          <p:nvPr/>
        </p:nvGrpSpPr>
        <p:grpSpPr>
          <a:xfrm rot="0">
            <a:off x="12207240" y="2674620"/>
            <a:ext cx="5349240" cy="2880360"/>
            <a:chOff x="0" y="0"/>
            <a:chExt cx="7132320" cy="3840480"/>
          </a:xfrm>
        </p:grpSpPr>
        <p:sp>
          <p:nvSpPr>
            <p:cNvPr name="Freeform 41" id="41"/>
            <p:cNvSpPr/>
            <p:nvPr/>
          </p:nvSpPr>
          <p:spPr>
            <a:xfrm flipH="false" flipV="false" rot="0">
              <a:off x="0" y="0"/>
              <a:ext cx="7132320" cy="3840480"/>
            </a:xfrm>
            <a:custGeom>
              <a:avLst/>
              <a:gdLst/>
              <a:ahLst/>
              <a:cxnLst/>
              <a:rect r="r" b="b" t="t" l="l"/>
              <a:pathLst>
                <a:path h="3840480" w="7132320">
                  <a:moveTo>
                    <a:pt x="0" y="182880"/>
                  </a:moveTo>
                  <a:cubicBezTo>
                    <a:pt x="0" y="81915"/>
                    <a:pt x="81915" y="0"/>
                    <a:pt x="182880" y="0"/>
                  </a:cubicBezTo>
                  <a:lnTo>
                    <a:pt x="6949440" y="0"/>
                  </a:lnTo>
                  <a:cubicBezTo>
                    <a:pt x="7050405" y="0"/>
                    <a:pt x="7132320" y="81915"/>
                    <a:pt x="7132320" y="182880"/>
                  </a:cubicBezTo>
                  <a:lnTo>
                    <a:pt x="7132320" y="3657600"/>
                  </a:lnTo>
                  <a:cubicBezTo>
                    <a:pt x="7132320" y="3758565"/>
                    <a:pt x="7050405" y="3840480"/>
                    <a:pt x="6949440" y="3840480"/>
                  </a:cubicBezTo>
                  <a:lnTo>
                    <a:pt x="182880" y="3840480"/>
                  </a:lnTo>
                  <a:cubicBezTo>
                    <a:pt x="81915" y="3840480"/>
                    <a:pt x="0" y="3758565"/>
                    <a:pt x="0" y="3657600"/>
                  </a:cubicBezTo>
                  <a:close/>
                </a:path>
              </a:pathLst>
            </a:custGeom>
            <a:solidFill>
              <a:srgbClr val="F7F9FC"/>
            </a:solidFill>
          </p:spPr>
        </p:sp>
      </p:grpSp>
      <p:grpSp>
        <p:nvGrpSpPr>
          <p:cNvPr name="Group 42" id="42"/>
          <p:cNvGrpSpPr/>
          <p:nvPr/>
        </p:nvGrpSpPr>
        <p:grpSpPr>
          <a:xfrm rot="0">
            <a:off x="12550140" y="2976372"/>
            <a:ext cx="576072" cy="576072"/>
            <a:chOff x="0" y="0"/>
            <a:chExt cx="768096" cy="768096"/>
          </a:xfrm>
        </p:grpSpPr>
        <p:sp>
          <p:nvSpPr>
            <p:cNvPr name="Freeform 43" id="43" descr="preencoded.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7"/>
              <a:stretch>
                <a:fillRect l="0" t="0" r="0" b="0"/>
              </a:stretch>
            </a:blipFill>
          </p:spPr>
        </p:sp>
      </p:grpSp>
      <p:grpSp>
        <p:nvGrpSpPr>
          <p:cNvPr name="Group 44" id="44"/>
          <p:cNvGrpSpPr/>
          <p:nvPr/>
        </p:nvGrpSpPr>
        <p:grpSpPr>
          <a:xfrm rot="0">
            <a:off x="12550140" y="3703320"/>
            <a:ext cx="4663440" cy="617220"/>
            <a:chOff x="0" y="0"/>
            <a:chExt cx="6217920" cy="822960"/>
          </a:xfrm>
        </p:grpSpPr>
        <p:sp>
          <p:nvSpPr>
            <p:cNvPr name="Freeform 45" id="45"/>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117" r="0" b="-97118"/>
              </a:stretch>
            </a:blipFill>
          </p:spPr>
        </p:sp>
      </p:grpSp>
      <p:grpSp>
        <p:nvGrpSpPr>
          <p:cNvPr name="Group 46" id="46"/>
          <p:cNvGrpSpPr/>
          <p:nvPr/>
        </p:nvGrpSpPr>
        <p:grpSpPr>
          <a:xfrm rot="0">
            <a:off x="12550140" y="3667601"/>
            <a:ext cx="4663440" cy="652939"/>
            <a:chOff x="0" y="0"/>
            <a:chExt cx="6217920" cy="870585"/>
          </a:xfrm>
        </p:grpSpPr>
        <p:sp>
          <p:nvSpPr>
            <p:cNvPr name="Freeform 47" id="47"/>
            <p:cNvSpPr/>
            <p:nvPr/>
          </p:nvSpPr>
          <p:spPr>
            <a:xfrm flipH="false" flipV="false" rot="0">
              <a:off x="0" y="0"/>
              <a:ext cx="6217920" cy="870585"/>
            </a:xfrm>
            <a:custGeom>
              <a:avLst/>
              <a:gdLst/>
              <a:ahLst/>
              <a:cxnLst/>
              <a:rect r="r" b="b" t="t" l="l"/>
              <a:pathLst>
                <a:path h="870585" w="6217920">
                  <a:moveTo>
                    <a:pt x="0" y="0"/>
                  </a:moveTo>
                  <a:lnTo>
                    <a:pt x="6217920" y="0"/>
                  </a:lnTo>
                  <a:lnTo>
                    <a:pt x="6217920" y="870585"/>
                  </a:lnTo>
                  <a:lnTo>
                    <a:pt x="0" y="870585"/>
                  </a:lnTo>
                  <a:close/>
                </a:path>
              </a:pathLst>
            </a:custGeom>
            <a:blipFill>
              <a:blip r:embed="rId4">
                <a:alphaModFix amt="0"/>
              </a:blip>
              <a:stretch>
                <a:fillRect l="0" t="-89166" r="0" b="-89166"/>
              </a:stretch>
            </a:blipFill>
          </p:spPr>
        </p:sp>
        <p:sp>
          <p:nvSpPr>
            <p:cNvPr name="TextBox 48" id="48"/>
            <p:cNvSpPr txBox="true"/>
            <p:nvPr/>
          </p:nvSpPr>
          <p:spPr>
            <a:xfrm>
              <a:off x="0" y="-47625"/>
              <a:ext cx="6217920" cy="91821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Income Synergy</a:t>
              </a:r>
            </a:p>
          </p:txBody>
        </p:sp>
      </p:grpSp>
      <p:grpSp>
        <p:nvGrpSpPr>
          <p:cNvPr name="Group 49" id="49"/>
          <p:cNvGrpSpPr/>
          <p:nvPr/>
        </p:nvGrpSpPr>
        <p:grpSpPr>
          <a:xfrm rot="0">
            <a:off x="12550140" y="4320540"/>
            <a:ext cx="4663440" cy="1165860"/>
            <a:chOff x="0" y="0"/>
            <a:chExt cx="6217920" cy="1554480"/>
          </a:xfrm>
        </p:grpSpPr>
        <p:sp>
          <p:nvSpPr>
            <p:cNvPr name="Freeform 50" id="50"/>
            <p:cNvSpPr/>
            <p:nvPr/>
          </p:nvSpPr>
          <p:spPr>
            <a:xfrm flipH="false" flipV="false" rot="0">
              <a:off x="0" y="0"/>
              <a:ext cx="6217920" cy="1554480"/>
            </a:xfrm>
            <a:custGeom>
              <a:avLst/>
              <a:gdLst/>
              <a:ahLst/>
              <a:cxnLst/>
              <a:rect r="r" b="b" t="t" l="l"/>
              <a:pathLst>
                <a:path h="1554480" w="6217920">
                  <a:moveTo>
                    <a:pt x="0" y="0"/>
                  </a:moveTo>
                  <a:lnTo>
                    <a:pt x="6217920" y="0"/>
                  </a:lnTo>
                  <a:lnTo>
                    <a:pt x="6217920" y="1554480"/>
                  </a:lnTo>
                  <a:lnTo>
                    <a:pt x="0" y="1554480"/>
                  </a:lnTo>
                  <a:close/>
                </a:path>
              </a:pathLst>
            </a:custGeom>
            <a:blipFill>
              <a:blip r:embed="rId3">
                <a:alphaModFix amt="0"/>
              </a:blip>
              <a:stretch>
                <a:fillRect l="0" t="-27885" r="0" b="-27886"/>
              </a:stretch>
            </a:blipFill>
          </p:spPr>
        </p:sp>
      </p:grpSp>
      <p:grpSp>
        <p:nvGrpSpPr>
          <p:cNvPr name="Group 51" id="51"/>
          <p:cNvGrpSpPr/>
          <p:nvPr/>
        </p:nvGrpSpPr>
        <p:grpSpPr>
          <a:xfrm rot="0">
            <a:off x="12550140" y="4291965"/>
            <a:ext cx="4663440" cy="1194435"/>
            <a:chOff x="0" y="0"/>
            <a:chExt cx="6217920" cy="1592580"/>
          </a:xfrm>
        </p:grpSpPr>
        <p:sp>
          <p:nvSpPr>
            <p:cNvPr name="Freeform 52" id="52"/>
            <p:cNvSpPr/>
            <p:nvPr/>
          </p:nvSpPr>
          <p:spPr>
            <a:xfrm flipH="false" flipV="false" rot="0">
              <a:off x="0" y="0"/>
              <a:ext cx="6217920" cy="1592580"/>
            </a:xfrm>
            <a:custGeom>
              <a:avLst/>
              <a:gdLst/>
              <a:ahLst/>
              <a:cxnLst/>
              <a:rect r="r" b="b" t="t" l="l"/>
              <a:pathLst>
                <a:path h="1592580" w="6217920">
                  <a:moveTo>
                    <a:pt x="0" y="0"/>
                  </a:moveTo>
                  <a:lnTo>
                    <a:pt x="6217920" y="0"/>
                  </a:lnTo>
                  <a:lnTo>
                    <a:pt x="6217920" y="1592580"/>
                  </a:lnTo>
                  <a:lnTo>
                    <a:pt x="0" y="1592580"/>
                  </a:lnTo>
                  <a:close/>
                </a:path>
              </a:pathLst>
            </a:custGeom>
            <a:blipFill>
              <a:blip r:embed="rId4">
                <a:alphaModFix amt="0"/>
              </a:blip>
              <a:stretch>
                <a:fillRect l="0" t="-26075" r="0" b="-26075"/>
              </a:stretch>
            </a:blipFill>
          </p:spPr>
        </p:sp>
        <p:sp>
          <p:nvSpPr>
            <p:cNvPr name="TextBox 53" id="53"/>
            <p:cNvSpPr txBox="true"/>
            <p:nvPr/>
          </p:nvSpPr>
          <p:spPr>
            <a:xfrm>
              <a:off x="0" y="-38100"/>
              <a:ext cx="6217920" cy="163068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Combined applicant + co-applicant income matters more than either alone</a:t>
              </a:r>
            </a:p>
          </p:txBody>
        </p:sp>
      </p:grpSp>
      <p:grpSp>
        <p:nvGrpSpPr>
          <p:cNvPr name="Group 54" id="54"/>
          <p:cNvGrpSpPr/>
          <p:nvPr/>
        </p:nvGrpSpPr>
        <p:grpSpPr>
          <a:xfrm rot="0">
            <a:off x="822960" y="5897880"/>
            <a:ext cx="5349240" cy="2880360"/>
            <a:chOff x="0" y="0"/>
            <a:chExt cx="7132320" cy="3840480"/>
          </a:xfrm>
        </p:grpSpPr>
        <p:sp>
          <p:nvSpPr>
            <p:cNvPr name="Freeform 55" id="55"/>
            <p:cNvSpPr/>
            <p:nvPr/>
          </p:nvSpPr>
          <p:spPr>
            <a:xfrm flipH="false" flipV="false" rot="0">
              <a:off x="0" y="0"/>
              <a:ext cx="7132320" cy="3840480"/>
            </a:xfrm>
            <a:custGeom>
              <a:avLst/>
              <a:gdLst/>
              <a:ahLst/>
              <a:cxnLst/>
              <a:rect r="r" b="b" t="t" l="l"/>
              <a:pathLst>
                <a:path h="3840480" w="7132320">
                  <a:moveTo>
                    <a:pt x="0" y="182880"/>
                  </a:moveTo>
                  <a:cubicBezTo>
                    <a:pt x="0" y="81915"/>
                    <a:pt x="81915" y="0"/>
                    <a:pt x="182880" y="0"/>
                  </a:cubicBezTo>
                  <a:lnTo>
                    <a:pt x="6949440" y="0"/>
                  </a:lnTo>
                  <a:cubicBezTo>
                    <a:pt x="7050405" y="0"/>
                    <a:pt x="7132320" y="81915"/>
                    <a:pt x="7132320" y="182880"/>
                  </a:cubicBezTo>
                  <a:lnTo>
                    <a:pt x="7132320" y="3657600"/>
                  </a:lnTo>
                  <a:cubicBezTo>
                    <a:pt x="7132320" y="3758565"/>
                    <a:pt x="7050405" y="3840480"/>
                    <a:pt x="6949440" y="3840480"/>
                  </a:cubicBezTo>
                  <a:lnTo>
                    <a:pt x="182880" y="3840480"/>
                  </a:lnTo>
                  <a:cubicBezTo>
                    <a:pt x="81915" y="3840480"/>
                    <a:pt x="0" y="3758565"/>
                    <a:pt x="0" y="3657600"/>
                  </a:cubicBezTo>
                  <a:close/>
                </a:path>
              </a:pathLst>
            </a:custGeom>
            <a:solidFill>
              <a:srgbClr val="F7F9FC"/>
            </a:solidFill>
          </p:spPr>
        </p:sp>
      </p:grpSp>
      <p:grpSp>
        <p:nvGrpSpPr>
          <p:cNvPr name="Group 56" id="56"/>
          <p:cNvGrpSpPr/>
          <p:nvPr/>
        </p:nvGrpSpPr>
        <p:grpSpPr>
          <a:xfrm rot="0">
            <a:off x="1165860" y="6199632"/>
            <a:ext cx="576072" cy="576072"/>
            <a:chOff x="0" y="0"/>
            <a:chExt cx="768096" cy="768096"/>
          </a:xfrm>
        </p:grpSpPr>
        <p:sp>
          <p:nvSpPr>
            <p:cNvPr name="Freeform 57" id="57" descr="preencoded.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8"/>
              <a:stretch>
                <a:fillRect l="0" t="0" r="0" b="0"/>
              </a:stretch>
            </a:blipFill>
          </p:spPr>
        </p:sp>
      </p:grpSp>
      <p:grpSp>
        <p:nvGrpSpPr>
          <p:cNvPr name="Group 58" id="58"/>
          <p:cNvGrpSpPr/>
          <p:nvPr/>
        </p:nvGrpSpPr>
        <p:grpSpPr>
          <a:xfrm rot="0">
            <a:off x="1165860" y="6926580"/>
            <a:ext cx="4663440" cy="617220"/>
            <a:chOff x="0" y="0"/>
            <a:chExt cx="6217920" cy="822960"/>
          </a:xfrm>
        </p:grpSpPr>
        <p:sp>
          <p:nvSpPr>
            <p:cNvPr name="Freeform 59" id="59"/>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117" r="0" b="-97118"/>
              </a:stretch>
            </a:blipFill>
          </p:spPr>
        </p:sp>
      </p:grpSp>
      <p:grpSp>
        <p:nvGrpSpPr>
          <p:cNvPr name="Group 60" id="60"/>
          <p:cNvGrpSpPr/>
          <p:nvPr/>
        </p:nvGrpSpPr>
        <p:grpSpPr>
          <a:xfrm rot="0">
            <a:off x="1165860" y="6890861"/>
            <a:ext cx="4663440" cy="652939"/>
            <a:chOff x="0" y="0"/>
            <a:chExt cx="6217920" cy="870585"/>
          </a:xfrm>
        </p:grpSpPr>
        <p:sp>
          <p:nvSpPr>
            <p:cNvPr name="Freeform 61" id="61"/>
            <p:cNvSpPr/>
            <p:nvPr/>
          </p:nvSpPr>
          <p:spPr>
            <a:xfrm flipH="false" flipV="false" rot="0">
              <a:off x="0" y="0"/>
              <a:ext cx="6217920" cy="870585"/>
            </a:xfrm>
            <a:custGeom>
              <a:avLst/>
              <a:gdLst/>
              <a:ahLst/>
              <a:cxnLst/>
              <a:rect r="r" b="b" t="t" l="l"/>
              <a:pathLst>
                <a:path h="870585" w="6217920">
                  <a:moveTo>
                    <a:pt x="0" y="0"/>
                  </a:moveTo>
                  <a:lnTo>
                    <a:pt x="6217920" y="0"/>
                  </a:lnTo>
                  <a:lnTo>
                    <a:pt x="6217920" y="870585"/>
                  </a:lnTo>
                  <a:lnTo>
                    <a:pt x="0" y="870585"/>
                  </a:lnTo>
                  <a:close/>
                </a:path>
              </a:pathLst>
            </a:custGeom>
            <a:blipFill>
              <a:blip r:embed="rId4">
                <a:alphaModFix amt="0"/>
              </a:blip>
              <a:stretch>
                <a:fillRect l="0" t="-89166" r="0" b="-89166"/>
              </a:stretch>
            </a:blipFill>
          </p:spPr>
        </p:sp>
        <p:sp>
          <p:nvSpPr>
            <p:cNvPr name="TextBox 62" id="62"/>
            <p:cNvSpPr txBox="true"/>
            <p:nvPr/>
          </p:nvSpPr>
          <p:spPr>
            <a:xfrm>
              <a:off x="0" y="-47625"/>
              <a:ext cx="6217920" cy="91821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Property Location</a:t>
              </a:r>
            </a:p>
          </p:txBody>
        </p:sp>
      </p:grpSp>
      <p:grpSp>
        <p:nvGrpSpPr>
          <p:cNvPr name="Group 63" id="63"/>
          <p:cNvGrpSpPr/>
          <p:nvPr/>
        </p:nvGrpSpPr>
        <p:grpSpPr>
          <a:xfrm rot="0">
            <a:off x="1165860" y="7543800"/>
            <a:ext cx="4663440" cy="1165860"/>
            <a:chOff x="0" y="0"/>
            <a:chExt cx="6217920" cy="1554480"/>
          </a:xfrm>
        </p:grpSpPr>
        <p:sp>
          <p:nvSpPr>
            <p:cNvPr name="Freeform 64" id="64"/>
            <p:cNvSpPr/>
            <p:nvPr/>
          </p:nvSpPr>
          <p:spPr>
            <a:xfrm flipH="false" flipV="false" rot="0">
              <a:off x="0" y="0"/>
              <a:ext cx="6217920" cy="1554480"/>
            </a:xfrm>
            <a:custGeom>
              <a:avLst/>
              <a:gdLst/>
              <a:ahLst/>
              <a:cxnLst/>
              <a:rect r="r" b="b" t="t" l="l"/>
              <a:pathLst>
                <a:path h="1554480" w="6217920">
                  <a:moveTo>
                    <a:pt x="0" y="0"/>
                  </a:moveTo>
                  <a:lnTo>
                    <a:pt x="6217920" y="0"/>
                  </a:lnTo>
                  <a:lnTo>
                    <a:pt x="6217920" y="1554480"/>
                  </a:lnTo>
                  <a:lnTo>
                    <a:pt x="0" y="1554480"/>
                  </a:lnTo>
                  <a:close/>
                </a:path>
              </a:pathLst>
            </a:custGeom>
            <a:blipFill>
              <a:blip r:embed="rId3">
                <a:alphaModFix amt="0"/>
              </a:blip>
              <a:stretch>
                <a:fillRect l="0" t="-27885" r="0" b="-27886"/>
              </a:stretch>
            </a:blipFill>
          </p:spPr>
        </p:sp>
      </p:grpSp>
      <p:grpSp>
        <p:nvGrpSpPr>
          <p:cNvPr name="Group 65" id="65"/>
          <p:cNvGrpSpPr/>
          <p:nvPr/>
        </p:nvGrpSpPr>
        <p:grpSpPr>
          <a:xfrm rot="0">
            <a:off x="1165860" y="7515225"/>
            <a:ext cx="4663440" cy="1194435"/>
            <a:chOff x="0" y="0"/>
            <a:chExt cx="6217920" cy="1592580"/>
          </a:xfrm>
        </p:grpSpPr>
        <p:sp>
          <p:nvSpPr>
            <p:cNvPr name="Freeform 66" id="66"/>
            <p:cNvSpPr/>
            <p:nvPr/>
          </p:nvSpPr>
          <p:spPr>
            <a:xfrm flipH="false" flipV="false" rot="0">
              <a:off x="0" y="0"/>
              <a:ext cx="6217920" cy="1592580"/>
            </a:xfrm>
            <a:custGeom>
              <a:avLst/>
              <a:gdLst/>
              <a:ahLst/>
              <a:cxnLst/>
              <a:rect r="r" b="b" t="t" l="l"/>
              <a:pathLst>
                <a:path h="1592580" w="6217920">
                  <a:moveTo>
                    <a:pt x="0" y="0"/>
                  </a:moveTo>
                  <a:lnTo>
                    <a:pt x="6217920" y="0"/>
                  </a:lnTo>
                  <a:lnTo>
                    <a:pt x="6217920" y="1592580"/>
                  </a:lnTo>
                  <a:lnTo>
                    <a:pt x="0" y="1592580"/>
                  </a:lnTo>
                  <a:close/>
                </a:path>
              </a:pathLst>
            </a:custGeom>
            <a:blipFill>
              <a:blip r:embed="rId4">
                <a:alphaModFix amt="0"/>
              </a:blip>
              <a:stretch>
                <a:fillRect l="0" t="-26075" r="0" b="-26075"/>
              </a:stretch>
            </a:blipFill>
          </p:spPr>
        </p:sp>
        <p:sp>
          <p:nvSpPr>
            <p:cNvPr name="TextBox 67" id="67"/>
            <p:cNvSpPr txBox="true"/>
            <p:nvPr/>
          </p:nvSpPr>
          <p:spPr>
            <a:xfrm>
              <a:off x="0" y="-38100"/>
              <a:ext cx="6217920" cy="163068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Semiurban properties show the highest approval rates (better collateral value)</a:t>
              </a:r>
            </a:p>
          </p:txBody>
        </p:sp>
      </p:grpSp>
      <p:grpSp>
        <p:nvGrpSpPr>
          <p:cNvPr name="Group 68" id="68"/>
          <p:cNvGrpSpPr/>
          <p:nvPr/>
        </p:nvGrpSpPr>
        <p:grpSpPr>
          <a:xfrm rot="0">
            <a:off x="6515100" y="5897880"/>
            <a:ext cx="5349240" cy="2880360"/>
            <a:chOff x="0" y="0"/>
            <a:chExt cx="7132320" cy="3840480"/>
          </a:xfrm>
        </p:grpSpPr>
        <p:sp>
          <p:nvSpPr>
            <p:cNvPr name="Freeform 69" id="69"/>
            <p:cNvSpPr/>
            <p:nvPr/>
          </p:nvSpPr>
          <p:spPr>
            <a:xfrm flipH="false" flipV="false" rot="0">
              <a:off x="0" y="0"/>
              <a:ext cx="7132320" cy="3840480"/>
            </a:xfrm>
            <a:custGeom>
              <a:avLst/>
              <a:gdLst/>
              <a:ahLst/>
              <a:cxnLst/>
              <a:rect r="r" b="b" t="t" l="l"/>
              <a:pathLst>
                <a:path h="3840480" w="7132320">
                  <a:moveTo>
                    <a:pt x="0" y="182880"/>
                  </a:moveTo>
                  <a:cubicBezTo>
                    <a:pt x="0" y="81915"/>
                    <a:pt x="81915" y="0"/>
                    <a:pt x="182880" y="0"/>
                  </a:cubicBezTo>
                  <a:lnTo>
                    <a:pt x="6949440" y="0"/>
                  </a:lnTo>
                  <a:cubicBezTo>
                    <a:pt x="7050405" y="0"/>
                    <a:pt x="7132320" y="81915"/>
                    <a:pt x="7132320" y="182880"/>
                  </a:cubicBezTo>
                  <a:lnTo>
                    <a:pt x="7132320" y="3657600"/>
                  </a:lnTo>
                  <a:cubicBezTo>
                    <a:pt x="7132320" y="3758565"/>
                    <a:pt x="7050405" y="3840480"/>
                    <a:pt x="6949440" y="3840480"/>
                  </a:cubicBezTo>
                  <a:lnTo>
                    <a:pt x="182880" y="3840480"/>
                  </a:lnTo>
                  <a:cubicBezTo>
                    <a:pt x="81915" y="3840480"/>
                    <a:pt x="0" y="3758565"/>
                    <a:pt x="0" y="3657600"/>
                  </a:cubicBezTo>
                  <a:close/>
                </a:path>
              </a:pathLst>
            </a:custGeom>
            <a:solidFill>
              <a:srgbClr val="F7F9FC"/>
            </a:solidFill>
          </p:spPr>
        </p:sp>
      </p:grpSp>
      <p:grpSp>
        <p:nvGrpSpPr>
          <p:cNvPr name="Group 70" id="70"/>
          <p:cNvGrpSpPr/>
          <p:nvPr/>
        </p:nvGrpSpPr>
        <p:grpSpPr>
          <a:xfrm rot="0">
            <a:off x="6858000" y="6199632"/>
            <a:ext cx="576072" cy="576072"/>
            <a:chOff x="0" y="0"/>
            <a:chExt cx="768096" cy="768096"/>
          </a:xfrm>
        </p:grpSpPr>
        <p:sp>
          <p:nvSpPr>
            <p:cNvPr name="Freeform 71" id="71" descr="preencoded.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9"/>
              <a:stretch>
                <a:fillRect l="0" t="0" r="0" b="0"/>
              </a:stretch>
            </a:blipFill>
          </p:spPr>
        </p:sp>
      </p:grpSp>
      <p:grpSp>
        <p:nvGrpSpPr>
          <p:cNvPr name="Group 72" id="72"/>
          <p:cNvGrpSpPr/>
          <p:nvPr/>
        </p:nvGrpSpPr>
        <p:grpSpPr>
          <a:xfrm rot="0">
            <a:off x="6858000" y="6926580"/>
            <a:ext cx="4663440" cy="617220"/>
            <a:chOff x="0" y="0"/>
            <a:chExt cx="6217920" cy="822960"/>
          </a:xfrm>
        </p:grpSpPr>
        <p:sp>
          <p:nvSpPr>
            <p:cNvPr name="Freeform 73" id="73"/>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117" r="0" b="-97118"/>
              </a:stretch>
            </a:blipFill>
          </p:spPr>
        </p:sp>
      </p:grpSp>
      <p:grpSp>
        <p:nvGrpSpPr>
          <p:cNvPr name="Group 74" id="74"/>
          <p:cNvGrpSpPr/>
          <p:nvPr/>
        </p:nvGrpSpPr>
        <p:grpSpPr>
          <a:xfrm rot="0">
            <a:off x="6858000" y="6890861"/>
            <a:ext cx="4663440" cy="652939"/>
            <a:chOff x="0" y="0"/>
            <a:chExt cx="6217920" cy="870585"/>
          </a:xfrm>
        </p:grpSpPr>
        <p:sp>
          <p:nvSpPr>
            <p:cNvPr name="Freeform 75" id="75"/>
            <p:cNvSpPr/>
            <p:nvPr/>
          </p:nvSpPr>
          <p:spPr>
            <a:xfrm flipH="false" flipV="false" rot="0">
              <a:off x="0" y="0"/>
              <a:ext cx="6217920" cy="870585"/>
            </a:xfrm>
            <a:custGeom>
              <a:avLst/>
              <a:gdLst/>
              <a:ahLst/>
              <a:cxnLst/>
              <a:rect r="r" b="b" t="t" l="l"/>
              <a:pathLst>
                <a:path h="870585" w="6217920">
                  <a:moveTo>
                    <a:pt x="0" y="0"/>
                  </a:moveTo>
                  <a:lnTo>
                    <a:pt x="6217920" y="0"/>
                  </a:lnTo>
                  <a:lnTo>
                    <a:pt x="6217920" y="870585"/>
                  </a:lnTo>
                  <a:lnTo>
                    <a:pt x="0" y="870585"/>
                  </a:lnTo>
                  <a:close/>
                </a:path>
              </a:pathLst>
            </a:custGeom>
            <a:blipFill>
              <a:blip r:embed="rId4">
                <a:alphaModFix amt="0"/>
              </a:blip>
              <a:stretch>
                <a:fillRect l="0" t="-89166" r="0" b="-89166"/>
              </a:stretch>
            </a:blipFill>
          </p:spPr>
        </p:sp>
        <p:sp>
          <p:nvSpPr>
            <p:cNvPr name="TextBox 76" id="76"/>
            <p:cNvSpPr txBox="true"/>
            <p:nvPr/>
          </p:nvSpPr>
          <p:spPr>
            <a:xfrm>
              <a:off x="0" y="-47625"/>
              <a:ext cx="6217920" cy="918210"/>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Model Complexity</a:t>
              </a:r>
            </a:p>
          </p:txBody>
        </p:sp>
      </p:grpSp>
      <p:grpSp>
        <p:nvGrpSpPr>
          <p:cNvPr name="Group 77" id="77"/>
          <p:cNvGrpSpPr/>
          <p:nvPr/>
        </p:nvGrpSpPr>
        <p:grpSpPr>
          <a:xfrm rot="0">
            <a:off x="6858000" y="7543800"/>
            <a:ext cx="4663440" cy="1165860"/>
            <a:chOff x="0" y="0"/>
            <a:chExt cx="6217920" cy="1554480"/>
          </a:xfrm>
        </p:grpSpPr>
        <p:sp>
          <p:nvSpPr>
            <p:cNvPr name="Freeform 78" id="78"/>
            <p:cNvSpPr/>
            <p:nvPr/>
          </p:nvSpPr>
          <p:spPr>
            <a:xfrm flipH="false" flipV="false" rot="0">
              <a:off x="0" y="0"/>
              <a:ext cx="6217920" cy="1554480"/>
            </a:xfrm>
            <a:custGeom>
              <a:avLst/>
              <a:gdLst/>
              <a:ahLst/>
              <a:cxnLst/>
              <a:rect r="r" b="b" t="t" l="l"/>
              <a:pathLst>
                <a:path h="1554480" w="6217920">
                  <a:moveTo>
                    <a:pt x="0" y="0"/>
                  </a:moveTo>
                  <a:lnTo>
                    <a:pt x="6217920" y="0"/>
                  </a:lnTo>
                  <a:lnTo>
                    <a:pt x="6217920" y="1554480"/>
                  </a:lnTo>
                  <a:lnTo>
                    <a:pt x="0" y="1554480"/>
                  </a:lnTo>
                  <a:close/>
                </a:path>
              </a:pathLst>
            </a:custGeom>
            <a:blipFill>
              <a:blip r:embed="rId3">
                <a:alphaModFix amt="0"/>
              </a:blip>
              <a:stretch>
                <a:fillRect l="0" t="-27885" r="0" b="-27886"/>
              </a:stretch>
            </a:blipFill>
          </p:spPr>
        </p:sp>
      </p:grpSp>
      <p:grpSp>
        <p:nvGrpSpPr>
          <p:cNvPr name="Group 79" id="79"/>
          <p:cNvGrpSpPr/>
          <p:nvPr/>
        </p:nvGrpSpPr>
        <p:grpSpPr>
          <a:xfrm rot="0">
            <a:off x="6858000" y="7515225"/>
            <a:ext cx="4663440" cy="1194435"/>
            <a:chOff x="0" y="0"/>
            <a:chExt cx="6217920" cy="1592580"/>
          </a:xfrm>
        </p:grpSpPr>
        <p:sp>
          <p:nvSpPr>
            <p:cNvPr name="Freeform 80" id="80"/>
            <p:cNvSpPr/>
            <p:nvPr/>
          </p:nvSpPr>
          <p:spPr>
            <a:xfrm flipH="false" flipV="false" rot="0">
              <a:off x="0" y="0"/>
              <a:ext cx="6217920" cy="1592580"/>
            </a:xfrm>
            <a:custGeom>
              <a:avLst/>
              <a:gdLst/>
              <a:ahLst/>
              <a:cxnLst/>
              <a:rect r="r" b="b" t="t" l="l"/>
              <a:pathLst>
                <a:path h="1592580" w="6217920">
                  <a:moveTo>
                    <a:pt x="0" y="0"/>
                  </a:moveTo>
                  <a:lnTo>
                    <a:pt x="6217920" y="0"/>
                  </a:lnTo>
                  <a:lnTo>
                    <a:pt x="6217920" y="1592580"/>
                  </a:lnTo>
                  <a:lnTo>
                    <a:pt x="0" y="1592580"/>
                  </a:lnTo>
                  <a:close/>
                </a:path>
              </a:pathLst>
            </a:custGeom>
            <a:blipFill>
              <a:blip r:embed="rId4">
                <a:alphaModFix amt="0"/>
              </a:blip>
              <a:stretch>
                <a:fillRect l="0" t="-26075" r="0" b="-26075"/>
              </a:stretch>
            </a:blipFill>
          </p:spPr>
        </p:sp>
        <p:sp>
          <p:nvSpPr>
            <p:cNvPr name="TextBox 81" id="81"/>
            <p:cNvSpPr txBox="true"/>
            <p:nvPr/>
          </p:nvSpPr>
          <p:spPr>
            <a:xfrm>
              <a:off x="0" y="-38100"/>
              <a:ext cx="6217920" cy="1630680"/>
            </a:xfrm>
            <a:prstGeom prst="rect">
              <a:avLst/>
            </a:prstGeom>
          </p:spPr>
          <p:txBody>
            <a:bodyPr anchor="ctr" rtlCol="false" tIns="0" lIns="0" bIns="0" rIns="0"/>
            <a:lstStyle/>
            <a:p>
              <a:pPr algn="l">
                <a:lnSpc>
                  <a:spcPts val="2070"/>
                </a:lnSpc>
              </a:pPr>
              <a:r>
                <a:rPr lang="en-US" sz="1725">
                  <a:solidFill>
                    <a:srgbClr val="44506B"/>
                  </a:solidFill>
                  <a:latin typeface="Calibri (MS)"/>
                  <a:ea typeface="Calibri (MS)"/>
                  <a:cs typeface="Calibri (MS)"/>
                  <a:sym typeface="Calibri (MS)"/>
                </a:rPr>
                <a:t>For small, structured datasets, simpler interpretable models can match or beat complex ensembles</a:t>
              </a:r>
            </a:p>
          </p:txBody>
        </p:sp>
      </p:grpSp>
      <p:grpSp>
        <p:nvGrpSpPr>
          <p:cNvPr name="Group 82" id="82"/>
          <p:cNvGrpSpPr/>
          <p:nvPr/>
        </p:nvGrpSpPr>
        <p:grpSpPr>
          <a:xfrm rot="0">
            <a:off x="685800" y="9738360"/>
            <a:ext cx="8229600" cy="411480"/>
            <a:chOff x="0" y="0"/>
            <a:chExt cx="10972800" cy="548640"/>
          </a:xfrm>
        </p:grpSpPr>
        <p:sp>
          <p:nvSpPr>
            <p:cNvPr name="Freeform 83" id="8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84" id="84"/>
          <p:cNvGrpSpPr/>
          <p:nvPr/>
        </p:nvGrpSpPr>
        <p:grpSpPr>
          <a:xfrm rot="0">
            <a:off x="685800" y="9716929"/>
            <a:ext cx="8229600" cy="432911"/>
            <a:chOff x="0" y="0"/>
            <a:chExt cx="10972800" cy="577215"/>
          </a:xfrm>
        </p:grpSpPr>
        <p:sp>
          <p:nvSpPr>
            <p:cNvPr name="Freeform 85" id="85"/>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86" id="86"/>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87" id="87"/>
          <p:cNvGrpSpPr/>
          <p:nvPr/>
        </p:nvGrpSpPr>
        <p:grpSpPr>
          <a:xfrm rot="0">
            <a:off x="16870680" y="9738360"/>
            <a:ext cx="685800" cy="411480"/>
            <a:chOff x="0" y="0"/>
            <a:chExt cx="914400" cy="548640"/>
          </a:xfrm>
        </p:grpSpPr>
        <p:sp>
          <p:nvSpPr>
            <p:cNvPr name="Freeform 88" id="8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89" id="89"/>
          <p:cNvGrpSpPr/>
          <p:nvPr/>
        </p:nvGrpSpPr>
        <p:grpSpPr>
          <a:xfrm rot="0">
            <a:off x="16870680" y="9716929"/>
            <a:ext cx="685800" cy="432911"/>
            <a:chOff x="0" y="0"/>
            <a:chExt cx="914400" cy="577215"/>
          </a:xfrm>
        </p:grpSpPr>
        <p:sp>
          <p:nvSpPr>
            <p:cNvPr name="Freeform 90" id="90"/>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91" id="91"/>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327" r="0" b="-506329"/>
              </a:stretch>
            </a:blipFill>
          </p:spPr>
        </p:sp>
      </p:grpSp>
      <p:grpSp>
        <p:nvGrpSpPr>
          <p:cNvPr name="Group 4" id="4"/>
          <p:cNvGrpSpPr/>
          <p:nvPr/>
        </p:nvGrpSpPr>
        <p:grpSpPr>
          <a:xfrm rot="0">
            <a:off x="822960" y="512921"/>
            <a:ext cx="13716000" cy="515779"/>
            <a:chOff x="0" y="0"/>
            <a:chExt cx="18288000" cy="687705"/>
          </a:xfrm>
        </p:grpSpPr>
        <p:sp>
          <p:nvSpPr>
            <p:cNvPr name="Freeform 5" id="5"/>
            <p:cNvSpPr/>
            <p:nvPr/>
          </p:nvSpPr>
          <p:spPr>
            <a:xfrm flipH="false" flipV="false" rot="0">
              <a:off x="0" y="0"/>
              <a:ext cx="18288000" cy="687705"/>
            </a:xfrm>
            <a:custGeom>
              <a:avLst/>
              <a:gdLst/>
              <a:ahLst/>
              <a:cxnLst/>
              <a:rect r="r" b="b" t="t" l="l"/>
              <a:pathLst>
                <a:path h="687705" w="18288000">
                  <a:moveTo>
                    <a:pt x="0" y="0"/>
                  </a:moveTo>
                  <a:lnTo>
                    <a:pt x="18288000" y="0"/>
                  </a:lnTo>
                  <a:lnTo>
                    <a:pt x="18288000" y="687705"/>
                  </a:lnTo>
                  <a:lnTo>
                    <a:pt x="0" y="687705"/>
                  </a:lnTo>
                  <a:close/>
                </a:path>
              </a:pathLst>
            </a:custGeom>
            <a:blipFill>
              <a:blip r:embed="rId4">
                <a:alphaModFix amt="0"/>
              </a:blip>
              <a:stretch>
                <a:fillRect l="0" t="-468161" r="0" b="-468161"/>
              </a:stretch>
            </a:blipFill>
          </p:spPr>
        </p:sp>
        <p:sp>
          <p:nvSpPr>
            <p:cNvPr name="TextBox 6" id="6"/>
            <p:cNvSpPr txBox="true"/>
            <p:nvPr/>
          </p:nvSpPr>
          <p:spPr>
            <a:xfrm>
              <a:off x="0" y="-47625"/>
              <a:ext cx="18288000" cy="735330"/>
            </a:xfrm>
            <a:prstGeom prst="rect">
              <a:avLst/>
            </a:prstGeom>
          </p:spPr>
          <p:txBody>
            <a:bodyPr anchor="ctr" rtlCol="false" tIns="0" lIns="0" bIns="0" rIns="0"/>
            <a:lstStyle/>
            <a:p>
              <a:pPr algn="l">
                <a:lnSpc>
                  <a:spcPts val="2340"/>
                </a:lnSpc>
              </a:pPr>
              <a:r>
                <a:rPr lang="en-US" b="true" sz="1950" spc="300">
                  <a:solidFill>
                    <a:srgbClr val="6E7B96"/>
                  </a:solidFill>
                  <a:latin typeface="Calibri (MS) Bold"/>
                  <a:ea typeface="Calibri (MS) Bold"/>
                  <a:cs typeface="Calibri (MS) Bold"/>
                  <a:sym typeface="Calibri (MS) Bold"/>
                </a:rPr>
                <a:t>WRAP-UP</a:t>
              </a:r>
            </a:p>
          </p:txBody>
        </p:sp>
      </p:grpSp>
      <p:grpSp>
        <p:nvGrpSpPr>
          <p:cNvPr name="Group 7" id="7"/>
          <p:cNvGrpSpPr/>
          <p:nvPr/>
        </p:nvGrpSpPr>
        <p:grpSpPr>
          <a:xfrm rot="0">
            <a:off x="822960" y="987552"/>
            <a:ext cx="15773400" cy="1028700"/>
            <a:chOff x="0" y="0"/>
            <a:chExt cx="21031200" cy="1371600"/>
          </a:xfrm>
        </p:grpSpPr>
        <p:sp>
          <p:nvSpPr>
            <p:cNvPr name="Freeform 8" id="8"/>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3">
                <a:alphaModFix amt="0"/>
              </a:blip>
              <a:stretch>
                <a:fillRect l="0" t="-248562" r="0" b="-248562"/>
              </a:stretch>
            </a:blipFill>
          </p:spPr>
        </p:sp>
      </p:grpSp>
      <p:grpSp>
        <p:nvGrpSpPr>
          <p:cNvPr name="Group 9" id="9"/>
          <p:cNvGrpSpPr/>
          <p:nvPr/>
        </p:nvGrpSpPr>
        <p:grpSpPr>
          <a:xfrm rot="0">
            <a:off x="822960" y="980408"/>
            <a:ext cx="15773400" cy="1035844"/>
            <a:chOff x="0" y="0"/>
            <a:chExt cx="21031200" cy="1381125"/>
          </a:xfrm>
        </p:grpSpPr>
        <p:sp>
          <p:nvSpPr>
            <p:cNvPr name="Freeform 10" id="10"/>
            <p:cNvSpPr/>
            <p:nvPr/>
          </p:nvSpPr>
          <p:spPr>
            <a:xfrm flipH="false" flipV="false" rot="0">
              <a:off x="0" y="0"/>
              <a:ext cx="21031200" cy="1381125"/>
            </a:xfrm>
            <a:custGeom>
              <a:avLst/>
              <a:gdLst/>
              <a:ahLst/>
              <a:cxnLst/>
              <a:rect r="r" b="b" t="t" l="l"/>
              <a:pathLst>
                <a:path h="1381125" w="21031200">
                  <a:moveTo>
                    <a:pt x="0" y="0"/>
                  </a:moveTo>
                  <a:lnTo>
                    <a:pt x="21031200" y="0"/>
                  </a:lnTo>
                  <a:lnTo>
                    <a:pt x="21031200" y="1381125"/>
                  </a:lnTo>
                  <a:lnTo>
                    <a:pt x="0" y="1381125"/>
                  </a:lnTo>
                  <a:close/>
                </a:path>
              </a:pathLst>
            </a:custGeom>
            <a:blipFill>
              <a:blip r:embed="rId4">
                <a:alphaModFix amt="0"/>
              </a:blip>
              <a:stretch>
                <a:fillRect l="0" t="-246710" r="0" b="-246710"/>
              </a:stretch>
            </a:blipFill>
          </p:spPr>
        </p:sp>
        <p:sp>
          <p:nvSpPr>
            <p:cNvPr name="TextBox 11" id="11"/>
            <p:cNvSpPr txBox="true"/>
            <p:nvPr/>
          </p:nvSpPr>
          <p:spPr>
            <a:xfrm>
              <a:off x="0" y="-9525"/>
              <a:ext cx="21031200" cy="1390650"/>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Conclusion &amp; Future Scope</a:t>
              </a:r>
            </a:p>
          </p:txBody>
        </p:sp>
      </p:grpSp>
      <p:grpSp>
        <p:nvGrpSpPr>
          <p:cNvPr name="Group 12" id="12"/>
          <p:cNvGrpSpPr/>
          <p:nvPr/>
        </p:nvGrpSpPr>
        <p:grpSpPr>
          <a:xfrm rot="0">
            <a:off x="822960" y="2606040"/>
            <a:ext cx="8092440" cy="6309360"/>
            <a:chOff x="0" y="0"/>
            <a:chExt cx="10789920" cy="8412480"/>
          </a:xfrm>
        </p:grpSpPr>
        <p:sp>
          <p:nvSpPr>
            <p:cNvPr name="Freeform 13" id="13"/>
            <p:cNvSpPr/>
            <p:nvPr/>
          </p:nvSpPr>
          <p:spPr>
            <a:xfrm flipH="false" flipV="false" rot="0">
              <a:off x="0" y="0"/>
              <a:ext cx="10789920" cy="8412480"/>
            </a:xfrm>
            <a:custGeom>
              <a:avLst/>
              <a:gdLst/>
              <a:ahLst/>
              <a:cxnLst/>
              <a:rect r="r" b="b" t="t" l="l"/>
              <a:pathLst>
                <a:path h="8412480" w="10789920">
                  <a:moveTo>
                    <a:pt x="0" y="182880"/>
                  </a:moveTo>
                  <a:cubicBezTo>
                    <a:pt x="0" y="81915"/>
                    <a:pt x="81915" y="0"/>
                    <a:pt x="182880" y="0"/>
                  </a:cubicBezTo>
                  <a:lnTo>
                    <a:pt x="10607040" y="0"/>
                  </a:lnTo>
                  <a:cubicBezTo>
                    <a:pt x="10708005" y="0"/>
                    <a:pt x="10789920" y="81915"/>
                    <a:pt x="10789920" y="182880"/>
                  </a:cubicBezTo>
                  <a:lnTo>
                    <a:pt x="10789920" y="8229600"/>
                  </a:lnTo>
                  <a:cubicBezTo>
                    <a:pt x="10789920" y="8330565"/>
                    <a:pt x="10708005" y="8412480"/>
                    <a:pt x="10607040" y="8412480"/>
                  </a:cubicBezTo>
                  <a:lnTo>
                    <a:pt x="182880" y="8412480"/>
                  </a:lnTo>
                  <a:cubicBezTo>
                    <a:pt x="81915" y="8412480"/>
                    <a:pt x="0" y="8330565"/>
                    <a:pt x="0" y="8229600"/>
                  </a:cubicBezTo>
                  <a:close/>
                </a:path>
              </a:pathLst>
            </a:custGeom>
            <a:solidFill>
              <a:srgbClr val="F7F9FC"/>
            </a:solidFill>
          </p:spPr>
        </p:sp>
      </p:grpSp>
      <p:grpSp>
        <p:nvGrpSpPr>
          <p:cNvPr name="Group 14" id="14"/>
          <p:cNvGrpSpPr/>
          <p:nvPr/>
        </p:nvGrpSpPr>
        <p:grpSpPr>
          <a:xfrm rot="0">
            <a:off x="1303020" y="3017520"/>
            <a:ext cx="685800" cy="685800"/>
            <a:chOff x="0" y="0"/>
            <a:chExt cx="914400" cy="914400"/>
          </a:xfrm>
        </p:grpSpPr>
        <p:sp>
          <p:nvSpPr>
            <p:cNvPr name="Freeform 15" id="15"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grpSp>
        <p:nvGrpSpPr>
          <p:cNvPr name="Group 16" id="16"/>
          <p:cNvGrpSpPr/>
          <p:nvPr/>
        </p:nvGrpSpPr>
        <p:grpSpPr>
          <a:xfrm rot="0">
            <a:off x="2194560" y="3127248"/>
            <a:ext cx="5486400" cy="548640"/>
            <a:chOff x="0" y="0"/>
            <a:chExt cx="7315200" cy="731520"/>
          </a:xfrm>
        </p:grpSpPr>
        <p:sp>
          <p:nvSpPr>
            <p:cNvPr name="Freeform 17" id="17"/>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715" r="0" b="-144715"/>
              </a:stretch>
            </a:blipFill>
          </p:spPr>
        </p:sp>
      </p:grpSp>
      <p:grpSp>
        <p:nvGrpSpPr>
          <p:cNvPr name="Group 18" id="18"/>
          <p:cNvGrpSpPr/>
          <p:nvPr/>
        </p:nvGrpSpPr>
        <p:grpSpPr>
          <a:xfrm rot="0">
            <a:off x="2194560" y="3120104"/>
            <a:ext cx="5486400" cy="555784"/>
            <a:chOff x="0" y="0"/>
            <a:chExt cx="7315200" cy="741045"/>
          </a:xfrm>
        </p:grpSpPr>
        <p:sp>
          <p:nvSpPr>
            <p:cNvPr name="Freeform 19" id="19"/>
            <p:cNvSpPr/>
            <p:nvPr/>
          </p:nvSpPr>
          <p:spPr>
            <a:xfrm flipH="false" flipV="false" rot="0">
              <a:off x="0" y="0"/>
              <a:ext cx="7315200" cy="741045"/>
            </a:xfrm>
            <a:custGeom>
              <a:avLst/>
              <a:gdLst/>
              <a:ahLst/>
              <a:cxnLst/>
              <a:rect r="r" b="b" t="t" l="l"/>
              <a:pathLst>
                <a:path h="741045" w="7315200">
                  <a:moveTo>
                    <a:pt x="0" y="0"/>
                  </a:moveTo>
                  <a:lnTo>
                    <a:pt x="7315200" y="0"/>
                  </a:lnTo>
                  <a:lnTo>
                    <a:pt x="7315200" y="741045"/>
                  </a:lnTo>
                  <a:lnTo>
                    <a:pt x="0" y="741045"/>
                  </a:lnTo>
                  <a:close/>
                </a:path>
              </a:pathLst>
            </a:custGeom>
            <a:blipFill>
              <a:blip r:embed="rId4">
                <a:alphaModFix amt="0"/>
              </a:blip>
              <a:stretch>
                <a:fillRect l="0" t="-142345" r="0" b="-142345"/>
              </a:stretch>
            </a:blipFill>
          </p:spPr>
        </p:sp>
        <p:sp>
          <p:nvSpPr>
            <p:cNvPr name="TextBox 20" id="20"/>
            <p:cNvSpPr txBox="true"/>
            <p:nvPr/>
          </p:nvSpPr>
          <p:spPr>
            <a:xfrm>
              <a:off x="0" y="-9525"/>
              <a:ext cx="7315200" cy="750570"/>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Conclusion</a:t>
              </a:r>
            </a:p>
          </p:txBody>
        </p:sp>
      </p:grpSp>
      <p:grpSp>
        <p:nvGrpSpPr>
          <p:cNvPr name="Group 21" id="21"/>
          <p:cNvGrpSpPr/>
          <p:nvPr/>
        </p:nvGrpSpPr>
        <p:grpSpPr>
          <a:xfrm rot="0">
            <a:off x="1303020" y="3909060"/>
            <a:ext cx="7200900" cy="4663440"/>
            <a:chOff x="0" y="0"/>
            <a:chExt cx="9601200" cy="6217920"/>
          </a:xfrm>
        </p:grpSpPr>
        <p:sp>
          <p:nvSpPr>
            <p:cNvPr name="Freeform 22" id="22"/>
            <p:cNvSpPr/>
            <p:nvPr/>
          </p:nvSpPr>
          <p:spPr>
            <a:xfrm flipH="false" flipV="false" rot="0">
              <a:off x="0" y="0"/>
              <a:ext cx="9601200" cy="6217920"/>
            </a:xfrm>
            <a:custGeom>
              <a:avLst/>
              <a:gdLst/>
              <a:ahLst/>
              <a:cxnLst/>
              <a:rect r="r" b="b" t="t" l="l"/>
              <a:pathLst>
                <a:path h="6217920" w="9601200">
                  <a:moveTo>
                    <a:pt x="0" y="0"/>
                  </a:moveTo>
                  <a:lnTo>
                    <a:pt x="9601200" y="0"/>
                  </a:lnTo>
                  <a:lnTo>
                    <a:pt x="9601200" y="6217920"/>
                  </a:lnTo>
                  <a:lnTo>
                    <a:pt x="0" y="6217920"/>
                  </a:lnTo>
                  <a:close/>
                </a:path>
              </a:pathLst>
            </a:custGeom>
            <a:blipFill>
              <a:blip r:embed="rId3">
                <a:alphaModFix amt="0"/>
              </a:blip>
              <a:stretch>
                <a:fillRect l="-33149" t="0" r="-33149" b="0"/>
              </a:stretch>
            </a:blipFill>
          </p:spPr>
        </p:sp>
      </p:grpSp>
      <p:grpSp>
        <p:nvGrpSpPr>
          <p:cNvPr name="Group 23" id="23"/>
          <p:cNvGrpSpPr/>
          <p:nvPr/>
        </p:nvGrpSpPr>
        <p:grpSpPr>
          <a:xfrm rot="0">
            <a:off x="1303020" y="3837622"/>
            <a:ext cx="7200900" cy="4734878"/>
            <a:chOff x="0" y="0"/>
            <a:chExt cx="9601200" cy="6313170"/>
          </a:xfrm>
        </p:grpSpPr>
        <p:sp>
          <p:nvSpPr>
            <p:cNvPr name="Freeform 24" id="24"/>
            <p:cNvSpPr/>
            <p:nvPr/>
          </p:nvSpPr>
          <p:spPr>
            <a:xfrm flipH="false" flipV="false" rot="0">
              <a:off x="0" y="0"/>
              <a:ext cx="9601200" cy="6313170"/>
            </a:xfrm>
            <a:custGeom>
              <a:avLst/>
              <a:gdLst/>
              <a:ahLst/>
              <a:cxnLst/>
              <a:rect r="r" b="b" t="t" l="l"/>
              <a:pathLst>
                <a:path h="6313170" w="9601200">
                  <a:moveTo>
                    <a:pt x="0" y="0"/>
                  </a:moveTo>
                  <a:lnTo>
                    <a:pt x="9601200" y="0"/>
                  </a:lnTo>
                  <a:lnTo>
                    <a:pt x="9601200" y="6313170"/>
                  </a:lnTo>
                  <a:lnTo>
                    <a:pt x="0" y="6313170"/>
                  </a:lnTo>
                  <a:close/>
                </a:path>
              </a:pathLst>
            </a:custGeom>
            <a:blipFill>
              <a:blip r:embed="rId4">
                <a:alphaModFix amt="0"/>
              </a:blip>
              <a:stretch>
                <a:fillRect l="-34364" t="0" r="-34364" b="0"/>
              </a:stretch>
            </a:blipFill>
          </p:spPr>
        </p:sp>
        <p:sp>
          <p:nvSpPr>
            <p:cNvPr name="TextBox 25" id="25"/>
            <p:cNvSpPr txBox="true"/>
            <p:nvPr/>
          </p:nvSpPr>
          <p:spPr>
            <a:xfrm>
              <a:off x="0" y="-95250"/>
              <a:ext cx="9601200" cy="6408420"/>
            </a:xfrm>
            <a:prstGeom prst="rect">
              <a:avLst/>
            </a:prstGeom>
          </p:spPr>
          <p:txBody>
            <a:bodyPr anchor="ctr" rtlCol="false" tIns="0" lIns="0" bIns="0" rIns="0"/>
            <a:lstStyle/>
            <a:p>
              <a:pPr algn="l">
                <a:lnSpc>
                  <a:spcPts val="3036"/>
                </a:lnSpc>
              </a:pPr>
              <a:r>
                <a:rPr lang="en-US" sz="2025">
                  <a:solidFill>
                    <a:srgbClr val="44506B"/>
                  </a:solidFill>
                  <a:latin typeface="Calibri (MS)"/>
                  <a:ea typeface="Calibri (MS)"/>
                  <a:cs typeface="Calibri (MS)"/>
                  <a:sym typeface="Calibri (MS)"/>
                </a:rPr>
                <a:t>This project demonstrated the complete ML lifecycle — from raw data to a deployed web application. Logistic Regression achieved the best performance at 78.86% accuracy, reinforcing that model complexity should match dataset size. Credit history emerged as the dominant predictive factor, and the Streamlit app provides a real, usable foundation for a loan pre-screening tool.</a:t>
              </a:r>
            </a:p>
          </p:txBody>
        </p:sp>
      </p:grpSp>
      <p:grpSp>
        <p:nvGrpSpPr>
          <p:cNvPr name="Group 26" id="26"/>
          <p:cNvGrpSpPr/>
          <p:nvPr/>
        </p:nvGrpSpPr>
        <p:grpSpPr>
          <a:xfrm rot="0">
            <a:off x="9326880" y="2606040"/>
            <a:ext cx="8092440" cy="6309360"/>
            <a:chOff x="0" y="0"/>
            <a:chExt cx="10789920" cy="8412480"/>
          </a:xfrm>
        </p:grpSpPr>
        <p:sp>
          <p:nvSpPr>
            <p:cNvPr name="Freeform 27" id="27"/>
            <p:cNvSpPr/>
            <p:nvPr/>
          </p:nvSpPr>
          <p:spPr>
            <a:xfrm flipH="false" flipV="false" rot="0">
              <a:off x="0" y="0"/>
              <a:ext cx="10789920" cy="8412480"/>
            </a:xfrm>
            <a:custGeom>
              <a:avLst/>
              <a:gdLst/>
              <a:ahLst/>
              <a:cxnLst/>
              <a:rect r="r" b="b" t="t" l="l"/>
              <a:pathLst>
                <a:path h="8412480" w="10789920">
                  <a:moveTo>
                    <a:pt x="0" y="182880"/>
                  </a:moveTo>
                  <a:cubicBezTo>
                    <a:pt x="0" y="81915"/>
                    <a:pt x="81915" y="0"/>
                    <a:pt x="182880" y="0"/>
                  </a:cubicBezTo>
                  <a:lnTo>
                    <a:pt x="10607040" y="0"/>
                  </a:lnTo>
                  <a:cubicBezTo>
                    <a:pt x="10708005" y="0"/>
                    <a:pt x="10789920" y="81915"/>
                    <a:pt x="10789920" y="182880"/>
                  </a:cubicBezTo>
                  <a:lnTo>
                    <a:pt x="10789920" y="8229600"/>
                  </a:lnTo>
                  <a:cubicBezTo>
                    <a:pt x="10789920" y="8330565"/>
                    <a:pt x="10708005" y="8412480"/>
                    <a:pt x="10607040" y="8412480"/>
                  </a:cubicBezTo>
                  <a:lnTo>
                    <a:pt x="182880" y="8412480"/>
                  </a:lnTo>
                  <a:cubicBezTo>
                    <a:pt x="81915" y="8412480"/>
                    <a:pt x="0" y="8330565"/>
                    <a:pt x="0" y="8229600"/>
                  </a:cubicBezTo>
                  <a:close/>
                </a:path>
              </a:pathLst>
            </a:custGeom>
            <a:solidFill>
              <a:srgbClr val="1E2761"/>
            </a:solidFill>
          </p:spPr>
        </p:sp>
      </p:grpSp>
      <p:grpSp>
        <p:nvGrpSpPr>
          <p:cNvPr name="Group 28" id="28"/>
          <p:cNvGrpSpPr/>
          <p:nvPr/>
        </p:nvGrpSpPr>
        <p:grpSpPr>
          <a:xfrm rot="0">
            <a:off x="9806940" y="2880360"/>
            <a:ext cx="5486400" cy="548640"/>
            <a:chOff x="0" y="0"/>
            <a:chExt cx="7315200" cy="731520"/>
          </a:xfrm>
        </p:grpSpPr>
        <p:sp>
          <p:nvSpPr>
            <p:cNvPr name="Freeform 29" id="29"/>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715" r="0" b="-144715"/>
              </a:stretch>
            </a:blipFill>
          </p:spPr>
        </p:sp>
      </p:grpSp>
      <p:grpSp>
        <p:nvGrpSpPr>
          <p:cNvPr name="Group 30" id="30"/>
          <p:cNvGrpSpPr/>
          <p:nvPr/>
        </p:nvGrpSpPr>
        <p:grpSpPr>
          <a:xfrm rot="0">
            <a:off x="9806940" y="2873216"/>
            <a:ext cx="5486400" cy="555784"/>
            <a:chOff x="0" y="0"/>
            <a:chExt cx="7315200" cy="741045"/>
          </a:xfrm>
        </p:grpSpPr>
        <p:sp>
          <p:nvSpPr>
            <p:cNvPr name="Freeform 31" id="31"/>
            <p:cNvSpPr/>
            <p:nvPr/>
          </p:nvSpPr>
          <p:spPr>
            <a:xfrm flipH="false" flipV="false" rot="0">
              <a:off x="0" y="0"/>
              <a:ext cx="7315200" cy="741045"/>
            </a:xfrm>
            <a:custGeom>
              <a:avLst/>
              <a:gdLst/>
              <a:ahLst/>
              <a:cxnLst/>
              <a:rect r="r" b="b" t="t" l="l"/>
              <a:pathLst>
                <a:path h="741045" w="7315200">
                  <a:moveTo>
                    <a:pt x="0" y="0"/>
                  </a:moveTo>
                  <a:lnTo>
                    <a:pt x="7315200" y="0"/>
                  </a:lnTo>
                  <a:lnTo>
                    <a:pt x="7315200" y="741045"/>
                  </a:lnTo>
                  <a:lnTo>
                    <a:pt x="0" y="741045"/>
                  </a:lnTo>
                  <a:close/>
                </a:path>
              </a:pathLst>
            </a:custGeom>
            <a:blipFill>
              <a:blip r:embed="rId4">
                <a:alphaModFix amt="0"/>
              </a:blip>
              <a:stretch>
                <a:fillRect l="0" t="-142345" r="0" b="-142345"/>
              </a:stretch>
            </a:blipFill>
          </p:spPr>
        </p:sp>
        <p:sp>
          <p:nvSpPr>
            <p:cNvPr name="TextBox 32" id="32"/>
            <p:cNvSpPr txBox="true"/>
            <p:nvPr/>
          </p:nvSpPr>
          <p:spPr>
            <a:xfrm>
              <a:off x="0" y="-9525"/>
              <a:ext cx="7315200" cy="750570"/>
            </a:xfrm>
            <a:prstGeom prst="rect">
              <a:avLst/>
            </a:prstGeom>
          </p:spPr>
          <p:txBody>
            <a:bodyPr anchor="ctr" rtlCol="false" tIns="0" lIns="0" bIns="0" rIns="0"/>
            <a:lstStyle/>
            <a:p>
              <a:pPr algn="l">
                <a:lnSpc>
                  <a:spcPts val="3060"/>
                </a:lnSpc>
              </a:pPr>
              <a:r>
                <a:rPr lang="en-US" sz="2550" b="true">
                  <a:solidFill>
                    <a:srgbClr val="FFFFFF"/>
                  </a:solidFill>
                  <a:latin typeface="Cambria Bold"/>
                  <a:ea typeface="Cambria Bold"/>
                  <a:cs typeface="Cambria Bold"/>
                  <a:sym typeface="Cambria Bold"/>
                </a:rPr>
                <a:t>Future Scope</a:t>
              </a:r>
            </a:p>
          </p:txBody>
        </p:sp>
      </p:grpSp>
      <p:grpSp>
        <p:nvGrpSpPr>
          <p:cNvPr name="Group 33" id="33"/>
          <p:cNvGrpSpPr/>
          <p:nvPr/>
        </p:nvGrpSpPr>
        <p:grpSpPr>
          <a:xfrm rot="0">
            <a:off x="9806940" y="3634740"/>
            <a:ext cx="2194560" cy="480060"/>
            <a:chOff x="0" y="0"/>
            <a:chExt cx="2926080" cy="640080"/>
          </a:xfrm>
        </p:grpSpPr>
        <p:sp>
          <p:nvSpPr>
            <p:cNvPr name="Freeform 34" id="34"/>
            <p:cNvSpPr/>
            <p:nvPr/>
          </p:nvSpPr>
          <p:spPr>
            <a:xfrm flipH="false" flipV="false" rot="0">
              <a:off x="0" y="0"/>
              <a:ext cx="2926080" cy="640080"/>
            </a:xfrm>
            <a:custGeom>
              <a:avLst/>
              <a:gdLst/>
              <a:ahLst/>
              <a:cxnLst/>
              <a:rect r="r" b="b" t="t" l="l"/>
              <a:pathLst>
                <a:path h="640080" w="2926080">
                  <a:moveTo>
                    <a:pt x="0" y="0"/>
                  </a:moveTo>
                  <a:lnTo>
                    <a:pt x="2926080" y="0"/>
                  </a:lnTo>
                  <a:lnTo>
                    <a:pt x="2926080" y="640080"/>
                  </a:lnTo>
                  <a:lnTo>
                    <a:pt x="0" y="640080"/>
                  </a:lnTo>
                  <a:close/>
                </a:path>
              </a:pathLst>
            </a:custGeom>
            <a:blipFill>
              <a:blip r:embed="rId3">
                <a:alphaModFix amt="0"/>
              </a:blip>
              <a:stretch>
                <a:fillRect l="0" t="-39011" r="0" b="-39013"/>
              </a:stretch>
            </a:blipFill>
          </p:spPr>
        </p:sp>
      </p:grpSp>
      <p:grpSp>
        <p:nvGrpSpPr>
          <p:cNvPr name="Group 35" id="35"/>
          <p:cNvGrpSpPr/>
          <p:nvPr/>
        </p:nvGrpSpPr>
        <p:grpSpPr>
          <a:xfrm rot="0">
            <a:off x="9806940" y="3599021"/>
            <a:ext cx="2194560" cy="515779"/>
            <a:chOff x="0" y="0"/>
            <a:chExt cx="2926080" cy="687705"/>
          </a:xfrm>
        </p:grpSpPr>
        <p:sp>
          <p:nvSpPr>
            <p:cNvPr name="Freeform 36" id="36"/>
            <p:cNvSpPr/>
            <p:nvPr/>
          </p:nvSpPr>
          <p:spPr>
            <a:xfrm flipH="false" flipV="false" rot="0">
              <a:off x="0" y="0"/>
              <a:ext cx="2926080" cy="687705"/>
            </a:xfrm>
            <a:custGeom>
              <a:avLst/>
              <a:gdLst/>
              <a:ahLst/>
              <a:cxnLst/>
              <a:rect r="r" b="b" t="t" l="l"/>
              <a:pathLst>
                <a:path h="687705" w="2926080">
                  <a:moveTo>
                    <a:pt x="0" y="0"/>
                  </a:moveTo>
                  <a:lnTo>
                    <a:pt x="2926080" y="0"/>
                  </a:lnTo>
                  <a:lnTo>
                    <a:pt x="2926080" y="687705"/>
                  </a:lnTo>
                  <a:lnTo>
                    <a:pt x="0" y="687705"/>
                  </a:lnTo>
                  <a:close/>
                </a:path>
              </a:pathLst>
            </a:custGeom>
            <a:blipFill>
              <a:blip r:embed="rId4">
                <a:alphaModFix amt="0"/>
              </a:blip>
              <a:stretch>
                <a:fillRect l="0" t="-32905" r="0" b="-32905"/>
              </a:stretch>
            </a:blipFill>
          </p:spPr>
        </p:sp>
        <p:sp>
          <p:nvSpPr>
            <p:cNvPr name="TextBox 37" id="37"/>
            <p:cNvSpPr txBox="true"/>
            <p:nvPr/>
          </p:nvSpPr>
          <p:spPr>
            <a:xfrm>
              <a:off x="0" y="-47625"/>
              <a:ext cx="2926080" cy="735330"/>
            </a:xfrm>
            <a:prstGeom prst="rect">
              <a:avLst/>
            </a:prstGeom>
          </p:spPr>
          <p:txBody>
            <a:bodyPr anchor="ctr" rtlCol="false" tIns="0" lIns="0" bIns="0" rIns="0"/>
            <a:lstStyle/>
            <a:p>
              <a:pPr algn="l">
                <a:lnSpc>
                  <a:spcPts val="2340"/>
                </a:lnSpc>
              </a:pPr>
              <a:r>
                <a:rPr lang="en-US" sz="1950" b="true">
                  <a:solidFill>
                    <a:srgbClr val="CADCFC"/>
                  </a:solidFill>
                  <a:latin typeface="Calibri (MS) Bold"/>
                  <a:ea typeface="Calibri (MS) Bold"/>
                  <a:cs typeface="Calibri (MS) Bold"/>
                  <a:sym typeface="Calibri (MS) Bold"/>
                </a:rPr>
                <a:t>Short-term:</a:t>
              </a:r>
            </a:p>
          </p:txBody>
        </p:sp>
      </p:grpSp>
      <p:grpSp>
        <p:nvGrpSpPr>
          <p:cNvPr name="Group 38" id="38"/>
          <p:cNvGrpSpPr/>
          <p:nvPr/>
        </p:nvGrpSpPr>
        <p:grpSpPr>
          <a:xfrm rot="0">
            <a:off x="9806940" y="4114800"/>
            <a:ext cx="7269480" cy="1028700"/>
            <a:chOff x="0" y="0"/>
            <a:chExt cx="9692640" cy="1371600"/>
          </a:xfrm>
        </p:grpSpPr>
        <p:sp>
          <p:nvSpPr>
            <p:cNvPr name="Freeform 39" id="39"/>
            <p:cNvSpPr/>
            <p:nvPr/>
          </p:nvSpPr>
          <p:spPr>
            <a:xfrm flipH="false" flipV="false" rot="0">
              <a:off x="0" y="0"/>
              <a:ext cx="9692640" cy="1371600"/>
            </a:xfrm>
            <a:custGeom>
              <a:avLst/>
              <a:gdLst/>
              <a:ahLst/>
              <a:cxnLst/>
              <a:rect r="r" b="b" t="t" l="l"/>
              <a:pathLst>
                <a:path h="1371600" w="9692640">
                  <a:moveTo>
                    <a:pt x="0" y="0"/>
                  </a:moveTo>
                  <a:lnTo>
                    <a:pt x="9692640" y="0"/>
                  </a:lnTo>
                  <a:lnTo>
                    <a:pt x="9692640" y="1371600"/>
                  </a:lnTo>
                  <a:lnTo>
                    <a:pt x="0" y="1371600"/>
                  </a:lnTo>
                  <a:close/>
                </a:path>
              </a:pathLst>
            </a:custGeom>
            <a:blipFill>
              <a:blip r:embed="rId3">
                <a:alphaModFix amt="0"/>
              </a:blip>
              <a:stretch>
                <a:fillRect l="0" t="-87598" r="0" b="-87599"/>
              </a:stretch>
            </a:blipFill>
          </p:spPr>
        </p:sp>
      </p:grpSp>
      <p:grpSp>
        <p:nvGrpSpPr>
          <p:cNvPr name="Group 40" id="40"/>
          <p:cNvGrpSpPr/>
          <p:nvPr/>
        </p:nvGrpSpPr>
        <p:grpSpPr>
          <a:xfrm rot="0">
            <a:off x="9806940" y="4064794"/>
            <a:ext cx="7269480" cy="1078706"/>
            <a:chOff x="0" y="0"/>
            <a:chExt cx="9692640" cy="1438275"/>
          </a:xfrm>
        </p:grpSpPr>
        <p:sp>
          <p:nvSpPr>
            <p:cNvPr name="Freeform 41" id="41"/>
            <p:cNvSpPr/>
            <p:nvPr/>
          </p:nvSpPr>
          <p:spPr>
            <a:xfrm flipH="false" flipV="false" rot="0">
              <a:off x="0" y="0"/>
              <a:ext cx="9692640" cy="1438275"/>
            </a:xfrm>
            <a:custGeom>
              <a:avLst/>
              <a:gdLst/>
              <a:ahLst/>
              <a:cxnLst/>
              <a:rect r="r" b="b" t="t" l="l"/>
              <a:pathLst>
                <a:path h="1438275" w="9692640">
                  <a:moveTo>
                    <a:pt x="0" y="0"/>
                  </a:moveTo>
                  <a:lnTo>
                    <a:pt x="9692640" y="0"/>
                  </a:lnTo>
                  <a:lnTo>
                    <a:pt x="9692640" y="1438275"/>
                  </a:lnTo>
                  <a:lnTo>
                    <a:pt x="0" y="1438275"/>
                  </a:lnTo>
                  <a:close/>
                </a:path>
              </a:pathLst>
            </a:custGeom>
            <a:blipFill>
              <a:blip r:embed="rId4">
                <a:alphaModFix amt="0"/>
              </a:blip>
              <a:stretch>
                <a:fillRect l="0" t="-81311" r="0" b="-81311"/>
              </a:stretch>
            </a:blipFill>
          </p:spPr>
        </p:sp>
        <p:sp>
          <p:nvSpPr>
            <p:cNvPr name="TextBox 42" id="42"/>
            <p:cNvSpPr txBox="true"/>
            <p:nvPr/>
          </p:nvSpPr>
          <p:spPr>
            <a:xfrm>
              <a:off x="0" y="-66675"/>
              <a:ext cx="9692640" cy="1504950"/>
            </a:xfrm>
            <a:prstGeom prst="rect">
              <a:avLst/>
            </a:prstGeom>
          </p:spPr>
          <p:txBody>
            <a:bodyPr anchor="ctr" rtlCol="false" tIns="0" lIns="0" bIns="0" rIns="0"/>
            <a:lstStyle/>
            <a:p>
              <a:pPr algn="l">
                <a:lnSpc>
                  <a:spcPts val="2483"/>
                </a:lnSpc>
              </a:pPr>
              <a:r>
                <a:rPr lang="en-US" sz="1800">
                  <a:solidFill>
                    <a:srgbClr val="E4E9F7"/>
                  </a:solidFill>
                  <a:latin typeface="Calibri (MS)"/>
                  <a:ea typeface="Calibri (MS)"/>
                  <a:cs typeface="Calibri (MS)"/>
                  <a:sym typeface="Calibri (MS)"/>
                </a:rPr>
                <a:t>Hyperparameter tuning, SMOTE for class imbalance, debt-to-income feature, k-fold CV</a:t>
              </a:r>
            </a:p>
          </p:txBody>
        </p:sp>
      </p:grpSp>
      <p:grpSp>
        <p:nvGrpSpPr>
          <p:cNvPr name="Group 43" id="43"/>
          <p:cNvGrpSpPr/>
          <p:nvPr/>
        </p:nvGrpSpPr>
        <p:grpSpPr>
          <a:xfrm rot="0">
            <a:off x="9806940" y="5349240"/>
            <a:ext cx="2194560" cy="480060"/>
            <a:chOff x="0" y="0"/>
            <a:chExt cx="2926080" cy="640080"/>
          </a:xfrm>
        </p:grpSpPr>
        <p:sp>
          <p:nvSpPr>
            <p:cNvPr name="Freeform 44" id="44"/>
            <p:cNvSpPr/>
            <p:nvPr/>
          </p:nvSpPr>
          <p:spPr>
            <a:xfrm flipH="false" flipV="false" rot="0">
              <a:off x="0" y="0"/>
              <a:ext cx="2926080" cy="640080"/>
            </a:xfrm>
            <a:custGeom>
              <a:avLst/>
              <a:gdLst/>
              <a:ahLst/>
              <a:cxnLst/>
              <a:rect r="r" b="b" t="t" l="l"/>
              <a:pathLst>
                <a:path h="640080" w="2926080">
                  <a:moveTo>
                    <a:pt x="0" y="0"/>
                  </a:moveTo>
                  <a:lnTo>
                    <a:pt x="2926080" y="0"/>
                  </a:lnTo>
                  <a:lnTo>
                    <a:pt x="2926080" y="640080"/>
                  </a:lnTo>
                  <a:lnTo>
                    <a:pt x="0" y="640080"/>
                  </a:lnTo>
                  <a:close/>
                </a:path>
              </a:pathLst>
            </a:custGeom>
            <a:blipFill>
              <a:blip r:embed="rId3">
                <a:alphaModFix amt="0"/>
              </a:blip>
              <a:stretch>
                <a:fillRect l="0" t="-39011" r="0" b="-39013"/>
              </a:stretch>
            </a:blipFill>
          </p:spPr>
        </p:sp>
      </p:grpSp>
      <p:grpSp>
        <p:nvGrpSpPr>
          <p:cNvPr name="Group 45" id="45"/>
          <p:cNvGrpSpPr/>
          <p:nvPr/>
        </p:nvGrpSpPr>
        <p:grpSpPr>
          <a:xfrm rot="0">
            <a:off x="9806940" y="5313521"/>
            <a:ext cx="2194560" cy="515779"/>
            <a:chOff x="0" y="0"/>
            <a:chExt cx="2926080" cy="687705"/>
          </a:xfrm>
        </p:grpSpPr>
        <p:sp>
          <p:nvSpPr>
            <p:cNvPr name="Freeform 46" id="46"/>
            <p:cNvSpPr/>
            <p:nvPr/>
          </p:nvSpPr>
          <p:spPr>
            <a:xfrm flipH="false" flipV="false" rot="0">
              <a:off x="0" y="0"/>
              <a:ext cx="2926080" cy="687705"/>
            </a:xfrm>
            <a:custGeom>
              <a:avLst/>
              <a:gdLst/>
              <a:ahLst/>
              <a:cxnLst/>
              <a:rect r="r" b="b" t="t" l="l"/>
              <a:pathLst>
                <a:path h="687705" w="2926080">
                  <a:moveTo>
                    <a:pt x="0" y="0"/>
                  </a:moveTo>
                  <a:lnTo>
                    <a:pt x="2926080" y="0"/>
                  </a:lnTo>
                  <a:lnTo>
                    <a:pt x="2926080" y="687705"/>
                  </a:lnTo>
                  <a:lnTo>
                    <a:pt x="0" y="687705"/>
                  </a:lnTo>
                  <a:close/>
                </a:path>
              </a:pathLst>
            </a:custGeom>
            <a:blipFill>
              <a:blip r:embed="rId4">
                <a:alphaModFix amt="0"/>
              </a:blip>
              <a:stretch>
                <a:fillRect l="0" t="-32905" r="0" b="-32905"/>
              </a:stretch>
            </a:blipFill>
          </p:spPr>
        </p:sp>
        <p:sp>
          <p:nvSpPr>
            <p:cNvPr name="TextBox 47" id="47"/>
            <p:cNvSpPr txBox="true"/>
            <p:nvPr/>
          </p:nvSpPr>
          <p:spPr>
            <a:xfrm>
              <a:off x="0" y="-47625"/>
              <a:ext cx="2926080" cy="735330"/>
            </a:xfrm>
            <a:prstGeom prst="rect">
              <a:avLst/>
            </a:prstGeom>
          </p:spPr>
          <p:txBody>
            <a:bodyPr anchor="ctr" rtlCol="false" tIns="0" lIns="0" bIns="0" rIns="0"/>
            <a:lstStyle/>
            <a:p>
              <a:pPr algn="l">
                <a:lnSpc>
                  <a:spcPts val="2340"/>
                </a:lnSpc>
              </a:pPr>
              <a:r>
                <a:rPr lang="en-US" sz="1950" b="true">
                  <a:solidFill>
                    <a:srgbClr val="CADCFC"/>
                  </a:solidFill>
                  <a:latin typeface="Calibri (MS) Bold"/>
                  <a:ea typeface="Calibri (MS) Bold"/>
                  <a:cs typeface="Calibri (MS) Bold"/>
                  <a:sym typeface="Calibri (MS) Bold"/>
                </a:rPr>
                <a:t>Medium-term:</a:t>
              </a:r>
            </a:p>
          </p:txBody>
        </p:sp>
      </p:grpSp>
      <p:grpSp>
        <p:nvGrpSpPr>
          <p:cNvPr name="Group 48" id="48"/>
          <p:cNvGrpSpPr/>
          <p:nvPr/>
        </p:nvGrpSpPr>
        <p:grpSpPr>
          <a:xfrm rot="0">
            <a:off x="9806940" y="5829300"/>
            <a:ext cx="7269480" cy="1028700"/>
            <a:chOff x="0" y="0"/>
            <a:chExt cx="9692640" cy="1371600"/>
          </a:xfrm>
        </p:grpSpPr>
        <p:sp>
          <p:nvSpPr>
            <p:cNvPr name="Freeform 49" id="49"/>
            <p:cNvSpPr/>
            <p:nvPr/>
          </p:nvSpPr>
          <p:spPr>
            <a:xfrm flipH="false" flipV="false" rot="0">
              <a:off x="0" y="0"/>
              <a:ext cx="9692640" cy="1371600"/>
            </a:xfrm>
            <a:custGeom>
              <a:avLst/>
              <a:gdLst/>
              <a:ahLst/>
              <a:cxnLst/>
              <a:rect r="r" b="b" t="t" l="l"/>
              <a:pathLst>
                <a:path h="1371600" w="9692640">
                  <a:moveTo>
                    <a:pt x="0" y="0"/>
                  </a:moveTo>
                  <a:lnTo>
                    <a:pt x="9692640" y="0"/>
                  </a:lnTo>
                  <a:lnTo>
                    <a:pt x="9692640" y="1371600"/>
                  </a:lnTo>
                  <a:lnTo>
                    <a:pt x="0" y="1371600"/>
                  </a:lnTo>
                  <a:close/>
                </a:path>
              </a:pathLst>
            </a:custGeom>
            <a:blipFill>
              <a:blip r:embed="rId3">
                <a:alphaModFix amt="0"/>
              </a:blip>
              <a:stretch>
                <a:fillRect l="0" t="-87598" r="0" b="-87599"/>
              </a:stretch>
            </a:blipFill>
          </p:spPr>
        </p:sp>
      </p:grpSp>
      <p:grpSp>
        <p:nvGrpSpPr>
          <p:cNvPr name="Group 50" id="50"/>
          <p:cNvGrpSpPr/>
          <p:nvPr/>
        </p:nvGrpSpPr>
        <p:grpSpPr>
          <a:xfrm rot="0">
            <a:off x="9806940" y="5779294"/>
            <a:ext cx="7269480" cy="1078706"/>
            <a:chOff x="0" y="0"/>
            <a:chExt cx="9692640" cy="1438275"/>
          </a:xfrm>
        </p:grpSpPr>
        <p:sp>
          <p:nvSpPr>
            <p:cNvPr name="Freeform 51" id="51"/>
            <p:cNvSpPr/>
            <p:nvPr/>
          </p:nvSpPr>
          <p:spPr>
            <a:xfrm flipH="false" flipV="false" rot="0">
              <a:off x="0" y="0"/>
              <a:ext cx="9692640" cy="1438275"/>
            </a:xfrm>
            <a:custGeom>
              <a:avLst/>
              <a:gdLst/>
              <a:ahLst/>
              <a:cxnLst/>
              <a:rect r="r" b="b" t="t" l="l"/>
              <a:pathLst>
                <a:path h="1438275" w="9692640">
                  <a:moveTo>
                    <a:pt x="0" y="0"/>
                  </a:moveTo>
                  <a:lnTo>
                    <a:pt x="9692640" y="0"/>
                  </a:lnTo>
                  <a:lnTo>
                    <a:pt x="9692640" y="1438275"/>
                  </a:lnTo>
                  <a:lnTo>
                    <a:pt x="0" y="1438275"/>
                  </a:lnTo>
                  <a:close/>
                </a:path>
              </a:pathLst>
            </a:custGeom>
            <a:blipFill>
              <a:blip r:embed="rId4">
                <a:alphaModFix amt="0"/>
              </a:blip>
              <a:stretch>
                <a:fillRect l="0" t="-81311" r="0" b="-81311"/>
              </a:stretch>
            </a:blipFill>
          </p:spPr>
        </p:sp>
        <p:sp>
          <p:nvSpPr>
            <p:cNvPr name="TextBox 52" id="52"/>
            <p:cNvSpPr txBox="true"/>
            <p:nvPr/>
          </p:nvSpPr>
          <p:spPr>
            <a:xfrm>
              <a:off x="0" y="-66675"/>
              <a:ext cx="9692640" cy="1504950"/>
            </a:xfrm>
            <a:prstGeom prst="rect">
              <a:avLst/>
            </a:prstGeom>
          </p:spPr>
          <p:txBody>
            <a:bodyPr anchor="ctr" rtlCol="false" tIns="0" lIns="0" bIns="0" rIns="0"/>
            <a:lstStyle/>
            <a:p>
              <a:pPr algn="l">
                <a:lnSpc>
                  <a:spcPts val="2483"/>
                </a:lnSpc>
              </a:pPr>
              <a:r>
                <a:rPr lang="en-US" sz="1800">
                  <a:solidFill>
                    <a:srgbClr val="E4E9F7"/>
                  </a:solidFill>
                  <a:latin typeface="Calibri (MS)"/>
                  <a:ea typeface="Calibri (MS)"/>
                  <a:cs typeface="Calibri (MS)"/>
                  <a:sym typeface="Calibri (MS)"/>
                </a:rPr>
                <a:t>CIBIL score integration, cloud deployment, SHAP-based explainability</a:t>
              </a:r>
            </a:p>
          </p:txBody>
        </p:sp>
      </p:grpSp>
      <p:grpSp>
        <p:nvGrpSpPr>
          <p:cNvPr name="Group 53" id="53"/>
          <p:cNvGrpSpPr/>
          <p:nvPr/>
        </p:nvGrpSpPr>
        <p:grpSpPr>
          <a:xfrm rot="0">
            <a:off x="9806940" y="7063740"/>
            <a:ext cx="2194560" cy="480060"/>
            <a:chOff x="0" y="0"/>
            <a:chExt cx="2926080" cy="640080"/>
          </a:xfrm>
        </p:grpSpPr>
        <p:sp>
          <p:nvSpPr>
            <p:cNvPr name="Freeform 54" id="54"/>
            <p:cNvSpPr/>
            <p:nvPr/>
          </p:nvSpPr>
          <p:spPr>
            <a:xfrm flipH="false" flipV="false" rot="0">
              <a:off x="0" y="0"/>
              <a:ext cx="2926080" cy="640080"/>
            </a:xfrm>
            <a:custGeom>
              <a:avLst/>
              <a:gdLst/>
              <a:ahLst/>
              <a:cxnLst/>
              <a:rect r="r" b="b" t="t" l="l"/>
              <a:pathLst>
                <a:path h="640080" w="2926080">
                  <a:moveTo>
                    <a:pt x="0" y="0"/>
                  </a:moveTo>
                  <a:lnTo>
                    <a:pt x="2926080" y="0"/>
                  </a:lnTo>
                  <a:lnTo>
                    <a:pt x="2926080" y="640080"/>
                  </a:lnTo>
                  <a:lnTo>
                    <a:pt x="0" y="640080"/>
                  </a:lnTo>
                  <a:close/>
                </a:path>
              </a:pathLst>
            </a:custGeom>
            <a:blipFill>
              <a:blip r:embed="rId3">
                <a:alphaModFix amt="0"/>
              </a:blip>
              <a:stretch>
                <a:fillRect l="0" t="-39011" r="0" b="-39013"/>
              </a:stretch>
            </a:blipFill>
          </p:spPr>
        </p:sp>
      </p:grpSp>
      <p:grpSp>
        <p:nvGrpSpPr>
          <p:cNvPr name="Group 55" id="55"/>
          <p:cNvGrpSpPr/>
          <p:nvPr/>
        </p:nvGrpSpPr>
        <p:grpSpPr>
          <a:xfrm rot="0">
            <a:off x="9806940" y="7028021"/>
            <a:ext cx="2194560" cy="515779"/>
            <a:chOff x="0" y="0"/>
            <a:chExt cx="2926080" cy="687705"/>
          </a:xfrm>
        </p:grpSpPr>
        <p:sp>
          <p:nvSpPr>
            <p:cNvPr name="Freeform 56" id="56"/>
            <p:cNvSpPr/>
            <p:nvPr/>
          </p:nvSpPr>
          <p:spPr>
            <a:xfrm flipH="false" flipV="false" rot="0">
              <a:off x="0" y="0"/>
              <a:ext cx="2926080" cy="687705"/>
            </a:xfrm>
            <a:custGeom>
              <a:avLst/>
              <a:gdLst/>
              <a:ahLst/>
              <a:cxnLst/>
              <a:rect r="r" b="b" t="t" l="l"/>
              <a:pathLst>
                <a:path h="687705" w="2926080">
                  <a:moveTo>
                    <a:pt x="0" y="0"/>
                  </a:moveTo>
                  <a:lnTo>
                    <a:pt x="2926080" y="0"/>
                  </a:lnTo>
                  <a:lnTo>
                    <a:pt x="2926080" y="687705"/>
                  </a:lnTo>
                  <a:lnTo>
                    <a:pt x="0" y="687705"/>
                  </a:lnTo>
                  <a:close/>
                </a:path>
              </a:pathLst>
            </a:custGeom>
            <a:blipFill>
              <a:blip r:embed="rId4">
                <a:alphaModFix amt="0"/>
              </a:blip>
              <a:stretch>
                <a:fillRect l="0" t="-32905" r="0" b="-32905"/>
              </a:stretch>
            </a:blipFill>
          </p:spPr>
        </p:sp>
        <p:sp>
          <p:nvSpPr>
            <p:cNvPr name="TextBox 57" id="57"/>
            <p:cNvSpPr txBox="true"/>
            <p:nvPr/>
          </p:nvSpPr>
          <p:spPr>
            <a:xfrm>
              <a:off x="0" y="-47625"/>
              <a:ext cx="2926080" cy="735330"/>
            </a:xfrm>
            <a:prstGeom prst="rect">
              <a:avLst/>
            </a:prstGeom>
          </p:spPr>
          <p:txBody>
            <a:bodyPr anchor="ctr" rtlCol="false" tIns="0" lIns="0" bIns="0" rIns="0"/>
            <a:lstStyle/>
            <a:p>
              <a:pPr algn="l">
                <a:lnSpc>
                  <a:spcPts val="2340"/>
                </a:lnSpc>
              </a:pPr>
              <a:r>
                <a:rPr lang="en-US" sz="1950" b="true">
                  <a:solidFill>
                    <a:srgbClr val="CADCFC"/>
                  </a:solidFill>
                  <a:latin typeface="Calibri (MS) Bold"/>
                  <a:ea typeface="Calibri (MS) Bold"/>
                  <a:cs typeface="Calibri (MS) Bold"/>
                  <a:sym typeface="Calibri (MS) Bold"/>
                </a:rPr>
                <a:t>Long-term:</a:t>
              </a:r>
            </a:p>
          </p:txBody>
        </p:sp>
      </p:grpSp>
      <p:grpSp>
        <p:nvGrpSpPr>
          <p:cNvPr name="Group 58" id="58"/>
          <p:cNvGrpSpPr/>
          <p:nvPr/>
        </p:nvGrpSpPr>
        <p:grpSpPr>
          <a:xfrm rot="0">
            <a:off x="9806940" y="7543800"/>
            <a:ext cx="7269480" cy="1028700"/>
            <a:chOff x="0" y="0"/>
            <a:chExt cx="9692640" cy="1371600"/>
          </a:xfrm>
        </p:grpSpPr>
        <p:sp>
          <p:nvSpPr>
            <p:cNvPr name="Freeform 59" id="59"/>
            <p:cNvSpPr/>
            <p:nvPr/>
          </p:nvSpPr>
          <p:spPr>
            <a:xfrm flipH="false" flipV="false" rot="0">
              <a:off x="0" y="0"/>
              <a:ext cx="9692640" cy="1371600"/>
            </a:xfrm>
            <a:custGeom>
              <a:avLst/>
              <a:gdLst/>
              <a:ahLst/>
              <a:cxnLst/>
              <a:rect r="r" b="b" t="t" l="l"/>
              <a:pathLst>
                <a:path h="1371600" w="9692640">
                  <a:moveTo>
                    <a:pt x="0" y="0"/>
                  </a:moveTo>
                  <a:lnTo>
                    <a:pt x="9692640" y="0"/>
                  </a:lnTo>
                  <a:lnTo>
                    <a:pt x="9692640" y="1371600"/>
                  </a:lnTo>
                  <a:lnTo>
                    <a:pt x="0" y="1371600"/>
                  </a:lnTo>
                  <a:close/>
                </a:path>
              </a:pathLst>
            </a:custGeom>
            <a:blipFill>
              <a:blip r:embed="rId3">
                <a:alphaModFix amt="0"/>
              </a:blip>
              <a:stretch>
                <a:fillRect l="0" t="-87598" r="0" b="-87599"/>
              </a:stretch>
            </a:blipFill>
          </p:spPr>
        </p:sp>
      </p:grpSp>
      <p:grpSp>
        <p:nvGrpSpPr>
          <p:cNvPr name="Group 60" id="60"/>
          <p:cNvGrpSpPr/>
          <p:nvPr/>
        </p:nvGrpSpPr>
        <p:grpSpPr>
          <a:xfrm rot="0">
            <a:off x="9806940" y="7493794"/>
            <a:ext cx="7269480" cy="1078706"/>
            <a:chOff x="0" y="0"/>
            <a:chExt cx="9692640" cy="1438275"/>
          </a:xfrm>
        </p:grpSpPr>
        <p:sp>
          <p:nvSpPr>
            <p:cNvPr name="Freeform 61" id="61"/>
            <p:cNvSpPr/>
            <p:nvPr/>
          </p:nvSpPr>
          <p:spPr>
            <a:xfrm flipH="false" flipV="false" rot="0">
              <a:off x="0" y="0"/>
              <a:ext cx="9692640" cy="1438275"/>
            </a:xfrm>
            <a:custGeom>
              <a:avLst/>
              <a:gdLst/>
              <a:ahLst/>
              <a:cxnLst/>
              <a:rect r="r" b="b" t="t" l="l"/>
              <a:pathLst>
                <a:path h="1438275" w="9692640">
                  <a:moveTo>
                    <a:pt x="0" y="0"/>
                  </a:moveTo>
                  <a:lnTo>
                    <a:pt x="9692640" y="0"/>
                  </a:lnTo>
                  <a:lnTo>
                    <a:pt x="9692640" y="1438275"/>
                  </a:lnTo>
                  <a:lnTo>
                    <a:pt x="0" y="1438275"/>
                  </a:lnTo>
                  <a:close/>
                </a:path>
              </a:pathLst>
            </a:custGeom>
            <a:blipFill>
              <a:blip r:embed="rId4">
                <a:alphaModFix amt="0"/>
              </a:blip>
              <a:stretch>
                <a:fillRect l="0" t="-81311" r="0" b="-81311"/>
              </a:stretch>
            </a:blipFill>
          </p:spPr>
        </p:sp>
        <p:sp>
          <p:nvSpPr>
            <p:cNvPr name="TextBox 62" id="62"/>
            <p:cNvSpPr txBox="true"/>
            <p:nvPr/>
          </p:nvSpPr>
          <p:spPr>
            <a:xfrm>
              <a:off x="0" y="-66675"/>
              <a:ext cx="9692640" cy="1504950"/>
            </a:xfrm>
            <a:prstGeom prst="rect">
              <a:avLst/>
            </a:prstGeom>
          </p:spPr>
          <p:txBody>
            <a:bodyPr anchor="ctr" rtlCol="false" tIns="0" lIns="0" bIns="0" rIns="0"/>
            <a:lstStyle/>
            <a:p>
              <a:pPr algn="l">
                <a:lnSpc>
                  <a:spcPts val="2483"/>
                </a:lnSpc>
              </a:pPr>
              <a:r>
                <a:rPr lang="en-US" sz="1800">
                  <a:solidFill>
                    <a:srgbClr val="E4E9F7"/>
                  </a:solidFill>
                  <a:latin typeface="Calibri (MS)"/>
                  <a:ea typeface="Calibri (MS)"/>
                  <a:cs typeface="Calibri (MS)"/>
                  <a:sym typeface="Calibri (MS)"/>
                </a:rPr>
                <a:t>Live banking API integration, deep learning, regional-language &amp; mobile support</a:t>
              </a:r>
            </a:p>
          </p:txBody>
        </p:sp>
      </p:grpSp>
      <p:grpSp>
        <p:nvGrpSpPr>
          <p:cNvPr name="Group 63" id="63"/>
          <p:cNvGrpSpPr/>
          <p:nvPr/>
        </p:nvGrpSpPr>
        <p:grpSpPr>
          <a:xfrm rot="0">
            <a:off x="685800" y="9738360"/>
            <a:ext cx="8229600" cy="411480"/>
            <a:chOff x="0" y="0"/>
            <a:chExt cx="10972800" cy="548640"/>
          </a:xfrm>
        </p:grpSpPr>
        <p:sp>
          <p:nvSpPr>
            <p:cNvPr name="Freeform 64" id="64"/>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65" id="65"/>
          <p:cNvGrpSpPr/>
          <p:nvPr/>
        </p:nvGrpSpPr>
        <p:grpSpPr>
          <a:xfrm rot="0">
            <a:off x="685800" y="9716929"/>
            <a:ext cx="8229600" cy="432911"/>
            <a:chOff x="0" y="0"/>
            <a:chExt cx="10972800" cy="577215"/>
          </a:xfrm>
        </p:grpSpPr>
        <p:sp>
          <p:nvSpPr>
            <p:cNvPr name="Freeform 66" id="66"/>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4">
                <a:alphaModFix amt="0"/>
              </a:blip>
              <a:stretch>
                <a:fillRect l="0" t="-320408" r="0" b="-320408"/>
              </a:stretch>
            </a:blipFill>
          </p:spPr>
        </p:sp>
        <p:sp>
          <p:nvSpPr>
            <p:cNvPr name="TextBox 67" id="67"/>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6E7B96"/>
                  </a:solidFill>
                  <a:latin typeface="Calibri (MS)"/>
                  <a:ea typeface="Calibri (MS)"/>
                  <a:cs typeface="Calibri (MS)"/>
                  <a:sym typeface="Calibri (MS)"/>
                </a:rPr>
                <a:t>Loan Approval Prediction System</a:t>
              </a:r>
            </a:p>
          </p:txBody>
        </p:sp>
      </p:grpSp>
      <p:grpSp>
        <p:nvGrpSpPr>
          <p:cNvPr name="Group 68" id="68"/>
          <p:cNvGrpSpPr/>
          <p:nvPr/>
        </p:nvGrpSpPr>
        <p:grpSpPr>
          <a:xfrm rot="0">
            <a:off x="16870680" y="9738360"/>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7036" t="0" r="-27034" b="0"/>
              </a:stretch>
            </a:blipFill>
          </p:spPr>
        </p:sp>
      </p:grpSp>
      <p:grpSp>
        <p:nvGrpSpPr>
          <p:cNvPr name="Group 70" id="70"/>
          <p:cNvGrpSpPr/>
          <p:nvPr/>
        </p:nvGrpSpPr>
        <p:grpSpPr>
          <a:xfrm rot="0">
            <a:off x="16870680" y="9716929"/>
            <a:ext cx="685800" cy="432911"/>
            <a:chOff x="0" y="0"/>
            <a:chExt cx="914400" cy="577215"/>
          </a:xfrm>
        </p:grpSpPr>
        <p:sp>
          <p:nvSpPr>
            <p:cNvPr name="Freeform 71" id="71"/>
            <p:cNvSpPr/>
            <p:nvPr/>
          </p:nvSpPr>
          <p:spPr>
            <a:xfrm flipH="false" flipV="false" rot="0">
              <a:off x="0" y="0"/>
              <a:ext cx="914400" cy="577215"/>
            </a:xfrm>
            <a:custGeom>
              <a:avLst/>
              <a:gdLst/>
              <a:ahLst/>
              <a:cxnLst/>
              <a:rect r="r" b="b" t="t" l="l"/>
              <a:pathLst>
                <a:path h="577215" w="914400">
                  <a:moveTo>
                    <a:pt x="0" y="0"/>
                  </a:moveTo>
                  <a:lnTo>
                    <a:pt x="914400" y="0"/>
                  </a:lnTo>
                  <a:lnTo>
                    <a:pt x="914400" y="577215"/>
                  </a:lnTo>
                  <a:lnTo>
                    <a:pt x="0" y="577215"/>
                  </a:lnTo>
                  <a:close/>
                </a:path>
              </a:pathLst>
            </a:custGeom>
            <a:blipFill>
              <a:blip r:embed="rId4">
                <a:alphaModFix amt="0"/>
              </a:blip>
              <a:stretch>
                <a:fillRect l="-30991" t="0" r="-30991" b="0"/>
              </a:stretch>
            </a:blipFill>
          </p:spPr>
        </p:sp>
        <p:sp>
          <p:nvSpPr>
            <p:cNvPr name="TextBox 72" id="72"/>
            <p:cNvSpPr txBox="true"/>
            <p:nvPr/>
          </p:nvSpPr>
          <p:spPr>
            <a:xfrm>
              <a:off x="0" y="-28575"/>
              <a:ext cx="914400" cy="605790"/>
            </a:xfrm>
            <a:prstGeom prst="rect">
              <a:avLst/>
            </a:prstGeom>
          </p:spPr>
          <p:txBody>
            <a:bodyPr anchor="ctr" rtlCol="false" tIns="0" lIns="0" bIns="0" rIns="0"/>
            <a:lstStyle/>
            <a:p>
              <a:pPr algn="r">
                <a:lnSpc>
                  <a:spcPts val="1620"/>
                </a:lnSpc>
              </a:pPr>
              <a:r>
                <a:rPr lang="en-US" sz="1350">
                  <a:solidFill>
                    <a:srgbClr val="6E7B96"/>
                  </a:solidFill>
                  <a:latin typeface="Calibri (MS)"/>
                  <a:ea typeface="Calibri (MS)"/>
                  <a:cs typeface="Calibri (MS)"/>
                  <a:sym typeface="Calibri (MS)"/>
                </a:rPr>
                <a:t>13</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2743200" y="5760720"/>
            <a:ext cx="7543800" cy="7543800"/>
            <a:chOff x="0" y="0"/>
            <a:chExt cx="10058400" cy="10058400"/>
          </a:xfrm>
        </p:grpSpPr>
        <p:sp>
          <p:nvSpPr>
            <p:cNvPr name="Freeform 3" id="3"/>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283A7A"/>
            </a:solidFill>
          </p:spPr>
        </p:sp>
      </p:grpSp>
      <p:grpSp>
        <p:nvGrpSpPr>
          <p:cNvPr name="Group 4" id="4"/>
          <p:cNvGrpSpPr/>
          <p:nvPr/>
        </p:nvGrpSpPr>
        <p:grpSpPr>
          <a:xfrm rot="0">
            <a:off x="1097280" y="3566160"/>
            <a:ext cx="13716000" cy="1645920"/>
            <a:chOff x="0" y="0"/>
            <a:chExt cx="18288000" cy="2194560"/>
          </a:xfrm>
        </p:grpSpPr>
        <p:sp>
          <p:nvSpPr>
            <p:cNvPr name="Freeform 5" id="5"/>
            <p:cNvSpPr/>
            <p:nvPr/>
          </p:nvSpPr>
          <p:spPr>
            <a:xfrm flipH="false" flipV="false" rot="0">
              <a:off x="0" y="0"/>
              <a:ext cx="18288000" cy="2194560"/>
            </a:xfrm>
            <a:custGeom>
              <a:avLst/>
              <a:gdLst/>
              <a:ahLst/>
              <a:cxnLst/>
              <a:rect r="r" b="b" t="t" l="l"/>
              <a:pathLst>
                <a:path h="2194560" w="18288000">
                  <a:moveTo>
                    <a:pt x="0" y="0"/>
                  </a:moveTo>
                  <a:lnTo>
                    <a:pt x="18288000" y="0"/>
                  </a:lnTo>
                  <a:lnTo>
                    <a:pt x="18288000" y="2194560"/>
                  </a:lnTo>
                  <a:lnTo>
                    <a:pt x="0" y="2194560"/>
                  </a:lnTo>
                  <a:close/>
                </a:path>
              </a:pathLst>
            </a:custGeom>
            <a:blipFill>
              <a:blip r:embed="rId3">
                <a:alphaModFix amt="0"/>
              </a:blip>
              <a:stretch>
                <a:fillRect l="0" t="-112262" r="0" b="-112262"/>
              </a:stretch>
            </a:blipFill>
          </p:spPr>
        </p:sp>
      </p:grpSp>
      <p:grpSp>
        <p:nvGrpSpPr>
          <p:cNvPr name="Group 6" id="6"/>
          <p:cNvGrpSpPr/>
          <p:nvPr/>
        </p:nvGrpSpPr>
        <p:grpSpPr>
          <a:xfrm rot="0">
            <a:off x="1097280" y="3559016"/>
            <a:ext cx="13716000" cy="1653064"/>
            <a:chOff x="0" y="0"/>
            <a:chExt cx="18288000" cy="2204085"/>
          </a:xfrm>
        </p:grpSpPr>
        <p:sp>
          <p:nvSpPr>
            <p:cNvPr name="Freeform 7" id="7"/>
            <p:cNvSpPr/>
            <p:nvPr/>
          </p:nvSpPr>
          <p:spPr>
            <a:xfrm flipH="false" flipV="false" rot="0">
              <a:off x="0" y="0"/>
              <a:ext cx="18288000" cy="2204085"/>
            </a:xfrm>
            <a:custGeom>
              <a:avLst/>
              <a:gdLst/>
              <a:ahLst/>
              <a:cxnLst/>
              <a:rect r="r" b="b" t="t" l="l"/>
              <a:pathLst>
                <a:path h="2204085" w="18288000">
                  <a:moveTo>
                    <a:pt x="0" y="0"/>
                  </a:moveTo>
                  <a:lnTo>
                    <a:pt x="18288000" y="0"/>
                  </a:lnTo>
                  <a:lnTo>
                    <a:pt x="18288000" y="2204085"/>
                  </a:lnTo>
                  <a:lnTo>
                    <a:pt x="0" y="2204085"/>
                  </a:lnTo>
                  <a:close/>
                </a:path>
              </a:pathLst>
            </a:custGeom>
            <a:blipFill>
              <a:blip r:embed="rId4">
                <a:alphaModFix amt="0"/>
              </a:blip>
              <a:stretch>
                <a:fillRect l="0" t="-111673" r="0" b="-111673"/>
              </a:stretch>
            </a:blipFill>
          </p:spPr>
        </p:sp>
        <p:sp>
          <p:nvSpPr>
            <p:cNvPr name="TextBox 8" id="8"/>
            <p:cNvSpPr txBox="true"/>
            <p:nvPr/>
          </p:nvSpPr>
          <p:spPr>
            <a:xfrm>
              <a:off x="0" y="-9525"/>
              <a:ext cx="18288000" cy="2213610"/>
            </a:xfrm>
            <a:prstGeom prst="rect">
              <a:avLst/>
            </a:prstGeom>
          </p:spPr>
          <p:txBody>
            <a:bodyPr anchor="ctr" rtlCol="false" tIns="0" lIns="0" bIns="0" rIns="0"/>
            <a:lstStyle/>
            <a:p>
              <a:pPr algn="l">
                <a:lnSpc>
                  <a:spcPts val="8280"/>
                </a:lnSpc>
              </a:pPr>
              <a:r>
                <a:rPr lang="en-US" sz="6900" b="true">
                  <a:solidFill>
                    <a:srgbClr val="FFFFFF"/>
                  </a:solidFill>
                  <a:latin typeface="Cambria Bold"/>
                  <a:ea typeface="Cambria Bold"/>
                  <a:cs typeface="Cambria Bold"/>
                  <a:sym typeface="Cambria Bold"/>
                </a:rPr>
                <a:t>Thank You</a:t>
              </a:r>
            </a:p>
          </p:txBody>
        </p:sp>
      </p:grpSp>
      <p:grpSp>
        <p:nvGrpSpPr>
          <p:cNvPr name="Group 9" id="9"/>
          <p:cNvGrpSpPr/>
          <p:nvPr/>
        </p:nvGrpSpPr>
        <p:grpSpPr>
          <a:xfrm rot="0">
            <a:off x="1165860" y="5006340"/>
            <a:ext cx="10972800" cy="822960"/>
            <a:chOff x="0" y="0"/>
            <a:chExt cx="14630400" cy="1097280"/>
          </a:xfrm>
        </p:grpSpPr>
        <p:sp>
          <p:nvSpPr>
            <p:cNvPr name="Freeform 10" id="10"/>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620" r="0" b="-209619"/>
              </a:stretch>
            </a:blipFill>
          </p:spPr>
        </p:sp>
      </p:grpSp>
      <p:grpSp>
        <p:nvGrpSpPr>
          <p:cNvPr name="Group 11" id="11"/>
          <p:cNvGrpSpPr/>
          <p:nvPr/>
        </p:nvGrpSpPr>
        <p:grpSpPr>
          <a:xfrm rot="0">
            <a:off x="1140857" y="6147197"/>
            <a:ext cx="4164806" cy="50006"/>
            <a:chOff x="0" y="0"/>
            <a:chExt cx="5553075" cy="66675"/>
          </a:xfrm>
        </p:grpSpPr>
        <p:sp>
          <p:nvSpPr>
            <p:cNvPr name="Freeform 12" id="12"/>
            <p:cNvSpPr/>
            <p:nvPr/>
          </p:nvSpPr>
          <p:spPr>
            <a:xfrm flipH="false" flipV="false" rot="0">
              <a:off x="0" y="0"/>
              <a:ext cx="5553075" cy="66675"/>
            </a:xfrm>
            <a:custGeom>
              <a:avLst/>
              <a:gdLst/>
              <a:ahLst/>
              <a:cxnLst/>
              <a:rect r="r" b="b" t="t" l="l"/>
              <a:pathLst>
                <a:path h="66675" w="5553075">
                  <a:moveTo>
                    <a:pt x="0" y="0"/>
                  </a:moveTo>
                  <a:lnTo>
                    <a:pt x="5553075" y="66675"/>
                  </a:lnTo>
                </a:path>
              </a:pathLst>
            </a:custGeom>
            <a:blipFill>
              <a:blip r:embed="rId3">
                <a:alphaModFix amt="0"/>
              </a:blip>
              <a:stretch>
                <a:fillRect l="0" t="-1571695" r="0" b="-1571695"/>
              </a:stretch>
            </a:blipFill>
            <a:ln w="28575" cap="sq">
              <a:solidFill>
                <a:srgbClr val="CADCFC"/>
              </a:solidFill>
              <a:prstDash val="solid"/>
              <a:miter/>
            </a:ln>
          </p:spPr>
        </p:sp>
      </p:grpSp>
      <p:grpSp>
        <p:nvGrpSpPr>
          <p:cNvPr name="Group 13" id="13"/>
          <p:cNvGrpSpPr/>
          <p:nvPr/>
        </p:nvGrpSpPr>
        <p:grpSpPr>
          <a:xfrm rot="0">
            <a:off x="1165860" y="6515100"/>
            <a:ext cx="10972800" cy="1234440"/>
            <a:chOff x="0" y="0"/>
            <a:chExt cx="14630400" cy="1645920"/>
          </a:xfrm>
        </p:grpSpPr>
        <p:sp>
          <p:nvSpPr>
            <p:cNvPr name="Freeform 14" id="14"/>
            <p:cNvSpPr/>
            <p:nvPr/>
          </p:nvSpPr>
          <p:spPr>
            <a:xfrm flipH="false" flipV="false" rot="0">
              <a:off x="0" y="0"/>
              <a:ext cx="14630400" cy="1645920"/>
            </a:xfrm>
            <a:custGeom>
              <a:avLst/>
              <a:gdLst/>
              <a:ahLst/>
              <a:cxnLst/>
              <a:rect r="r" b="b" t="t" l="l"/>
              <a:pathLst>
                <a:path h="1645920" w="14630400">
                  <a:moveTo>
                    <a:pt x="0" y="0"/>
                  </a:moveTo>
                  <a:lnTo>
                    <a:pt x="14630400" y="0"/>
                  </a:lnTo>
                  <a:lnTo>
                    <a:pt x="14630400" y="1645920"/>
                  </a:lnTo>
                  <a:lnTo>
                    <a:pt x="0" y="1645920"/>
                  </a:lnTo>
                  <a:close/>
                </a:path>
              </a:pathLst>
            </a:custGeom>
            <a:blipFill>
              <a:blip r:embed="rId3">
                <a:alphaModFix amt="0"/>
              </a:blip>
              <a:stretch>
                <a:fillRect l="0" t="-123080" r="0" b="-123079"/>
              </a:stretch>
            </a:blipFill>
          </p:spPr>
        </p:sp>
      </p:grpSp>
      <p:grpSp>
        <p:nvGrpSpPr>
          <p:cNvPr name="Group 15" id="15"/>
          <p:cNvGrpSpPr/>
          <p:nvPr/>
        </p:nvGrpSpPr>
        <p:grpSpPr>
          <a:xfrm rot="0">
            <a:off x="1165860" y="6415088"/>
            <a:ext cx="10972800" cy="1334453"/>
            <a:chOff x="0" y="0"/>
            <a:chExt cx="14630400" cy="1779270"/>
          </a:xfrm>
        </p:grpSpPr>
        <p:sp>
          <p:nvSpPr>
            <p:cNvPr name="Freeform 16" id="16"/>
            <p:cNvSpPr/>
            <p:nvPr/>
          </p:nvSpPr>
          <p:spPr>
            <a:xfrm flipH="false" flipV="false" rot="0">
              <a:off x="0" y="0"/>
              <a:ext cx="14630400" cy="1779270"/>
            </a:xfrm>
            <a:custGeom>
              <a:avLst/>
              <a:gdLst/>
              <a:ahLst/>
              <a:cxnLst/>
              <a:rect r="r" b="b" t="t" l="l"/>
              <a:pathLst>
                <a:path h="1779270" w="14630400">
                  <a:moveTo>
                    <a:pt x="0" y="0"/>
                  </a:moveTo>
                  <a:lnTo>
                    <a:pt x="14630400" y="0"/>
                  </a:lnTo>
                  <a:lnTo>
                    <a:pt x="14630400" y="1779270"/>
                  </a:lnTo>
                  <a:lnTo>
                    <a:pt x="0" y="1779270"/>
                  </a:lnTo>
                  <a:close/>
                </a:path>
              </a:pathLst>
            </a:custGeom>
            <a:blipFill>
              <a:blip r:embed="rId4">
                <a:alphaModFix amt="0"/>
              </a:blip>
              <a:stretch>
                <a:fillRect l="0" t="-110219" r="0" b="-110219"/>
              </a:stretch>
            </a:blipFill>
          </p:spPr>
        </p:sp>
        <p:sp>
          <p:nvSpPr>
            <p:cNvPr name="TextBox 17" id="17"/>
            <p:cNvSpPr txBox="true"/>
            <p:nvPr/>
          </p:nvSpPr>
          <p:spPr>
            <a:xfrm>
              <a:off x="0" y="-133350"/>
              <a:ext cx="14630400" cy="1912620"/>
            </a:xfrm>
            <a:prstGeom prst="rect">
              <a:avLst/>
            </a:prstGeom>
          </p:spPr>
          <p:txBody>
            <a:bodyPr anchor="ctr" rtlCol="false" tIns="0" lIns="0" bIns="0" rIns="0"/>
            <a:lstStyle/>
            <a:p>
              <a:pPr algn="l">
                <a:lnSpc>
                  <a:spcPts val="3510"/>
                </a:lnSpc>
              </a:pPr>
              <a:r>
                <a:rPr lang="en-US" sz="2250" b="true">
                  <a:solidFill>
                    <a:srgbClr val="FFFFFF"/>
                  </a:solidFill>
                  <a:latin typeface="Calibri (MS) Bold"/>
                  <a:ea typeface="Calibri (MS) Bold"/>
                  <a:cs typeface="Calibri (MS) Bold"/>
                  <a:sym typeface="Calibri (MS) Bold"/>
                </a:rPr>
                <a:t>Srijeta Sahu</a:t>
              </a:r>
            </a:p>
            <a:p>
              <a:pPr algn="l">
                <a:lnSpc>
                  <a:spcPts val="2925"/>
                </a:lnSpc>
              </a:pPr>
              <a:r>
                <a:rPr lang="en-US" sz="1875" b="true">
                  <a:solidFill>
                    <a:srgbClr val="CADCFC"/>
                  </a:solidFill>
                  <a:latin typeface="Calibri (MS) Bold"/>
                  <a:ea typeface="Calibri (MS) Bold"/>
                  <a:cs typeface="Calibri (MS) Bold"/>
                  <a:sym typeface="Calibri (MS) Bold"/>
                </a:rPr>
                <a:t>IBM PBEL Virtual Training (Batch :4)</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DAHPn6YSeVg</dc:identifier>
  <dcterms:modified xsi:type="dcterms:W3CDTF">2011-08-01T06:04:30Z</dcterms:modified>
  <cp:revision>1</cp:revision>
  <dc:title>DOC-20260704-WA0023..pptx</dc:title>
</cp:coreProperties>
</file>